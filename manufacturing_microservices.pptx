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2"/>
  </p:notesMasterIdLst>
  <p:sldIdLst>
    <p:sldId id="256" r:id="rId2"/>
    <p:sldId id="257" r:id="rId3"/>
    <p:sldId id="258" r:id="rId4"/>
    <p:sldId id="259" r:id="rId5"/>
    <p:sldId id="260" r:id="rId6"/>
    <p:sldId id="261" r:id="rId7"/>
    <p:sldId id="262" r:id="rId8"/>
    <p:sldId id="263" r:id="rId9"/>
    <p:sldId id="264" r:id="rId10"/>
    <p:sldId id="265" r:id="rId11"/>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duction" id="{D8EEE2CF-D5E5-13D5-6835-18A44E487F64}">
          <p14:sldIdLst>
            <p14:sldId id="256"/>
          </p14:sldIdLst>
        </p14:section>
        <p14:section name="Architecture" id="{EA919C07-924F-62D4-FC20-612EC880B5A1}">
          <p14:sldIdLst>
            <p14:sldId id="257"/>
          </p14:sldIdLst>
        </p14:section>
        <p14:section name="Endpoints" id="{839092C4-917D-2DAF-4C0B-780D1AF3BFDA}">
          <p14:sldIdLst>
            <p14:sldId id="258"/>
            <p14:sldId id="259"/>
          </p14:sldIdLst>
        </p14:section>
        <p14:section name="Messaging and security" id="{D6BA9417-B36B-B083-E2A7-6A3377634169}">
          <p14:sldIdLst>
            <p14:sldId id="260"/>
            <p14:sldId id="261"/>
            <p14:sldId id="262"/>
          </p14:sldIdLst>
        </p14:section>
        <p14:section name="Chassis" id="{E46BD858-255F-2B55-E2A9-12467A1E7EDF}">
          <p14:sldIdLst>
            <p14:sldId id="263"/>
          </p14:sldIdLst>
        </p14:section>
        <p14:section name="Closing" id="{0185E7D7-5285-357D-B84E-78621729C77F}">
          <p14:sldIdLst>
            <p14:sldId id="264"/>
            <p14:sldId id="265"/>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70" d="100"/>
          <a:sy n="70" d="100"/>
        </p:scale>
        <p:origin x="864" y="6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59118099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the next ten minutes I'll cover the general architecture and how many elements it has, the endpoints of each service, the exchange, queues and topics, the security measures, what lives in the microservice chassis, our conclusions, and future work. The key idea: the services no longer call each other; they publish facts and react to them.</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Nine containers: the HAProxy gateway, RabbitMQ, five FastAPI microservices, an event logger and MongoDB. External requests enter through the gateway, on 8080 or 8443 for HTTPS. Each microservice owns its own SQLite database, now including the machine. Internally, there are no HTTP calls at all: services only publish facts to one topic exchange and react to the facts they subscribe to. The event logger stores every business fact in MongoDB for auditing. All of them share our chassis library.</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Clients is the authentication service. Users register, log in with HTTP Basic and get an access token plus a refresh token; refresh rotates the pair and logout revokes it. There's also a service-token endpoint for service accounts, and the public key. The client endpoints themselves now need a JWT, and a normal user can only create and see their own client. Payments has deposit, charge and balance, all with JWT. All machine endpoints are protected too; in the normal flow the machine gets its work from events.</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Orders is the largest API. Creating and listing orders need a token; the rest let you follow an order and its pieces. Three endpoints are legacy: piece and payment updates and the query by status used to be called by other services, but that information now arrives as facts, so they are only kept for compatibility. All delivery operations now require a token; you use the status update to mark a delivery Sent or Delivered.</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how the services talk. There is one topic exchange in the middle. Each service publishes facts about its own state, in orange, and each one has a durable queue bound to the facts it cares about, in gray. Orders publishes order created, paid and manufactured; payments answers approved or rejected; the machine reports each piece; deliveries reports created, ready and delivered; and clients publishes new clients, a catalogue snapshot and its public key. A fifth queue, audit, receives every business fact for the event logger, which stores them in MongoDB.</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complete list. One durable topic exchange, five durable queues that RabbitMQ creates at startup from a definitions file, and thirteen fact types. Publishers only know the exchange; they never create other services' queues, so adding a new subscriber doesn't touch the publishers. Every fact travels in the same envelope with a unique event id, is validated against a strict contract, and is processed only once thanks to the inbox. The audit queue uses wildcards to catch every business fact.</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 API now verifies the JWT through the chassis: signature, issuer, audience and the required claims. Sessions use refresh tokens that are stored only as hashes, can be used once, and if someone reuses one, the whole session is revoked; logout revokes it too. Authorization is per client: a normal user can only work with their own client. Passwords use bcrypt, and the public key is distributed as a fact, so services keep working even if the client service is down. At the edge, HTTPS and a route whitelist. RabbitMQ and MongoDB are not exposed. It's still development level, and I'll mention the gaps at the end.</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chassis grew a lot. Version 0.5.0 is used by all five services and the event logger, installed from a tested wheel in the repository. It now contains the JWT verifier, the handling of the public key that arrives as a fact, and above all the EventBus: the outbox and inbox tables, recording facts in the same transaction as the business change, confirmed publishing, retries and deduplication. Each service's events file just binds the bus to its own database. Business rules, contracts and permissions stay in the services.</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conclude. We moved from an orchestrator to a choreography: services react to facts and never call each other, so one service being down doesn't block the rest. The transactional outbox and inbox, broker confirmations and durable queues keep everything consistent, without lost facts or double charges. Every API is protected with JWT and rotating refresh sessions. And the chassis keeps the plumbing in one place, while the audit gives us a full history of business facts.</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Finally, what we would improve. Security: payments and deliveries currently run as root as a quick fix for volume permissions, so we'd fix the paths and go back to non-root, close the direct ports and move secrets out of the repository. Chassis: the 0.5.0 source should be pushed to its own repository with its tests, and released with tags. Messaging: a dead-letter queue, publishing snapshots only when they change instead of every five seconds, and cleaning old outbox rows. And operationally: remove legacy endpoints, recover test coverage and add CI. Thank you, questions are welcome.</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_DARK">
    <p:bg>
      <p:bgPr>
        <a:solidFill>
          <a:schemeClr val="tx1"/>
        </a:solidFill>
        <a:effectLst/>
      </p:bgPr>
    </p:bg>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731520" y="1828800"/>
            <a:ext cx="10698480" cy="1371600"/>
          </a:xfrm>
          <a:prstGeom prst="rect">
            <a:avLst/>
          </a:prstGeom>
          <a:noFill/>
          <a:ln/>
        </p:spPr>
        <p:txBody>
          <a:bodyPr wrap="square" rtlCol="0"/>
          <a:lstStyle>
            <a:lvl1pPr marL="0" indent="0" algn="l">
              <a:buNone/>
              <a:defRPr lang="en-US" sz="4400" b="1" dirty="0">
                <a:solidFill>
                  <a:schemeClr val="bg1"/>
                </a:solidFill>
              </a:defRPr>
            </a:lvl1pPr>
          </a:lstStyle>
          <a:p>
            <a:pPr marL="0" indent="0" algn="l">
              <a:buNone/>
            </a:pPr>
            <a:endParaRPr lang="en-US" sz="4400" dirty="0"/>
          </a:p>
        </p:txBody>
      </p:sp>
      <p:sp>
        <p:nvSpPr>
          <p:cNvPr id="3" name="Text 0"/>
          <p:cNvSpPr>
            <a:spLocks noGrp="1"/>
          </p:cNvSpPr>
          <p:nvPr>
            <p:ph type="body" idx="101" hasCustomPrompt="1"/>
          </p:nvPr>
        </p:nvSpPr>
        <p:spPr>
          <a:xfrm>
            <a:off x="731520" y="3291840"/>
            <a:ext cx="10698480" cy="914400"/>
          </a:xfrm>
          <a:prstGeom prst="rect">
            <a:avLst/>
          </a:prstGeom>
          <a:noFill/>
          <a:ln/>
        </p:spPr>
        <p:txBody>
          <a:bodyPr wrap="square" rtlCol="0"/>
          <a:lstStyle>
            <a:lvl1pPr marL="0" indent="0">
              <a:buNone/>
              <a:defRPr lang="en-US" sz="2000" dirty="0">
                <a:solidFill>
                  <a:schemeClr val="accent4"/>
                </a:solidFill>
              </a:defRPr>
            </a:lvl1pPr>
          </a:lstStyle>
          <a:p>
            <a:pPr marL="0" indent="0">
              <a:buNone/>
            </a:pPr>
            <a:endParaRPr lang="en-US" sz="20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chemeClr val="bg1"/>
        </a:solidFill>
        <a:effectLst/>
      </p:bgPr>
    </p:bg>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11064240" cy="822960"/>
          </a:xfrm>
          <a:prstGeom prst="rect">
            <a:avLst/>
          </a:prstGeom>
          <a:noFill/>
          <a:ln/>
        </p:spPr>
        <p:txBody>
          <a:bodyPr wrap="square" rtlCol="0"/>
          <a:lstStyle>
            <a:lvl1pPr marL="0" indent="0" algn="l">
              <a:buNone/>
              <a:defRPr lang="en-US" sz="3000" b="1" dirty="0">
                <a:solidFill>
                  <a:schemeClr val="tx1"/>
                </a:solidFill>
              </a:defRPr>
            </a:lvl1pPr>
          </a:lstStyle>
          <a:p>
            <a:pPr marL="0" indent="0" algn="l">
              <a:buNone/>
            </a:pPr>
            <a:endParaRPr lang="en-US" sz="3000" dirty="0"/>
          </a:p>
        </p:txBody>
      </p:sp>
      <p:sp>
        <p:nvSpPr>
          <p:cNvPr id="3" name="Text 0"/>
          <p:cNvSpPr/>
          <p:nvPr/>
        </p:nvSpPr>
        <p:spPr>
          <a:xfrm>
            <a:off x="548640" y="6400800"/>
            <a:ext cx="5486400" cy="274320"/>
          </a:xfrm>
          <a:prstGeom prst="rect">
            <a:avLst/>
          </a:prstGeom>
          <a:noFill/>
          <a:ln/>
        </p:spPr>
        <p:txBody>
          <a:bodyPr wrap="square" rtlCol="0" anchor="ctr"/>
          <a:lstStyle/>
          <a:p>
            <a:pPr marL="0" indent="0">
              <a:buNone/>
            </a:pPr>
            <a:r>
              <a:rPr lang="en-US" sz="1000" dirty="0">
                <a:solidFill>
                  <a:schemeClr val="accent4"/>
                </a:solidFill>
              </a:rPr>
              <a:t>Manufacturing microservices</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4"/>
                </a:solidFill>
              </a:defRPr>
            </a:lvl1pPr>
          </a:lstStyle>
          <a:p>
            <a:pPr algn="r"/>
            <a:fld id="{F7021451-1387-4CA6-816F-3879F97B5CBC}" type="slidenum">
              <a:rPr lang="en-US" b="0"/>
              <a:t>‹Nº›</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CLOSING_DARK">
    <p:bg>
      <p:bgPr>
        <a:solidFill>
          <a:schemeClr val="tx1"/>
        </a:solidFill>
        <a:effectLst/>
      </p:bgPr>
    </p:bg>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11064240" cy="822960"/>
          </a:xfrm>
          <a:prstGeom prst="rect">
            <a:avLst/>
          </a:prstGeom>
          <a:noFill/>
          <a:ln/>
        </p:spPr>
        <p:txBody>
          <a:bodyPr wrap="square" rtlCol="0"/>
          <a:lstStyle>
            <a:lvl1pPr marL="0" indent="0" algn="l">
              <a:buNone/>
              <a:defRPr lang="en-US" sz="3000" b="1" dirty="0">
                <a:solidFill>
                  <a:schemeClr val="bg1"/>
                </a:solidFill>
              </a:defRPr>
            </a:lvl1pPr>
          </a:lstStyle>
          <a:p>
            <a:pPr marL="0" indent="0" algn="l">
              <a:buNone/>
            </a:pPr>
            <a:endParaRPr lang="en-US" sz="3000" dirty="0"/>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5" Type="http://schemas.openxmlformats.org/officeDocument/2006/relationships/theme" Target="../theme/theme1.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4"/>
                </a:solidFill>
              </a:defRPr>
            </a:lvl1pPr>
          </a:lstStyle>
          <a:p>
            <a:pPr algn="r"/>
            <a:fld id="{F7021451-1387-4CA6-816F-3879F97B5CBC}" type="slidenum">
              <a:rPr lang="en-US" b="0"/>
              <a:t>‹Nº›</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7" Type="http://schemas.openxmlformats.org/officeDocument/2006/relationships/image" Target="../media/image5.png"/><Relationship Id="rId2" Type="http://schemas.openxmlformats.org/officeDocument/2006/relationships/notesSlide" Target="../notesSlides/notesSlide1.xml"/><Relationship Id="rId1" Type="http://schemas.openxmlformats.org/officeDocument/2006/relationships/slideLayout" Target="../slideLayouts/slideLayout2.xml"/><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3.xml"/><Relationship Id="rId5" Type="http://schemas.openxmlformats.org/officeDocument/2006/relationships/image" Target="../media/image4.png"/><Relationship Id="rId4" Type="http://schemas.openxmlformats.org/officeDocument/2006/relationships/image" Target="../media/image3.png"/></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xml"/><Relationship Id="rId1" Type="http://schemas.openxmlformats.org/officeDocument/2006/relationships/slideLayout" Target="../slideLayouts/slideLayout3.xml"/><Relationship Id="rId4" Type="http://schemas.openxmlformats.org/officeDocument/2006/relationships/image" Target="../media/image5.png"/></Relationships>
</file>

<file path=ppt/slides/_rels/slide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5.xml"/><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8" Type="http://schemas.openxmlformats.org/officeDocument/2006/relationships/image" Target="../media/image12.png"/><Relationship Id="rId3" Type="http://schemas.openxmlformats.org/officeDocument/2006/relationships/image" Target="../media/image7.png"/><Relationship Id="rId7" Type="http://schemas.openxmlformats.org/officeDocument/2006/relationships/image" Target="../media/image11.png"/><Relationship Id="rId2" Type="http://schemas.openxmlformats.org/officeDocument/2006/relationships/notesSlide" Target="../notesSlides/notesSlide7.xml"/><Relationship Id="rId1" Type="http://schemas.openxmlformats.org/officeDocument/2006/relationships/slideLayout" Target="../slideLayouts/slideLayout3.xml"/><Relationship Id="rId6" Type="http://schemas.openxmlformats.org/officeDocument/2006/relationships/image" Target="../media/image10.png"/><Relationship Id="rId5" Type="http://schemas.openxmlformats.org/officeDocument/2006/relationships/image" Target="../media/image9.png"/><Relationship Id="rId4" Type="http://schemas.openxmlformats.org/officeDocument/2006/relationships/image" Target="../media/image8.png"/></Relationships>
</file>

<file path=ppt/slides/_rels/slide8.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8.xml"/><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9.xml"/><Relationship Id="rId1" Type="http://schemas.openxmlformats.org/officeDocument/2006/relationships/slideLayout" Target="../slideLayouts/slideLayout3.xml"/><Relationship Id="rId6" Type="http://schemas.openxmlformats.org/officeDocument/2006/relationships/image" Target="../media/image13.png"/><Relationship Id="rId5" Type="http://schemas.openxmlformats.org/officeDocument/2006/relationships/image" Target="../media/image16.png"/><Relationship Id="rId4" Type="http://schemas.openxmlformats.org/officeDocument/2006/relationships/image" Target="../media/image15.png"/></Relationships>
</file>

<file path=ppt/slides/_rels/slide10.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0.xml"/><Relationship Id="rId1" Type="http://schemas.openxmlformats.org/officeDocument/2006/relationships/slideLayout" Target="../slideLayouts/slideLayout4.xml"/><Relationship Id="rId6" Type="http://schemas.openxmlformats.org/officeDocument/2006/relationships/image" Target="../media/image18.png"/><Relationship Id="rId5" Type="http://schemas.openxmlformats.org/officeDocument/2006/relationships/image" Target="../media/image17.png"/><Relationship Id="rId4" Type="http://schemas.openxmlformats.org/officeDocument/2006/relationships/image" Target="../media/image13.png"/></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731520" y="1828800"/>
            <a:ext cx="10698480" cy="1371600"/>
          </a:xfrm>
          <a:prstGeom prst="rect">
            <a:avLst/>
          </a:prstGeom>
          <a:noFill/>
          <a:ln/>
        </p:spPr>
        <p:txBody>
          <a:bodyPr wrap="square" rtlCol="0" anchor="b"/>
          <a:lstStyle/>
          <a:p>
            <a:pPr marL="0" indent="0" algn="l">
              <a:buNone/>
            </a:pPr>
            <a:r>
              <a:rPr lang="en-US" sz="4400" b="1" dirty="0">
                <a:solidFill>
                  <a:schemeClr val="bg1"/>
                </a:solidFill>
              </a:rPr>
              <a:t>From Monolith to Microservices</a:t>
            </a:r>
            <a:endParaRPr lang="en-US" sz="4400" dirty="0"/>
          </a:p>
        </p:txBody>
      </p:sp>
      <p:sp>
        <p:nvSpPr>
          <p:cNvPr id="3" name="Text 0"/>
          <p:cNvSpPr>
            <a:spLocks noGrp="1"/>
          </p:cNvSpPr>
          <p:nvPr>
            <p:ph type="body" idx="101" hasCustomPrompt="1"/>
          </p:nvPr>
        </p:nvSpPr>
        <p:spPr>
          <a:xfrm>
            <a:off x="731520" y="3291840"/>
            <a:ext cx="10698480" cy="914400"/>
          </a:xfrm>
          <a:prstGeom prst="rect">
            <a:avLst/>
          </a:prstGeom>
          <a:noFill/>
          <a:ln/>
        </p:spPr>
        <p:txBody>
          <a:bodyPr wrap="square" rtlCol="0" anchor="t"/>
          <a:lstStyle/>
          <a:p>
            <a:pPr marL="0" indent="0">
              <a:buNone/>
            </a:pPr>
            <a:r>
              <a:rPr lang="en-US" sz="2000" dirty="0">
                <a:solidFill>
                  <a:schemeClr val="accent4"/>
                </a:solidFill>
              </a:rPr>
              <a:t>Manufacturing system · event choreography, security and a shared chassis</a:t>
            </a:r>
            <a:endParaRPr lang="en-US" sz="2000" dirty="0"/>
          </a:p>
        </p:txBody>
      </p:sp>
      <p:sp>
        <p:nvSpPr>
          <p:cNvPr id="4" name="Clients circle"/>
          <p:cNvSpPr/>
          <p:nvPr/>
        </p:nvSpPr>
        <p:spPr>
          <a:xfrm>
            <a:off x="731520" y="4846320"/>
            <a:ext cx="731520" cy="731520"/>
          </a:xfrm>
          <a:prstGeom prst="ellipse">
            <a:avLst/>
          </a:prstGeom>
          <a:solidFill>
            <a:schemeClr val="tx2"/>
          </a:solidFill>
          <a:ln w="12700">
            <a:solidFill>
              <a:schemeClr val="tx2"/>
            </a:solidFill>
            <a:prstDash val="solid"/>
          </a:ln>
        </p:spPr>
        <p:txBody>
          <a:bodyPr/>
          <a:lstStyle/>
          <a:p>
            <a:endParaRPr lang="es-ES"/>
          </a:p>
        </p:txBody>
      </p:sp>
      <p:pic>
        <p:nvPicPr>
          <p:cNvPr id="5" name="Clients icon" descr="preencoded.png"/>
          <p:cNvPicPr>
            <a:picLocks noChangeAspect="1"/>
          </p:cNvPicPr>
          <p:nvPr/>
        </p:nvPicPr>
        <p:blipFill>
          <a:blip r:embed="rId3"/>
          <a:stretch>
            <a:fillRect/>
          </a:stretch>
        </p:blipFill>
        <p:spPr>
          <a:xfrm>
            <a:off x="914400" y="5029200"/>
            <a:ext cx="365760" cy="365760"/>
          </a:xfrm>
          <a:prstGeom prst="rect">
            <a:avLst/>
          </a:prstGeom>
        </p:spPr>
      </p:pic>
      <p:sp>
        <p:nvSpPr>
          <p:cNvPr id="6" name="Clients label"/>
          <p:cNvSpPr txBox="1"/>
          <p:nvPr/>
        </p:nvSpPr>
        <p:spPr>
          <a:xfrm>
            <a:off x="457200" y="5623560"/>
            <a:ext cx="1280160" cy="320040"/>
          </a:xfrm>
          <a:prstGeom prst="rect">
            <a:avLst/>
          </a:prstGeom>
          <a:noFill/>
          <a:ln/>
        </p:spPr>
        <p:txBody>
          <a:bodyPr wrap="square" rtlCol="0" anchor="ctr"/>
          <a:lstStyle/>
          <a:p>
            <a:pPr marL="0" indent="0" algn="ctr">
              <a:buNone/>
            </a:pPr>
            <a:r>
              <a:rPr lang="en-US" sz="1200" dirty="0">
                <a:solidFill>
                  <a:schemeClr val="accent4"/>
                </a:solidFill>
              </a:rPr>
              <a:t>Clients</a:t>
            </a:r>
            <a:endParaRPr lang="en-US" sz="1200" dirty="0"/>
          </a:p>
        </p:txBody>
      </p:sp>
      <p:sp>
        <p:nvSpPr>
          <p:cNvPr id="7" name="Orders circle"/>
          <p:cNvSpPr/>
          <p:nvPr/>
        </p:nvSpPr>
        <p:spPr>
          <a:xfrm>
            <a:off x="2103120" y="4846320"/>
            <a:ext cx="731520" cy="731520"/>
          </a:xfrm>
          <a:prstGeom prst="ellipse">
            <a:avLst/>
          </a:prstGeom>
          <a:solidFill>
            <a:schemeClr val="accent1"/>
          </a:solidFill>
          <a:ln w="12700">
            <a:solidFill>
              <a:schemeClr val="accent1"/>
            </a:solidFill>
            <a:prstDash val="solid"/>
          </a:ln>
        </p:spPr>
        <p:txBody>
          <a:bodyPr/>
          <a:lstStyle/>
          <a:p>
            <a:endParaRPr lang="es-ES"/>
          </a:p>
        </p:txBody>
      </p:sp>
      <p:pic>
        <p:nvPicPr>
          <p:cNvPr id="8" name="Orders icon" descr="preencoded.png"/>
          <p:cNvPicPr>
            <a:picLocks noChangeAspect="1"/>
          </p:cNvPicPr>
          <p:nvPr/>
        </p:nvPicPr>
        <p:blipFill>
          <a:blip r:embed="rId4"/>
          <a:stretch>
            <a:fillRect/>
          </a:stretch>
        </p:blipFill>
        <p:spPr>
          <a:xfrm>
            <a:off x="2286000" y="5029200"/>
            <a:ext cx="365760" cy="365760"/>
          </a:xfrm>
          <a:prstGeom prst="rect">
            <a:avLst/>
          </a:prstGeom>
        </p:spPr>
      </p:pic>
      <p:sp>
        <p:nvSpPr>
          <p:cNvPr id="9" name="Orders label"/>
          <p:cNvSpPr txBox="1"/>
          <p:nvPr/>
        </p:nvSpPr>
        <p:spPr>
          <a:xfrm>
            <a:off x="1828800" y="5623560"/>
            <a:ext cx="1280160" cy="320040"/>
          </a:xfrm>
          <a:prstGeom prst="rect">
            <a:avLst/>
          </a:prstGeom>
          <a:noFill/>
          <a:ln/>
        </p:spPr>
        <p:txBody>
          <a:bodyPr wrap="square" rtlCol="0" anchor="ctr"/>
          <a:lstStyle/>
          <a:p>
            <a:pPr marL="0" indent="0" algn="ctr">
              <a:buNone/>
            </a:pPr>
            <a:r>
              <a:rPr lang="en-US" sz="1200" dirty="0">
                <a:solidFill>
                  <a:schemeClr val="accent4"/>
                </a:solidFill>
              </a:rPr>
              <a:t>Orders</a:t>
            </a:r>
            <a:endParaRPr lang="en-US" sz="1200" dirty="0"/>
          </a:p>
        </p:txBody>
      </p:sp>
      <p:sp>
        <p:nvSpPr>
          <p:cNvPr id="10" name="Payments circle"/>
          <p:cNvSpPr/>
          <p:nvPr/>
        </p:nvSpPr>
        <p:spPr>
          <a:xfrm>
            <a:off x="3474720" y="4846320"/>
            <a:ext cx="731520" cy="731520"/>
          </a:xfrm>
          <a:prstGeom prst="ellipse">
            <a:avLst/>
          </a:prstGeom>
          <a:solidFill>
            <a:schemeClr val="tx2"/>
          </a:solidFill>
          <a:ln w="12700">
            <a:solidFill>
              <a:schemeClr val="tx2"/>
            </a:solidFill>
            <a:prstDash val="solid"/>
          </a:ln>
        </p:spPr>
        <p:txBody>
          <a:bodyPr/>
          <a:lstStyle/>
          <a:p>
            <a:endParaRPr lang="es-ES"/>
          </a:p>
        </p:txBody>
      </p:sp>
      <p:pic>
        <p:nvPicPr>
          <p:cNvPr id="11" name="Payments icon" descr="preencoded.png"/>
          <p:cNvPicPr>
            <a:picLocks noChangeAspect="1"/>
          </p:cNvPicPr>
          <p:nvPr/>
        </p:nvPicPr>
        <p:blipFill>
          <a:blip r:embed="rId5"/>
          <a:stretch>
            <a:fillRect/>
          </a:stretch>
        </p:blipFill>
        <p:spPr>
          <a:xfrm>
            <a:off x="3657600" y="5029200"/>
            <a:ext cx="365760" cy="365760"/>
          </a:xfrm>
          <a:prstGeom prst="rect">
            <a:avLst/>
          </a:prstGeom>
        </p:spPr>
      </p:pic>
      <p:sp>
        <p:nvSpPr>
          <p:cNvPr id="12" name="Payments label"/>
          <p:cNvSpPr txBox="1"/>
          <p:nvPr/>
        </p:nvSpPr>
        <p:spPr>
          <a:xfrm>
            <a:off x="3200400" y="5623560"/>
            <a:ext cx="1280160" cy="320040"/>
          </a:xfrm>
          <a:prstGeom prst="rect">
            <a:avLst/>
          </a:prstGeom>
          <a:noFill/>
          <a:ln/>
        </p:spPr>
        <p:txBody>
          <a:bodyPr wrap="square" rtlCol="0" anchor="ctr"/>
          <a:lstStyle/>
          <a:p>
            <a:pPr marL="0" indent="0" algn="ctr">
              <a:buNone/>
            </a:pPr>
            <a:r>
              <a:rPr lang="en-US" sz="1200" dirty="0">
                <a:solidFill>
                  <a:schemeClr val="accent4"/>
                </a:solidFill>
              </a:rPr>
              <a:t>Payments</a:t>
            </a:r>
            <a:endParaRPr lang="en-US" sz="1200" dirty="0"/>
          </a:p>
        </p:txBody>
      </p:sp>
      <p:sp>
        <p:nvSpPr>
          <p:cNvPr id="13" name="Machine circle"/>
          <p:cNvSpPr/>
          <p:nvPr/>
        </p:nvSpPr>
        <p:spPr>
          <a:xfrm>
            <a:off x="4846320" y="4846320"/>
            <a:ext cx="731520" cy="731520"/>
          </a:xfrm>
          <a:prstGeom prst="ellipse">
            <a:avLst/>
          </a:prstGeom>
          <a:solidFill>
            <a:schemeClr val="tx2"/>
          </a:solidFill>
          <a:ln w="12700">
            <a:solidFill>
              <a:schemeClr val="tx2"/>
            </a:solidFill>
            <a:prstDash val="solid"/>
          </a:ln>
        </p:spPr>
        <p:txBody>
          <a:bodyPr/>
          <a:lstStyle/>
          <a:p>
            <a:endParaRPr lang="es-ES"/>
          </a:p>
        </p:txBody>
      </p:sp>
      <p:pic>
        <p:nvPicPr>
          <p:cNvPr id="14" name="Machine icon" descr="preencoded.png"/>
          <p:cNvPicPr>
            <a:picLocks noChangeAspect="1"/>
          </p:cNvPicPr>
          <p:nvPr/>
        </p:nvPicPr>
        <p:blipFill>
          <a:blip r:embed="rId6"/>
          <a:stretch>
            <a:fillRect/>
          </a:stretch>
        </p:blipFill>
        <p:spPr>
          <a:xfrm>
            <a:off x="5029200" y="5029200"/>
            <a:ext cx="365760" cy="365760"/>
          </a:xfrm>
          <a:prstGeom prst="rect">
            <a:avLst/>
          </a:prstGeom>
        </p:spPr>
      </p:pic>
      <p:sp>
        <p:nvSpPr>
          <p:cNvPr id="15" name="Machine label"/>
          <p:cNvSpPr txBox="1"/>
          <p:nvPr/>
        </p:nvSpPr>
        <p:spPr>
          <a:xfrm>
            <a:off x="4572000" y="5623560"/>
            <a:ext cx="1280160" cy="320040"/>
          </a:xfrm>
          <a:prstGeom prst="rect">
            <a:avLst/>
          </a:prstGeom>
          <a:noFill/>
          <a:ln/>
        </p:spPr>
        <p:txBody>
          <a:bodyPr wrap="square" rtlCol="0" anchor="ctr"/>
          <a:lstStyle/>
          <a:p>
            <a:pPr marL="0" indent="0" algn="ctr">
              <a:buNone/>
            </a:pPr>
            <a:r>
              <a:rPr lang="en-US" sz="1200" dirty="0">
                <a:solidFill>
                  <a:schemeClr val="accent4"/>
                </a:solidFill>
              </a:rPr>
              <a:t>Machine</a:t>
            </a:r>
            <a:endParaRPr lang="en-US" sz="1200" dirty="0"/>
          </a:p>
        </p:txBody>
      </p:sp>
      <p:sp>
        <p:nvSpPr>
          <p:cNvPr id="16" name="Deliveries circle"/>
          <p:cNvSpPr/>
          <p:nvPr/>
        </p:nvSpPr>
        <p:spPr>
          <a:xfrm>
            <a:off x="6217920" y="4846320"/>
            <a:ext cx="731520" cy="731520"/>
          </a:xfrm>
          <a:prstGeom prst="ellipse">
            <a:avLst/>
          </a:prstGeom>
          <a:solidFill>
            <a:schemeClr val="tx2"/>
          </a:solidFill>
          <a:ln w="12700">
            <a:solidFill>
              <a:schemeClr val="tx2"/>
            </a:solidFill>
            <a:prstDash val="solid"/>
          </a:ln>
        </p:spPr>
        <p:txBody>
          <a:bodyPr/>
          <a:lstStyle/>
          <a:p>
            <a:endParaRPr lang="es-ES"/>
          </a:p>
        </p:txBody>
      </p:sp>
      <p:pic>
        <p:nvPicPr>
          <p:cNvPr id="17" name="Deliveries icon" descr="preencoded.png"/>
          <p:cNvPicPr>
            <a:picLocks noChangeAspect="1"/>
          </p:cNvPicPr>
          <p:nvPr/>
        </p:nvPicPr>
        <p:blipFill>
          <a:blip r:embed="rId7"/>
          <a:stretch>
            <a:fillRect/>
          </a:stretch>
        </p:blipFill>
        <p:spPr>
          <a:xfrm>
            <a:off x="6400800" y="5029200"/>
            <a:ext cx="365760" cy="365760"/>
          </a:xfrm>
          <a:prstGeom prst="rect">
            <a:avLst/>
          </a:prstGeom>
        </p:spPr>
      </p:pic>
      <p:sp>
        <p:nvSpPr>
          <p:cNvPr id="18" name="Deliveries label"/>
          <p:cNvSpPr txBox="1"/>
          <p:nvPr/>
        </p:nvSpPr>
        <p:spPr>
          <a:xfrm>
            <a:off x="5943600" y="5623560"/>
            <a:ext cx="1280160" cy="320040"/>
          </a:xfrm>
          <a:prstGeom prst="rect">
            <a:avLst/>
          </a:prstGeom>
          <a:noFill/>
          <a:ln/>
        </p:spPr>
        <p:txBody>
          <a:bodyPr wrap="square" rtlCol="0" anchor="ctr"/>
          <a:lstStyle/>
          <a:p>
            <a:pPr marL="0" indent="0" algn="ctr">
              <a:buNone/>
            </a:pPr>
            <a:r>
              <a:rPr lang="en-US" sz="1200" dirty="0">
                <a:solidFill>
                  <a:schemeClr val="accent4"/>
                </a:solidFill>
              </a:rPr>
              <a:t>Deliveries</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11064240" cy="822960"/>
          </a:xfrm>
          <a:prstGeom prst="rect">
            <a:avLst/>
          </a:prstGeom>
          <a:noFill/>
          <a:ln/>
        </p:spPr>
        <p:txBody>
          <a:bodyPr wrap="square" rtlCol="0" anchor="ctr"/>
          <a:lstStyle/>
          <a:p>
            <a:pPr marL="0" indent="0" algn="l">
              <a:buNone/>
            </a:pPr>
            <a:r>
              <a:rPr lang="en-US" sz="3000" b="1" dirty="0">
                <a:solidFill>
                  <a:schemeClr val="tx1"/>
                </a:solidFill>
              </a:rPr>
              <a:t>Architecture: 9 containers, no internal calls</a:t>
            </a:r>
            <a:endParaRPr lang="en-US" sz="3000" dirty="0"/>
          </a:p>
        </p:txBody>
      </p:sp>
      <p:sp>
        <p:nvSpPr>
          <p:cNvPr id="3" name="Gateway box"/>
          <p:cNvSpPr/>
          <p:nvPr/>
        </p:nvSpPr>
        <p:spPr>
          <a:xfrm>
            <a:off x="2898648" y="1280160"/>
            <a:ext cx="3657600" cy="566928"/>
          </a:xfrm>
          <a:prstGeom prst="roundRect">
            <a:avLst>
              <a:gd name="adj" fmla="val 19355"/>
            </a:avLst>
          </a:prstGeom>
          <a:solidFill>
            <a:schemeClr val="tx1"/>
          </a:solidFill>
          <a:ln w="12700">
            <a:solidFill>
              <a:schemeClr val="tx1"/>
            </a:solidFill>
            <a:prstDash val="solid"/>
          </a:ln>
        </p:spPr>
        <p:txBody>
          <a:bodyPr/>
          <a:lstStyle/>
          <a:p>
            <a:endParaRPr lang="es-ES"/>
          </a:p>
        </p:txBody>
      </p:sp>
      <p:sp>
        <p:nvSpPr>
          <p:cNvPr id="4" name="Gateway label"/>
          <p:cNvSpPr txBox="1"/>
          <p:nvPr/>
        </p:nvSpPr>
        <p:spPr>
          <a:xfrm>
            <a:off x="2898648" y="1280160"/>
            <a:ext cx="3657600" cy="566928"/>
          </a:xfrm>
          <a:prstGeom prst="rect">
            <a:avLst/>
          </a:prstGeom>
          <a:noFill/>
          <a:ln/>
        </p:spPr>
        <p:txBody>
          <a:bodyPr wrap="square" rtlCol="0" anchor="ctr"/>
          <a:lstStyle/>
          <a:p>
            <a:pPr marL="0" indent="0" algn="ctr">
              <a:buNone/>
            </a:pPr>
            <a:r>
              <a:rPr lang="en-US" sz="1400" b="1" dirty="0">
                <a:solidFill>
                  <a:schemeClr val="bg1"/>
                </a:solidFill>
              </a:rPr>
              <a:t>API Gateway · HAProxy :8080 / :8443</a:t>
            </a:r>
            <a:endParaRPr lang="en-US" sz="1400" dirty="0"/>
          </a:p>
        </p:txBody>
      </p:sp>
      <p:sp>
        <p:nvSpPr>
          <p:cNvPr id="5" name="Clients box"/>
          <p:cNvSpPr/>
          <p:nvPr/>
        </p:nvSpPr>
        <p:spPr>
          <a:xfrm>
            <a:off x="537667" y="2331720"/>
            <a:ext cx="1600200" cy="1051560"/>
          </a:xfrm>
          <a:prstGeom prst="roundRect">
            <a:avLst>
              <a:gd name="adj" fmla="val 10435"/>
            </a:avLst>
          </a:prstGeom>
          <a:solidFill>
            <a:schemeClr val="bg2"/>
          </a:solidFill>
          <a:ln w="12700">
            <a:solidFill>
              <a:schemeClr val="bg2"/>
            </a:solidFill>
            <a:prstDash val="solid"/>
          </a:ln>
        </p:spPr>
        <p:txBody>
          <a:bodyPr/>
          <a:lstStyle/>
          <a:p>
            <a:endParaRPr lang="es-ES"/>
          </a:p>
        </p:txBody>
      </p:sp>
      <p:sp>
        <p:nvSpPr>
          <p:cNvPr id="6" name="Clients label"/>
          <p:cNvSpPr txBox="1"/>
          <p:nvPr/>
        </p:nvSpPr>
        <p:spPr>
          <a:xfrm>
            <a:off x="537667" y="2331720"/>
            <a:ext cx="1600200" cy="1051560"/>
          </a:xfrm>
          <a:prstGeom prst="rect">
            <a:avLst/>
          </a:prstGeom>
          <a:noFill/>
          <a:ln/>
        </p:spPr>
        <p:txBody>
          <a:bodyPr wrap="square" rtlCol="0" anchor="ctr"/>
          <a:lstStyle/>
          <a:p>
            <a:pPr marL="0" indent="0" algn="ctr">
              <a:buNone/>
            </a:pPr>
            <a:r>
              <a:rPr lang="en-US" sz="1500" b="1" dirty="0">
                <a:solidFill>
                  <a:schemeClr val="tx1"/>
                </a:solidFill>
              </a:rPr>
              <a:t>Clients</a:t>
            </a:r>
            <a:endParaRPr lang="en-US" sz="1500" dirty="0"/>
          </a:p>
          <a:p>
            <a:pPr marL="0" indent="0" algn="ctr">
              <a:buNone/>
            </a:pPr>
            <a:r>
              <a:rPr lang="en-US" sz="1200" dirty="0">
                <a:solidFill>
                  <a:schemeClr val="tx1"/>
                </a:solidFill>
              </a:rPr>
              <a:t>client.db</a:t>
            </a:r>
            <a:endParaRPr lang="en-US" sz="1500" dirty="0"/>
          </a:p>
        </p:txBody>
      </p:sp>
      <p:sp>
        <p:nvSpPr>
          <p:cNvPr id="7" name="route 0"/>
          <p:cNvSpPr/>
          <p:nvPr/>
        </p:nvSpPr>
        <p:spPr>
          <a:xfrm flipH="1">
            <a:off x="1337767" y="1847088"/>
            <a:ext cx="3389681" cy="484632"/>
          </a:xfrm>
          <a:prstGeom prst="line">
            <a:avLst/>
          </a:prstGeom>
          <a:noFill/>
          <a:ln w="15875">
            <a:solidFill>
              <a:schemeClr val="accent4"/>
            </a:solidFill>
            <a:prstDash val="solid"/>
            <a:tailEnd type="triangle"/>
          </a:ln>
        </p:spPr>
        <p:txBody>
          <a:bodyPr/>
          <a:lstStyle/>
          <a:p>
            <a:endParaRPr lang="es-ES"/>
          </a:p>
        </p:txBody>
      </p:sp>
      <p:sp>
        <p:nvSpPr>
          <p:cNvPr id="8" name="bus link 0"/>
          <p:cNvSpPr/>
          <p:nvPr/>
        </p:nvSpPr>
        <p:spPr>
          <a:xfrm>
            <a:off x="1337767" y="3383280"/>
            <a:ext cx="0" cy="502920"/>
          </a:xfrm>
          <a:prstGeom prst="line">
            <a:avLst/>
          </a:prstGeom>
          <a:noFill/>
          <a:ln w="19050">
            <a:solidFill>
              <a:schemeClr val="accent4"/>
            </a:solidFill>
            <a:prstDash val="solid"/>
            <a:headEnd type="triangle"/>
            <a:tailEnd type="triangle"/>
          </a:ln>
        </p:spPr>
        <p:txBody>
          <a:bodyPr/>
          <a:lstStyle/>
          <a:p>
            <a:endParaRPr lang="es-ES"/>
          </a:p>
        </p:txBody>
      </p:sp>
      <p:sp>
        <p:nvSpPr>
          <p:cNvPr id="9" name="Payments box"/>
          <p:cNvSpPr/>
          <p:nvPr/>
        </p:nvSpPr>
        <p:spPr>
          <a:xfrm>
            <a:off x="2285086" y="2331720"/>
            <a:ext cx="1600200" cy="1051560"/>
          </a:xfrm>
          <a:prstGeom prst="roundRect">
            <a:avLst>
              <a:gd name="adj" fmla="val 10435"/>
            </a:avLst>
          </a:prstGeom>
          <a:solidFill>
            <a:schemeClr val="bg2"/>
          </a:solidFill>
          <a:ln w="12700">
            <a:solidFill>
              <a:schemeClr val="bg2"/>
            </a:solidFill>
            <a:prstDash val="solid"/>
          </a:ln>
        </p:spPr>
        <p:txBody>
          <a:bodyPr/>
          <a:lstStyle/>
          <a:p>
            <a:endParaRPr lang="es-ES"/>
          </a:p>
        </p:txBody>
      </p:sp>
      <p:sp>
        <p:nvSpPr>
          <p:cNvPr id="10" name="Payments label"/>
          <p:cNvSpPr txBox="1"/>
          <p:nvPr/>
        </p:nvSpPr>
        <p:spPr>
          <a:xfrm>
            <a:off x="2285086" y="2331720"/>
            <a:ext cx="1600200" cy="1051560"/>
          </a:xfrm>
          <a:prstGeom prst="rect">
            <a:avLst/>
          </a:prstGeom>
          <a:noFill/>
          <a:ln/>
        </p:spPr>
        <p:txBody>
          <a:bodyPr wrap="square" rtlCol="0" anchor="ctr"/>
          <a:lstStyle/>
          <a:p>
            <a:pPr marL="0" indent="0" algn="ctr">
              <a:buNone/>
            </a:pPr>
            <a:r>
              <a:rPr lang="en-US" sz="1500" b="1" dirty="0">
                <a:solidFill>
                  <a:schemeClr val="tx1"/>
                </a:solidFill>
              </a:rPr>
              <a:t>Payments</a:t>
            </a:r>
            <a:endParaRPr lang="en-US" sz="1500" dirty="0"/>
          </a:p>
          <a:p>
            <a:pPr marL="0" indent="0" algn="ctr">
              <a:buNone/>
            </a:pPr>
            <a:r>
              <a:rPr lang="en-US" sz="1200" dirty="0">
                <a:solidFill>
                  <a:schemeClr val="tx1"/>
                </a:solidFill>
              </a:rPr>
              <a:t>payment.db</a:t>
            </a:r>
            <a:endParaRPr lang="en-US" sz="1500" dirty="0"/>
          </a:p>
        </p:txBody>
      </p:sp>
      <p:sp>
        <p:nvSpPr>
          <p:cNvPr id="11" name="route 1"/>
          <p:cNvSpPr/>
          <p:nvPr/>
        </p:nvSpPr>
        <p:spPr>
          <a:xfrm flipH="1">
            <a:off x="3085186" y="1847088"/>
            <a:ext cx="1642262" cy="484632"/>
          </a:xfrm>
          <a:prstGeom prst="line">
            <a:avLst/>
          </a:prstGeom>
          <a:noFill/>
          <a:ln w="15875">
            <a:solidFill>
              <a:schemeClr val="accent4"/>
            </a:solidFill>
            <a:prstDash val="solid"/>
            <a:tailEnd type="triangle"/>
          </a:ln>
        </p:spPr>
        <p:txBody>
          <a:bodyPr/>
          <a:lstStyle/>
          <a:p>
            <a:endParaRPr lang="es-ES"/>
          </a:p>
        </p:txBody>
      </p:sp>
      <p:sp>
        <p:nvSpPr>
          <p:cNvPr id="12" name="bus link 1"/>
          <p:cNvSpPr/>
          <p:nvPr/>
        </p:nvSpPr>
        <p:spPr>
          <a:xfrm>
            <a:off x="3085186" y="3383280"/>
            <a:ext cx="0" cy="502920"/>
          </a:xfrm>
          <a:prstGeom prst="line">
            <a:avLst/>
          </a:prstGeom>
          <a:noFill/>
          <a:ln w="19050">
            <a:solidFill>
              <a:schemeClr val="accent4"/>
            </a:solidFill>
            <a:prstDash val="solid"/>
            <a:headEnd type="triangle"/>
            <a:tailEnd type="triangle"/>
          </a:ln>
        </p:spPr>
        <p:txBody>
          <a:bodyPr/>
          <a:lstStyle/>
          <a:p>
            <a:endParaRPr lang="es-ES"/>
          </a:p>
        </p:txBody>
      </p:sp>
      <p:sp>
        <p:nvSpPr>
          <p:cNvPr id="13" name="Orders box"/>
          <p:cNvSpPr/>
          <p:nvPr/>
        </p:nvSpPr>
        <p:spPr>
          <a:xfrm>
            <a:off x="4032504" y="2331720"/>
            <a:ext cx="1600200" cy="1051560"/>
          </a:xfrm>
          <a:prstGeom prst="roundRect">
            <a:avLst>
              <a:gd name="adj" fmla="val 10435"/>
            </a:avLst>
          </a:prstGeom>
          <a:solidFill>
            <a:schemeClr val="bg2"/>
          </a:solidFill>
          <a:ln w="12700">
            <a:solidFill>
              <a:schemeClr val="bg2"/>
            </a:solidFill>
            <a:prstDash val="solid"/>
          </a:ln>
        </p:spPr>
        <p:txBody>
          <a:bodyPr/>
          <a:lstStyle/>
          <a:p>
            <a:endParaRPr lang="es-ES"/>
          </a:p>
        </p:txBody>
      </p:sp>
      <p:sp>
        <p:nvSpPr>
          <p:cNvPr id="14" name="Orders label"/>
          <p:cNvSpPr txBox="1"/>
          <p:nvPr/>
        </p:nvSpPr>
        <p:spPr>
          <a:xfrm>
            <a:off x="4032504" y="2331720"/>
            <a:ext cx="1600200" cy="1051560"/>
          </a:xfrm>
          <a:prstGeom prst="rect">
            <a:avLst/>
          </a:prstGeom>
          <a:noFill/>
          <a:ln/>
        </p:spPr>
        <p:txBody>
          <a:bodyPr wrap="square" rtlCol="0" anchor="ctr"/>
          <a:lstStyle/>
          <a:p>
            <a:pPr marL="0" indent="0" algn="ctr">
              <a:buNone/>
            </a:pPr>
            <a:r>
              <a:rPr lang="en-US" sz="1500" b="1" dirty="0">
                <a:solidFill>
                  <a:schemeClr val="tx1"/>
                </a:solidFill>
              </a:rPr>
              <a:t>Orders</a:t>
            </a:r>
            <a:endParaRPr lang="en-US" sz="1500" dirty="0"/>
          </a:p>
          <a:p>
            <a:pPr marL="0" indent="0" algn="ctr">
              <a:buNone/>
            </a:pPr>
            <a:r>
              <a:rPr lang="en-US" sz="1200" dirty="0">
                <a:solidFill>
                  <a:schemeClr val="tx1"/>
                </a:solidFill>
              </a:rPr>
              <a:t>orders.db</a:t>
            </a:r>
            <a:endParaRPr lang="en-US" sz="1500" dirty="0"/>
          </a:p>
        </p:txBody>
      </p:sp>
      <p:sp>
        <p:nvSpPr>
          <p:cNvPr id="15" name="route 2"/>
          <p:cNvSpPr/>
          <p:nvPr/>
        </p:nvSpPr>
        <p:spPr>
          <a:xfrm>
            <a:off x="4727448" y="1847088"/>
            <a:ext cx="105156" cy="484632"/>
          </a:xfrm>
          <a:prstGeom prst="line">
            <a:avLst/>
          </a:prstGeom>
          <a:noFill/>
          <a:ln w="15875">
            <a:solidFill>
              <a:schemeClr val="accent4"/>
            </a:solidFill>
            <a:prstDash val="solid"/>
            <a:tailEnd type="triangle"/>
          </a:ln>
        </p:spPr>
        <p:txBody>
          <a:bodyPr/>
          <a:lstStyle/>
          <a:p>
            <a:endParaRPr lang="es-ES"/>
          </a:p>
        </p:txBody>
      </p:sp>
      <p:sp>
        <p:nvSpPr>
          <p:cNvPr id="16" name="bus link 2"/>
          <p:cNvSpPr/>
          <p:nvPr/>
        </p:nvSpPr>
        <p:spPr>
          <a:xfrm>
            <a:off x="4832604" y="3383280"/>
            <a:ext cx="0" cy="502920"/>
          </a:xfrm>
          <a:prstGeom prst="line">
            <a:avLst/>
          </a:prstGeom>
          <a:noFill/>
          <a:ln w="19050">
            <a:solidFill>
              <a:schemeClr val="accent4"/>
            </a:solidFill>
            <a:prstDash val="solid"/>
            <a:headEnd type="triangle"/>
            <a:tailEnd type="triangle"/>
          </a:ln>
        </p:spPr>
        <p:txBody>
          <a:bodyPr/>
          <a:lstStyle/>
          <a:p>
            <a:endParaRPr lang="es-ES"/>
          </a:p>
        </p:txBody>
      </p:sp>
      <p:sp>
        <p:nvSpPr>
          <p:cNvPr id="17" name="Machine box"/>
          <p:cNvSpPr/>
          <p:nvPr/>
        </p:nvSpPr>
        <p:spPr>
          <a:xfrm>
            <a:off x="5779922" y="2331720"/>
            <a:ext cx="1600200" cy="1051560"/>
          </a:xfrm>
          <a:prstGeom prst="roundRect">
            <a:avLst>
              <a:gd name="adj" fmla="val 10435"/>
            </a:avLst>
          </a:prstGeom>
          <a:solidFill>
            <a:schemeClr val="bg2"/>
          </a:solidFill>
          <a:ln w="12700">
            <a:solidFill>
              <a:schemeClr val="bg2"/>
            </a:solidFill>
            <a:prstDash val="solid"/>
          </a:ln>
        </p:spPr>
        <p:txBody>
          <a:bodyPr/>
          <a:lstStyle/>
          <a:p>
            <a:endParaRPr lang="es-ES"/>
          </a:p>
        </p:txBody>
      </p:sp>
      <p:sp>
        <p:nvSpPr>
          <p:cNvPr id="18" name="Machine label"/>
          <p:cNvSpPr txBox="1"/>
          <p:nvPr/>
        </p:nvSpPr>
        <p:spPr>
          <a:xfrm>
            <a:off x="5779922" y="2331720"/>
            <a:ext cx="1600200" cy="1051560"/>
          </a:xfrm>
          <a:prstGeom prst="rect">
            <a:avLst/>
          </a:prstGeom>
          <a:noFill/>
          <a:ln/>
        </p:spPr>
        <p:txBody>
          <a:bodyPr wrap="square" rtlCol="0" anchor="ctr"/>
          <a:lstStyle/>
          <a:p>
            <a:pPr marL="0" indent="0" algn="ctr">
              <a:buNone/>
            </a:pPr>
            <a:r>
              <a:rPr lang="en-US" sz="1500" b="1" dirty="0">
                <a:solidFill>
                  <a:schemeClr val="tx1"/>
                </a:solidFill>
              </a:rPr>
              <a:t>Machine</a:t>
            </a:r>
            <a:endParaRPr lang="en-US" sz="1500" dirty="0"/>
          </a:p>
          <a:p>
            <a:pPr marL="0" indent="0" algn="ctr">
              <a:buNone/>
            </a:pPr>
            <a:r>
              <a:rPr lang="en-US" sz="1200" dirty="0">
                <a:solidFill>
                  <a:schemeClr val="tx1"/>
                </a:solidFill>
              </a:rPr>
              <a:t>machine.db</a:t>
            </a:r>
            <a:endParaRPr lang="en-US" sz="1500" dirty="0"/>
          </a:p>
        </p:txBody>
      </p:sp>
      <p:sp>
        <p:nvSpPr>
          <p:cNvPr id="19" name="route 3"/>
          <p:cNvSpPr/>
          <p:nvPr/>
        </p:nvSpPr>
        <p:spPr>
          <a:xfrm>
            <a:off x="4727448" y="1847088"/>
            <a:ext cx="1852574" cy="484632"/>
          </a:xfrm>
          <a:prstGeom prst="line">
            <a:avLst/>
          </a:prstGeom>
          <a:noFill/>
          <a:ln w="15875">
            <a:solidFill>
              <a:schemeClr val="accent4"/>
            </a:solidFill>
            <a:prstDash val="solid"/>
            <a:tailEnd type="triangle"/>
          </a:ln>
        </p:spPr>
        <p:txBody>
          <a:bodyPr/>
          <a:lstStyle/>
          <a:p>
            <a:endParaRPr lang="es-ES"/>
          </a:p>
        </p:txBody>
      </p:sp>
      <p:sp>
        <p:nvSpPr>
          <p:cNvPr id="20" name="bus link 3"/>
          <p:cNvSpPr/>
          <p:nvPr/>
        </p:nvSpPr>
        <p:spPr>
          <a:xfrm>
            <a:off x="6580022" y="3383280"/>
            <a:ext cx="0" cy="502920"/>
          </a:xfrm>
          <a:prstGeom prst="line">
            <a:avLst/>
          </a:prstGeom>
          <a:noFill/>
          <a:ln w="19050">
            <a:solidFill>
              <a:schemeClr val="accent4"/>
            </a:solidFill>
            <a:prstDash val="solid"/>
            <a:headEnd type="triangle"/>
            <a:tailEnd type="triangle"/>
          </a:ln>
        </p:spPr>
        <p:txBody>
          <a:bodyPr/>
          <a:lstStyle/>
          <a:p>
            <a:endParaRPr lang="es-ES"/>
          </a:p>
        </p:txBody>
      </p:sp>
      <p:sp>
        <p:nvSpPr>
          <p:cNvPr id="21" name="Deliveries box"/>
          <p:cNvSpPr/>
          <p:nvPr/>
        </p:nvSpPr>
        <p:spPr>
          <a:xfrm>
            <a:off x="7527341" y="2331720"/>
            <a:ext cx="1600200" cy="1051560"/>
          </a:xfrm>
          <a:prstGeom prst="roundRect">
            <a:avLst>
              <a:gd name="adj" fmla="val 10435"/>
            </a:avLst>
          </a:prstGeom>
          <a:solidFill>
            <a:schemeClr val="bg2"/>
          </a:solidFill>
          <a:ln w="12700">
            <a:solidFill>
              <a:schemeClr val="bg2"/>
            </a:solidFill>
            <a:prstDash val="solid"/>
          </a:ln>
        </p:spPr>
        <p:txBody>
          <a:bodyPr/>
          <a:lstStyle/>
          <a:p>
            <a:endParaRPr lang="es-ES"/>
          </a:p>
        </p:txBody>
      </p:sp>
      <p:sp>
        <p:nvSpPr>
          <p:cNvPr id="22" name="Deliveries label"/>
          <p:cNvSpPr txBox="1"/>
          <p:nvPr/>
        </p:nvSpPr>
        <p:spPr>
          <a:xfrm>
            <a:off x="7527341" y="2331720"/>
            <a:ext cx="1600200" cy="1051560"/>
          </a:xfrm>
          <a:prstGeom prst="rect">
            <a:avLst/>
          </a:prstGeom>
          <a:noFill/>
          <a:ln/>
        </p:spPr>
        <p:txBody>
          <a:bodyPr wrap="square" rtlCol="0" anchor="ctr"/>
          <a:lstStyle/>
          <a:p>
            <a:pPr marL="0" indent="0" algn="ctr">
              <a:buNone/>
            </a:pPr>
            <a:r>
              <a:rPr lang="en-US" sz="1500" b="1" dirty="0">
                <a:solidFill>
                  <a:schemeClr val="tx1"/>
                </a:solidFill>
              </a:rPr>
              <a:t>Deliveries</a:t>
            </a:r>
            <a:endParaRPr lang="en-US" sz="1500" dirty="0"/>
          </a:p>
          <a:p>
            <a:pPr marL="0" indent="0" algn="ctr">
              <a:buNone/>
            </a:pPr>
            <a:r>
              <a:rPr lang="en-US" sz="1200" dirty="0">
                <a:solidFill>
                  <a:schemeClr val="tx1"/>
                </a:solidFill>
              </a:rPr>
              <a:t>delivery.db</a:t>
            </a:r>
            <a:endParaRPr lang="en-US" sz="1500" dirty="0"/>
          </a:p>
        </p:txBody>
      </p:sp>
      <p:sp>
        <p:nvSpPr>
          <p:cNvPr id="23" name="route 4"/>
          <p:cNvSpPr/>
          <p:nvPr/>
        </p:nvSpPr>
        <p:spPr>
          <a:xfrm>
            <a:off x="4727448" y="1847088"/>
            <a:ext cx="3599993" cy="484632"/>
          </a:xfrm>
          <a:prstGeom prst="line">
            <a:avLst/>
          </a:prstGeom>
          <a:noFill/>
          <a:ln w="15875">
            <a:solidFill>
              <a:schemeClr val="accent4"/>
            </a:solidFill>
            <a:prstDash val="solid"/>
            <a:tailEnd type="triangle"/>
          </a:ln>
        </p:spPr>
        <p:txBody>
          <a:bodyPr/>
          <a:lstStyle/>
          <a:p>
            <a:endParaRPr lang="es-ES"/>
          </a:p>
        </p:txBody>
      </p:sp>
      <p:sp>
        <p:nvSpPr>
          <p:cNvPr id="24" name="bus link 4"/>
          <p:cNvSpPr/>
          <p:nvPr/>
        </p:nvSpPr>
        <p:spPr>
          <a:xfrm>
            <a:off x="8327441" y="3383280"/>
            <a:ext cx="0" cy="502920"/>
          </a:xfrm>
          <a:prstGeom prst="line">
            <a:avLst/>
          </a:prstGeom>
          <a:noFill/>
          <a:ln w="19050">
            <a:solidFill>
              <a:schemeClr val="accent4"/>
            </a:solidFill>
            <a:prstDash val="solid"/>
            <a:headEnd type="triangle"/>
            <a:tailEnd type="triangle"/>
          </a:ln>
        </p:spPr>
        <p:txBody>
          <a:bodyPr/>
          <a:lstStyle/>
          <a:p>
            <a:endParaRPr lang="es-ES"/>
          </a:p>
        </p:txBody>
      </p:sp>
      <p:sp>
        <p:nvSpPr>
          <p:cNvPr id="25" name="RabbitMQ bar"/>
          <p:cNvSpPr/>
          <p:nvPr/>
        </p:nvSpPr>
        <p:spPr>
          <a:xfrm>
            <a:off x="539496" y="3886200"/>
            <a:ext cx="8375904" cy="868680"/>
          </a:xfrm>
          <a:prstGeom prst="roundRect">
            <a:avLst>
              <a:gd name="adj" fmla="val 12632"/>
            </a:avLst>
          </a:prstGeom>
          <a:solidFill>
            <a:schemeClr val="accent5"/>
          </a:solidFill>
          <a:ln w="12700">
            <a:solidFill>
              <a:schemeClr val="accent5"/>
            </a:solidFill>
            <a:prstDash val="solid"/>
          </a:ln>
        </p:spPr>
        <p:txBody>
          <a:bodyPr/>
          <a:lstStyle/>
          <a:p>
            <a:endParaRPr lang="es-ES"/>
          </a:p>
        </p:txBody>
      </p:sp>
      <p:sp>
        <p:nvSpPr>
          <p:cNvPr id="26" name="RabbitMQ label"/>
          <p:cNvSpPr txBox="1"/>
          <p:nvPr/>
        </p:nvSpPr>
        <p:spPr>
          <a:xfrm>
            <a:off x="539496" y="3886200"/>
            <a:ext cx="8375904" cy="868680"/>
          </a:xfrm>
          <a:prstGeom prst="rect">
            <a:avLst/>
          </a:prstGeom>
          <a:noFill/>
          <a:ln/>
        </p:spPr>
        <p:txBody>
          <a:bodyPr wrap="square" rtlCol="0" anchor="ctr"/>
          <a:lstStyle/>
          <a:p>
            <a:pPr marL="0" indent="0" algn="ctr">
              <a:buNone/>
            </a:pPr>
            <a:r>
              <a:rPr lang="en-US" sz="1500" b="1" dirty="0">
                <a:solidFill>
                  <a:schemeClr val="bg1"/>
                </a:solidFill>
              </a:rPr>
              <a:t>RabbitMQ · topic exchange manufacturing.events</a:t>
            </a:r>
            <a:endParaRPr lang="en-US" sz="1500" dirty="0"/>
          </a:p>
          <a:p>
            <a:pPr marL="0" indent="0" algn="ctr">
              <a:buNone/>
            </a:pPr>
            <a:r>
              <a:rPr lang="en-US" sz="1200" dirty="0">
                <a:solidFill>
                  <a:schemeClr val="bg1"/>
                </a:solidFill>
              </a:rPr>
              <a:t>5 predefined durable queues · 13 fact types</a:t>
            </a:r>
            <a:endParaRPr lang="en-US" sz="1500" dirty="0"/>
          </a:p>
        </p:txBody>
      </p:sp>
      <p:sp>
        <p:nvSpPr>
          <p:cNvPr id="27" name="audit link"/>
          <p:cNvSpPr/>
          <p:nvPr/>
        </p:nvSpPr>
        <p:spPr>
          <a:xfrm>
            <a:off x="6400800" y="4754880"/>
            <a:ext cx="0" cy="411480"/>
          </a:xfrm>
          <a:prstGeom prst="line">
            <a:avLst/>
          </a:prstGeom>
          <a:noFill/>
          <a:ln w="19050">
            <a:solidFill>
              <a:schemeClr val="accent4"/>
            </a:solidFill>
            <a:prstDash val="solid"/>
            <a:tailEnd type="triangle"/>
          </a:ln>
        </p:spPr>
        <p:txBody>
          <a:bodyPr/>
          <a:lstStyle/>
          <a:p>
            <a:endParaRPr lang="es-ES"/>
          </a:p>
        </p:txBody>
      </p:sp>
      <p:sp>
        <p:nvSpPr>
          <p:cNvPr id="28" name="Audit box"/>
          <p:cNvSpPr/>
          <p:nvPr/>
        </p:nvSpPr>
        <p:spPr>
          <a:xfrm>
            <a:off x="5120640" y="5166360"/>
            <a:ext cx="3794760" cy="685800"/>
          </a:xfrm>
          <a:prstGeom prst="roundRect">
            <a:avLst>
              <a:gd name="adj" fmla="val 16000"/>
            </a:avLst>
          </a:prstGeom>
          <a:solidFill>
            <a:schemeClr val="accent1"/>
          </a:solidFill>
          <a:ln w="12700">
            <a:solidFill>
              <a:schemeClr val="accent1"/>
            </a:solidFill>
            <a:prstDash val="solid"/>
          </a:ln>
        </p:spPr>
        <p:txBody>
          <a:bodyPr/>
          <a:lstStyle/>
          <a:p>
            <a:endParaRPr lang="es-ES"/>
          </a:p>
        </p:txBody>
      </p:sp>
      <p:sp>
        <p:nvSpPr>
          <p:cNvPr id="29" name="Audit label"/>
          <p:cNvSpPr txBox="1"/>
          <p:nvPr/>
        </p:nvSpPr>
        <p:spPr>
          <a:xfrm>
            <a:off x="5120640" y="5166360"/>
            <a:ext cx="3794760" cy="685800"/>
          </a:xfrm>
          <a:prstGeom prst="rect">
            <a:avLst/>
          </a:prstGeom>
          <a:noFill/>
          <a:ln/>
        </p:spPr>
        <p:txBody>
          <a:bodyPr wrap="square" rtlCol="0" anchor="ctr"/>
          <a:lstStyle/>
          <a:p>
            <a:pPr marL="0" indent="0" algn="ctr">
              <a:buNone/>
            </a:pPr>
            <a:r>
              <a:rPr lang="en-US" sz="1400" b="1" dirty="0">
                <a:solidFill>
                  <a:schemeClr val="bg1"/>
                </a:solidFill>
              </a:rPr>
              <a:t>Event logger → MongoDB (audit)</a:t>
            </a:r>
            <a:endParaRPr lang="en-US" sz="1400" dirty="0"/>
          </a:p>
        </p:txBody>
      </p:sp>
      <p:sp>
        <p:nvSpPr>
          <p:cNvPr id="30" name="Chassis note"/>
          <p:cNvSpPr txBox="1"/>
          <p:nvPr/>
        </p:nvSpPr>
        <p:spPr>
          <a:xfrm>
            <a:off x="539496" y="5166360"/>
            <a:ext cx="4389120" cy="685800"/>
          </a:xfrm>
          <a:prstGeom prst="rect">
            <a:avLst/>
          </a:prstGeom>
          <a:noFill/>
          <a:ln/>
        </p:spPr>
        <p:txBody>
          <a:bodyPr wrap="square" rtlCol="0" anchor="ctr"/>
          <a:lstStyle/>
          <a:p>
            <a:pPr marL="0" indent="0">
              <a:buNone/>
            </a:pPr>
            <a:r>
              <a:rPr lang="en-US" sz="1300" b="1" dirty="0">
                <a:solidFill>
                  <a:schemeClr val="tx1"/>
                </a:solidFill>
              </a:rPr>
              <a:t>Shared library: </a:t>
            </a:r>
            <a:r>
              <a:rPr lang="en-US" sz="1300" dirty="0">
                <a:solidFill>
                  <a:schemeClr val="tx1"/>
                </a:solidFill>
              </a:rPr>
              <a:t>microservice_chassis 0.5.0 in every service and the event logger</a:t>
            </a:r>
            <a:endParaRPr lang="en-US" sz="1300" dirty="0"/>
          </a:p>
        </p:txBody>
      </p:sp>
      <p:sp>
        <p:nvSpPr>
          <p:cNvPr id="31" name="Count microservices"/>
          <p:cNvSpPr txBox="1"/>
          <p:nvPr/>
        </p:nvSpPr>
        <p:spPr>
          <a:xfrm>
            <a:off x="9189720" y="1280160"/>
            <a:ext cx="2468880" cy="777240"/>
          </a:xfrm>
          <a:prstGeom prst="rect">
            <a:avLst/>
          </a:prstGeom>
          <a:noFill/>
          <a:ln/>
        </p:spPr>
        <p:txBody>
          <a:bodyPr wrap="square" rtlCol="0" anchor="ctr"/>
          <a:lstStyle/>
          <a:p>
            <a:pPr marL="0" indent="0">
              <a:buNone/>
            </a:pPr>
            <a:r>
              <a:rPr lang="en-US" sz="3000" b="1" dirty="0">
                <a:solidFill>
                  <a:schemeClr val="accent1"/>
                </a:solidFill>
              </a:rPr>
              <a:t>5</a:t>
            </a:r>
            <a:r>
              <a:rPr lang="en-US" sz="1400" dirty="0">
                <a:solidFill>
                  <a:schemeClr val="tx1"/>
                </a:solidFill>
              </a:rPr>
              <a:t>  microservices</a:t>
            </a:r>
            <a:endParaRPr lang="en-US" sz="3000" dirty="0"/>
          </a:p>
        </p:txBody>
      </p:sp>
      <p:sp>
        <p:nvSpPr>
          <p:cNvPr id="32" name="Count containers"/>
          <p:cNvSpPr txBox="1"/>
          <p:nvPr/>
        </p:nvSpPr>
        <p:spPr>
          <a:xfrm>
            <a:off x="9189720" y="2176272"/>
            <a:ext cx="2468880" cy="777240"/>
          </a:xfrm>
          <a:prstGeom prst="rect">
            <a:avLst/>
          </a:prstGeom>
          <a:noFill/>
          <a:ln/>
        </p:spPr>
        <p:txBody>
          <a:bodyPr wrap="square" rtlCol="0" anchor="ctr"/>
          <a:lstStyle/>
          <a:p>
            <a:pPr marL="0" indent="0">
              <a:buNone/>
            </a:pPr>
            <a:r>
              <a:rPr lang="en-US" sz="3000" b="1" dirty="0">
                <a:solidFill>
                  <a:schemeClr val="accent1"/>
                </a:solidFill>
              </a:rPr>
              <a:t>9</a:t>
            </a:r>
            <a:r>
              <a:rPr lang="en-US" sz="1400" dirty="0">
                <a:solidFill>
                  <a:schemeClr val="tx1"/>
                </a:solidFill>
              </a:rPr>
              <a:t>  containers</a:t>
            </a:r>
            <a:endParaRPr lang="en-US" sz="3000" dirty="0"/>
          </a:p>
        </p:txBody>
      </p:sp>
      <p:sp>
        <p:nvSpPr>
          <p:cNvPr id="33" name="Count SQLite + MongoDB"/>
          <p:cNvSpPr txBox="1"/>
          <p:nvPr/>
        </p:nvSpPr>
        <p:spPr>
          <a:xfrm>
            <a:off x="9189720" y="3072384"/>
            <a:ext cx="2468880" cy="777240"/>
          </a:xfrm>
          <a:prstGeom prst="rect">
            <a:avLst/>
          </a:prstGeom>
          <a:noFill/>
          <a:ln/>
        </p:spPr>
        <p:txBody>
          <a:bodyPr wrap="square" rtlCol="0" anchor="ctr"/>
          <a:lstStyle/>
          <a:p>
            <a:pPr marL="0" indent="0">
              <a:buNone/>
            </a:pPr>
            <a:r>
              <a:rPr lang="en-US" sz="3000" b="1" dirty="0">
                <a:solidFill>
                  <a:schemeClr val="accent1"/>
                </a:solidFill>
              </a:rPr>
              <a:t>5+1</a:t>
            </a:r>
            <a:r>
              <a:rPr lang="en-US" sz="1400" dirty="0">
                <a:solidFill>
                  <a:schemeClr val="tx1"/>
                </a:solidFill>
              </a:rPr>
              <a:t>  SQLite + MongoDB</a:t>
            </a:r>
            <a:endParaRPr lang="en-US" sz="3000" dirty="0"/>
          </a:p>
        </p:txBody>
      </p:sp>
      <p:sp>
        <p:nvSpPr>
          <p:cNvPr id="34" name="Count fact types"/>
          <p:cNvSpPr txBox="1"/>
          <p:nvPr/>
        </p:nvSpPr>
        <p:spPr>
          <a:xfrm>
            <a:off x="9189720" y="3968496"/>
            <a:ext cx="2468880" cy="777240"/>
          </a:xfrm>
          <a:prstGeom prst="rect">
            <a:avLst/>
          </a:prstGeom>
          <a:noFill/>
          <a:ln/>
        </p:spPr>
        <p:txBody>
          <a:bodyPr wrap="square" rtlCol="0" anchor="ctr"/>
          <a:lstStyle/>
          <a:p>
            <a:pPr marL="0" indent="0">
              <a:buNone/>
            </a:pPr>
            <a:r>
              <a:rPr lang="en-US" sz="3000" b="1" dirty="0">
                <a:solidFill>
                  <a:schemeClr val="accent1"/>
                </a:solidFill>
              </a:rPr>
              <a:t>13</a:t>
            </a:r>
            <a:r>
              <a:rPr lang="en-US" sz="1400" dirty="0">
                <a:solidFill>
                  <a:schemeClr val="tx1"/>
                </a:solidFill>
              </a:rPr>
              <a:t>  fact types</a:t>
            </a:r>
            <a:endParaRPr lang="en-US" sz="3000" dirty="0"/>
          </a:p>
        </p:txBody>
      </p:sp>
      <p:sp>
        <p:nvSpPr>
          <p:cNvPr id="35" name="Count HTTP endpoints"/>
          <p:cNvSpPr txBox="1"/>
          <p:nvPr/>
        </p:nvSpPr>
        <p:spPr>
          <a:xfrm>
            <a:off x="9189720" y="4864608"/>
            <a:ext cx="2468880" cy="777240"/>
          </a:xfrm>
          <a:prstGeom prst="rect">
            <a:avLst/>
          </a:prstGeom>
          <a:noFill/>
          <a:ln/>
        </p:spPr>
        <p:txBody>
          <a:bodyPr wrap="square" rtlCol="0" anchor="ctr"/>
          <a:lstStyle/>
          <a:p>
            <a:pPr marL="0" indent="0">
              <a:buNone/>
            </a:pPr>
            <a:r>
              <a:rPr lang="en-US" sz="3000" b="1" dirty="0">
                <a:solidFill>
                  <a:schemeClr val="accent1"/>
                </a:solidFill>
              </a:rPr>
              <a:t>37</a:t>
            </a:r>
            <a:r>
              <a:rPr lang="en-US" sz="1400" dirty="0">
                <a:solidFill>
                  <a:schemeClr val="tx1"/>
                </a:solidFill>
              </a:rPr>
              <a:t>  HTTP endpoints</a:t>
            </a:r>
            <a:endParaRPr lang="en-US" sz="3000" dirty="0"/>
          </a:p>
        </p:txBody>
      </p:sp>
      <p:sp>
        <p:nvSpPr>
          <p:cNvPr id="36"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4"/>
                </a:solidFill>
              </a:defRPr>
            </a:lvl1pPr>
          </a:lstStyle>
          <a:p>
            <a:pPr algn="r"/>
            <a:fld id="{F7021451-1387-4CA6-816F-3879F97B5CBC}" type="slidenum">
              <a:rPr lang="en-US" b="0"/>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11064240" cy="822960"/>
          </a:xfrm>
          <a:prstGeom prst="rect">
            <a:avLst/>
          </a:prstGeom>
          <a:noFill/>
          <a:ln/>
        </p:spPr>
        <p:txBody>
          <a:bodyPr wrap="square" rtlCol="0" anchor="ctr"/>
          <a:lstStyle/>
          <a:p>
            <a:pPr marL="0" indent="0" algn="l">
              <a:buNone/>
            </a:pPr>
            <a:r>
              <a:rPr lang="en-US" sz="3000" b="1" dirty="0">
                <a:solidFill>
                  <a:schemeClr val="tx1"/>
                </a:solidFill>
              </a:rPr>
              <a:t>Endpoints: Clients, Payments and Machine</a:t>
            </a:r>
            <a:endParaRPr lang="en-US" sz="3000" dirty="0"/>
          </a:p>
        </p:txBody>
      </p:sp>
      <p:sp>
        <p:nvSpPr>
          <p:cNvPr id="3" name="Clients circle"/>
          <p:cNvSpPr/>
          <p:nvPr/>
        </p:nvSpPr>
        <p:spPr>
          <a:xfrm>
            <a:off x="548640" y="1280160"/>
            <a:ext cx="502920" cy="502920"/>
          </a:xfrm>
          <a:prstGeom prst="ellipse">
            <a:avLst/>
          </a:prstGeom>
          <a:solidFill>
            <a:schemeClr val="accent5"/>
          </a:solidFill>
          <a:ln w="12700">
            <a:solidFill>
              <a:schemeClr val="accent5"/>
            </a:solidFill>
            <a:prstDash val="solid"/>
          </a:ln>
        </p:spPr>
        <p:txBody>
          <a:bodyPr/>
          <a:lstStyle/>
          <a:p>
            <a:endParaRPr lang="es-ES"/>
          </a:p>
        </p:txBody>
      </p:sp>
      <p:pic>
        <p:nvPicPr>
          <p:cNvPr id="4" name="Clients icon" descr="preencoded.png"/>
          <p:cNvPicPr>
            <a:picLocks noChangeAspect="1"/>
          </p:cNvPicPr>
          <p:nvPr/>
        </p:nvPicPr>
        <p:blipFill>
          <a:blip r:embed="rId3"/>
          <a:stretch>
            <a:fillRect/>
          </a:stretch>
        </p:blipFill>
        <p:spPr>
          <a:xfrm>
            <a:off x="674370" y="1405890"/>
            <a:ext cx="251460" cy="251460"/>
          </a:xfrm>
          <a:prstGeom prst="rect">
            <a:avLst/>
          </a:prstGeom>
        </p:spPr>
      </p:pic>
      <p:sp>
        <p:nvSpPr>
          <p:cNvPr id="5" name="Clients header"/>
          <p:cNvSpPr txBox="1"/>
          <p:nvPr/>
        </p:nvSpPr>
        <p:spPr>
          <a:xfrm>
            <a:off x="1188720" y="1280160"/>
            <a:ext cx="5120640" cy="502920"/>
          </a:xfrm>
          <a:prstGeom prst="rect">
            <a:avLst/>
          </a:prstGeom>
          <a:noFill/>
          <a:ln/>
        </p:spPr>
        <p:txBody>
          <a:bodyPr wrap="square" rtlCol="0" anchor="ctr"/>
          <a:lstStyle/>
          <a:p>
            <a:pPr marL="0" indent="0">
              <a:buNone/>
            </a:pPr>
            <a:r>
              <a:rPr lang="en-US" sz="1700" b="1" dirty="0">
                <a:solidFill>
                  <a:schemeClr val="tx1"/>
                </a:solidFill>
              </a:rPr>
              <a:t>Clients</a:t>
            </a:r>
            <a:r>
              <a:rPr lang="en-US" sz="1200" dirty="0">
                <a:solidFill>
                  <a:schemeClr val="tx2"/>
                </a:solidFill>
              </a:rPr>
              <a:t>   :13005 · /api/clients, /api/auth</a:t>
            </a:r>
            <a:endParaRPr lang="en-US" sz="1700" dirty="0"/>
          </a:p>
        </p:txBody>
      </p:sp>
      <p:graphicFrame>
        <p:nvGraphicFramePr>
          <p:cNvPr id="6" name="Clients endpoints"/>
          <p:cNvGraphicFramePr>
            <a:graphicFrameLocks noGrp="1"/>
          </p:cNvGraphicFramePr>
          <p:nvPr>
            <p:extLst>
              <p:ext uri="{D42A27DB-BD31-4B8C-83A1-F6EECF244321}">
                <p14:modId xmlns:p14="http://schemas.microsoft.com/office/powerpoint/2010/main" val="1579011935"/>
              </p:ext>
            </p:extLst>
          </p:nvPr>
        </p:nvGraphicFramePr>
        <p:xfrm>
          <a:off x="548640" y="1920240"/>
          <a:ext cx="5577840" cy="3118104"/>
        </p:xfrm>
        <a:graphic>
          <a:graphicData uri="http://schemas.openxmlformats.org/drawingml/2006/table">
            <a:tbl>
              <a:tblPr/>
              <a:tblGrid>
                <a:gridCol w="731520">
                  <a:extLst>
                    <a:ext uri="{9D8B030D-6E8A-4147-A177-3AD203B41FA5}">
                      <a16:colId xmlns:a16="http://schemas.microsoft.com/office/drawing/2014/main" val="20000"/>
                    </a:ext>
                  </a:extLst>
                </a:gridCol>
                <a:gridCol w="2057400">
                  <a:extLst>
                    <a:ext uri="{9D8B030D-6E8A-4147-A177-3AD203B41FA5}">
                      <a16:colId xmlns:a16="http://schemas.microsoft.com/office/drawing/2014/main" val="20001"/>
                    </a:ext>
                  </a:extLst>
                </a:gridCol>
                <a:gridCol w="2148840">
                  <a:extLst>
                    <a:ext uri="{9D8B030D-6E8A-4147-A177-3AD203B41FA5}">
                      <a16:colId xmlns:a16="http://schemas.microsoft.com/office/drawing/2014/main" val="20002"/>
                    </a:ext>
                  </a:extLst>
                </a:gridCol>
                <a:gridCol w="640080">
                  <a:extLst>
                    <a:ext uri="{9D8B030D-6E8A-4147-A177-3AD203B41FA5}">
                      <a16:colId xmlns:a16="http://schemas.microsoft.com/office/drawing/2014/main" val="20003"/>
                    </a:ext>
                  </a:extLst>
                </a:gridCol>
              </a:tblGrid>
              <a:tr h="283464">
                <a:tc>
                  <a:txBody>
                    <a:bodyPr/>
                    <a:lstStyle/>
                    <a:p>
                      <a:pPr marL="0" indent="0">
                        <a:buNone/>
                      </a:pPr>
                      <a:r>
                        <a:rPr lang="en-US" sz="1200" b="1" dirty="0">
                          <a:solidFill>
                            <a:schemeClr val="bg1"/>
                          </a:solidFill>
                        </a:rPr>
                        <a:t>Method</a:t>
                      </a:r>
                      <a:endParaRPr lang="en-US" sz="1200" dirty="0"/>
                    </a:p>
                  </a:txBody>
                  <a:tcPr marL="54864" marR="54864" marT="27432" marB="27432"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chemeClr val="tx1"/>
                    </a:solidFill>
                  </a:tcPr>
                </a:tc>
                <a:tc>
                  <a:txBody>
                    <a:bodyPr/>
                    <a:lstStyle/>
                    <a:p>
                      <a:pPr marL="0" indent="0">
                        <a:buNone/>
                      </a:pPr>
                      <a:r>
                        <a:rPr lang="en-US" sz="1200" b="1" dirty="0">
                          <a:solidFill>
                            <a:schemeClr val="bg1"/>
                          </a:solidFill>
                        </a:rPr>
                        <a:t>Path</a:t>
                      </a:r>
                      <a:endParaRPr lang="en-US" sz="1200" dirty="0"/>
                    </a:p>
                  </a:txBody>
                  <a:tcPr marL="54864" marR="54864" marT="27432" marB="27432"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chemeClr val="tx1"/>
                    </a:solidFill>
                  </a:tcPr>
                </a:tc>
                <a:tc>
                  <a:txBody>
                    <a:bodyPr/>
                    <a:lstStyle/>
                    <a:p>
                      <a:pPr marL="0" indent="0">
                        <a:buNone/>
                      </a:pPr>
                      <a:r>
                        <a:rPr lang="en-US" sz="1200" b="1" dirty="0">
                          <a:solidFill>
                            <a:schemeClr val="bg1"/>
                          </a:solidFill>
                        </a:rPr>
                        <a:t>Purpose</a:t>
                      </a:r>
                      <a:endParaRPr lang="en-US" sz="1200" dirty="0"/>
                    </a:p>
                  </a:txBody>
                  <a:tcPr marL="54864" marR="54864" marT="27432" marB="27432"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chemeClr val="tx1"/>
                    </a:solidFill>
                  </a:tcPr>
                </a:tc>
                <a:tc>
                  <a:txBody>
                    <a:bodyPr/>
                    <a:lstStyle/>
                    <a:p>
                      <a:pPr marL="0" indent="0">
                        <a:buNone/>
                      </a:pPr>
                      <a:r>
                        <a:rPr lang="en-US" sz="1200" b="1" dirty="0">
                          <a:solidFill>
                            <a:schemeClr val="bg1"/>
                          </a:solidFill>
                        </a:rPr>
                        <a:t>Auth</a:t>
                      </a:r>
                      <a:endParaRPr lang="en-US" sz="1200" dirty="0"/>
                    </a:p>
                  </a:txBody>
                  <a:tcPr marL="54864" marR="54864" marT="27432" marB="27432"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chemeClr val="tx1"/>
                    </a:solidFill>
                  </a:tcPr>
                </a:tc>
                <a:extLst>
                  <a:ext uri="{0D108BD9-81ED-4DB2-BD59-A6C34878D82A}">
                    <a16:rowId xmlns:a16="http://schemas.microsoft.com/office/drawing/2014/main" val="10000"/>
                  </a:ext>
                </a:extLst>
              </a:tr>
              <a:tr h="283464">
                <a:tc>
                  <a:txBody>
                    <a:bodyPr/>
                    <a:lstStyle/>
                    <a:p>
                      <a:pPr marL="0" indent="0">
                        <a:buNone/>
                      </a:pPr>
                      <a:r>
                        <a:rPr lang="en-US" sz="1200" b="1" dirty="0">
                          <a:solidFill>
                            <a:schemeClr val="accent1"/>
                          </a:solidFill>
                        </a:rPr>
                        <a:t>POST</a:t>
                      </a:r>
                      <a:endParaRPr lang="en-US" sz="1200" dirty="0"/>
                    </a:p>
                  </a:txBody>
                  <a:tcPr marL="54864" marR="54864" marT="27432" marB="27432"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chemeClr val="bg1"/>
                    </a:solidFill>
                  </a:tcPr>
                </a:tc>
                <a:tc>
                  <a:txBody>
                    <a:bodyPr/>
                    <a:lstStyle/>
                    <a:p>
                      <a:pPr marL="0" indent="0">
                        <a:buNone/>
                      </a:pPr>
                      <a:r>
                        <a:rPr lang="en-US" sz="1100" dirty="0">
                          <a:solidFill>
                            <a:schemeClr val="tx1"/>
                          </a:solidFill>
                          <a:latin typeface="Courier New" pitchFamily="34" charset="0"/>
                          <a:ea typeface="Courier New" pitchFamily="34" charset="-122"/>
                          <a:cs typeface="Courier New" pitchFamily="34" charset="-120"/>
                        </a:rPr>
                        <a:t>/auth/register</a:t>
                      </a:r>
                      <a:endParaRPr lang="en-US" sz="1100" dirty="0">
                        <a:latin typeface="Courier New" charset="0"/>
                        <a:ea typeface="Courier New" charset="0"/>
                        <a:cs typeface="Courier New" charset="0"/>
                      </a:endParaRPr>
                    </a:p>
                  </a:txBody>
                  <a:tcPr marL="54864" marR="54864" marT="27432" marB="27432"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chemeClr val="bg1"/>
                    </a:solidFill>
                  </a:tcPr>
                </a:tc>
                <a:tc>
                  <a:txBody>
                    <a:bodyPr/>
                    <a:lstStyle/>
                    <a:p>
                      <a:pPr marL="0" indent="0">
                        <a:buNone/>
                      </a:pPr>
                      <a:r>
                        <a:rPr lang="en-US" sz="1200" dirty="0">
                          <a:solidFill>
                            <a:schemeClr val="tx1"/>
                          </a:solidFill>
                        </a:rPr>
                        <a:t>Register a user (role user)</a:t>
                      </a:r>
                      <a:endParaRPr lang="en-US" sz="1200" dirty="0"/>
                    </a:p>
                  </a:txBody>
                  <a:tcPr marL="54864" marR="54864" marT="27432" marB="27432"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chemeClr val="bg1"/>
                    </a:solidFill>
                  </a:tcPr>
                </a:tc>
                <a:tc>
                  <a:txBody>
                    <a:bodyPr/>
                    <a:lstStyle/>
                    <a:p>
                      <a:pPr marL="0" indent="0">
                        <a:buNone/>
                      </a:pPr>
                      <a:r>
                        <a:rPr lang="en-US" sz="1200" dirty="0">
                          <a:solidFill>
                            <a:schemeClr val="accent4"/>
                          </a:solidFill>
                        </a:rPr>
                        <a:t>—</a:t>
                      </a:r>
                      <a:endParaRPr lang="en-US" sz="1200" dirty="0"/>
                    </a:p>
                  </a:txBody>
                  <a:tcPr marL="54864" marR="54864" marT="27432" marB="27432"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chemeClr val="bg1"/>
                    </a:solidFill>
                  </a:tcPr>
                </a:tc>
                <a:extLst>
                  <a:ext uri="{0D108BD9-81ED-4DB2-BD59-A6C34878D82A}">
                    <a16:rowId xmlns:a16="http://schemas.microsoft.com/office/drawing/2014/main" val="10001"/>
                  </a:ext>
                </a:extLst>
              </a:tr>
              <a:tr h="283464">
                <a:tc>
                  <a:txBody>
                    <a:bodyPr/>
                    <a:lstStyle/>
                    <a:p>
                      <a:pPr marL="0" indent="0">
                        <a:buNone/>
                      </a:pPr>
                      <a:r>
                        <a:rPr lang="en-US" sz="1200" b="1" dirty="0">
                          <a:solidFill>
                            <a:schemeClr val="accent1"/>
                          </a:solidFill>
                        </a:rPr>
                        <a:t>POST</a:t>
                      </a:r>
                      <a:endParaRPr lang="en-US" sz="1200" dirty="0"/>
                    </a:p>
                  </a:txBody>
                  <a:tcPr marL="54864" marR="54864" marT="27432" marB="27432"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chemeClr val="bg1"/>
                    </a:solidFill>
                  </a:tcPr>
                </a:tc>
                <a:tc>
                  <a:txBody>
                    <a:bodyPr/>
                    <a:lstStyle/>
                    <a:p>
                      <a:pPr marL="0" indent="0">
                        <a:buNone/>
                      </a:pPr>
                      <a:r>
                        <a:rPr lang="en-US" sz="1100" dirty="0">
                          <a:solidFill>
                            <a:schemeClr val="tx1"/>
                          </a:solidFill>
                          <a:latin typeface="Courier New" pitchFamily="34" charset="0"/>
                          <a:ea typeface="Courier New" pitchFamily="34" charset="-122"/>
                          <a:cs typeface="Courier New" pitchFamily="34" charset="-120"/>
                        </a:rPr>
                        <a:t>/auth/token</a:t>
                      </a:r>
                      <a:endParaRPr lang="en-US" sz="1100" dirty="0">
                        <a:latin typeface="Courier New" charset="0"/>
                        <a:ea typeface="Courier New" charset="0"/>
                        <a:cs typeface="Courier New" charset="0"/>
                      </a:endParaRPr>
                    </a:p>
                  </a:txBody>
                  <a:tcPr marL="54864" marR="54864" marT="27432" marB="27432"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chemeClr val="bg1"/>
                    </a:solidFill>
                  </a:tcPr>
                </a:tc>
                <a:tc>
                  <a:txBody>
                    <a:bodyPr/>
                    <a:lstStyle/>
                    <a:p>
                      <a:pPr marL="0" indent="0">
                        <a:buNone/>
                      </a:pPr>
                      <a:r>
                        <a:rPr lang="en-US" sz="1200" dirty="0">
                          <a:solidFill>
                            <a:schemeClr val="tx1"/>
                          </a:solidFill>
                        </a:rPr>
                        <a:t>Log in; access + refresh token</a:t>
                      </a:r>
                      <a:endParaRPr lang="en-US" sz="1200" dirty="0"/>
                    </a:p>
                  </a:txBody>
                  <a:tcPr marL="54864" marR="54864" marT="27432" marB="27432"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chemeClr val="bg1"/>
                    </a:solidFill>
                  </a:tcPr>
                </a:tc>
                <a:tc>
                  <a:txBody>
                    <a:bodyPr/>
                    <a:lstStyle/>
                    <a:p>
                      <a:pPr marL="0" indent="0">
                        <a:buNone/>
                      </a:pPr>
                      <a:r>
                        <a:rPr lang="en-US" sz="1200" b="1" dirty="0">
                          <a:solidFill>
                            <a:schemeClr val="accent5"/>
                          </a:solidFill>
                        </a:rPr>
                        <a:t>Basic</a:t>
                      </a:r>
                      <a:endParaRPr lang="en-US" sz="1200" dirty="0"/>
                    </a:p>
                  </a:txBody>
                  <a:tcPr marL="54864" marR="54864" marT="27432" marB="27432"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chemeClr val="bg1"/>
                    </a:solidFill>
                  </a:tcPr>
                </a:tc>
                <a:extLst>
                  <a:ext uri="{0D108BD9-81ED-4DB2-BD59-A6C34878D82A}">
                    <a16:rowId xmlns:a16="http://schemas.microsoft.com/office/drawing/2014/main" val="10002"/>
                  </a:ext>
                </a:extLst>
              </a:tr>
              <a:tr h="283464">
                <a:tc>
                  <a:txBody>
                    <a:bodyPr/>
                    <a:lstStyle/>
                    <a:p>
                      <a:pPr marL="0" indent="0">
                        <a:buNone/>
                      </a:pPr>
                      <a:r>
                        <a:rPr lang="en-US" sz="1200" b="1" dirty="0">
                          <a:solidFill>
                            <a:schemeClr val="accent2"/>
                          </a:solidFill>
                        </a:rPr>
                        <a:t>GET</a:t>
                      </a:r>
                      <a:endParaRPr lang="en-US" sz="1200" dirty="0"/>
                    </a:p>
                  </a:txBody>
                  <a:tcPr marL="54864" marR="54864" marT="27432" marB="27432"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chemeClr val="bg1"/>
                    </a:solidFill>
                  </a:tcPr>
                </a:tc>
                <a:tc>
                  <a:txBody>
                    <a:bodyPr/>
                    <a:lstStyle/>
                    <a:p>
                      <a:pPr marL="0" indent="0">
                        <a:buNone/>
                      </a:pPr>
                      <a:r>
                        <a:rPr lang="en-US" sz="1100" dirty="0">
                          <a:solidFill>
                            <a:schemeClr val="tx1"/>
                          </a:solidFill>
                          <a:latin typeface="Courier New" pitchFamily="34" charset="0"/>
                          <a:ea typeface="Courier New" pitchFamily="34" charset="-122"/>
                          <a:cs typeface="Courier New" pitchFamily="34" charset="-120"/>
                        </a:rPr>
                        <a:t>/auth/token</a:t>
                      </a:r>
                      <a:endParaRPr lang="en-US" sz="1100" dirty="0">
                        <a:latin typeface="Courier New" charset="0"/>
                        <a:ea typeface="Courier New" charset="0"/>
                        <a:cs typeface="Courier New" charset="0"/>
                      </a:endParaRPr>
                    </a:p>
                  </a:txBody>
                  <a:tcPr marL="54864" marR="54864" marT="27432" marB="27432"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chemeClr val="bg1"/>
                    </a:solidFill>
                  </a:tcPr>
                </a:tc>
                <a:tc>
                  <a:txBody>
                    <a:bodyPr/>
                    <a:lstStyle/>
                    <a:p>
                      <a:pPr marL="0" indent="0">
                        <a:buNone/>
                      </a:pPr>
                      <a:r>
                        <a:rPr lang="en-US" sz="1200" dirty="0">
                          <a:solidFill>
                            <a:schemeClr val="tx1"/>
                          </a:solidFill>
                        </a:rPr>
                        <a:t>Same login (compatibility)</a:t>
                      </a:r>
                      <a:endParaRPr lang="en-US" sz="1200" dirty="0"/>
                    </a:p>
                  </a:txBody>
                  <a:tcPr marL="54864" marR="54864" marT="27432" marB="27432"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chemeClr val="bg1"/>
                    </a:solidFill>
                  </a:tcPr>
                </a:tc>
                <a:tc>
                  <a:txBody>
                    <a:bodyPr/>
                    <a:lstStyle/>
                    <a:p>
                      <a:pPr marL="0" indent="0">
                        <a:buNone/>
                      </a:pPr>
                      <a:r>
                        <a:rPr lang="en-US" sz="1200" b="1" dirty="0">
                          <a:solidFill>
                            <a:schemeClr val="accent5"/>
                          </a:solidFill>
                        </a:rPr>
                        <a:t>Basic</a:t>
                      </a:r>
                      <a:endParaRPr lang="en-US" sz="1200" dirty="0"/>
                    </a:p>
                  </a:txBody>
                  <a:tcPr marL="54864" marR="54864" marT="27432" marB="27432"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chemeClr val="bg1"/>
                    </a:solidFill>
                  </a:tcPr>
                </a:tc>
                <a:extLst>
                  <a:ext uri="{0D108BD9-81ED-4DB2-BD59-A6C34878D82A}">
                    <a16:rowId xmlns:a16="http://schemas.microsoft.com/office/drawing/2014/main" val="10003"/>
                  </a:ext>
                </a:extLst>
              </a:tr>
              <a:tr h="283464">
                <a:tc>
                  <a:txBody>
                    <a:bodyPr/>
                    <a:lstStyle/>
                    <a:p>
                      <a:pPr marL="0" indent="0">
                        <a:buNone/>
                      </a:pPr>
                      <a:r>
                        <a:rPr lang="en-US" sz="1200" b="1" dirty="0">
                          <a:solidFill>
                            <a:schemeClr val="accent1"/>
                          </a:solidFill>
                        </a:rPr>
                        <a:t>POST</a:t>
                      </a:r>
                      <a:endParaRPr lang="en-US" sz="1200" dirty="0"/>
                    </a:p>
                  </a:txBody>
                  <a:tcPr marL="54864" marR="54864" marT="27432" marB="27432"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chemeClr val="bg1"/>
                    </a:solidFill>
                  </a:tcPr>
                </a:tc>
                <a:tc>
                  <a:txBody>
                    <a:bodyPr/>
                    <a:lstStyle/>
                    <a:p>
                      <a:pPr marL="0" indent="0">
                        <a:buNone/>
                      </a:pPr>
                      <a:r>
                        <a:rPr lang="en-US" sz="1100" dirty="0">
                          <a:solidFill>
                            <a:schemeClr val="tx1"/>
                          </a:solidFill>
                          <a:latin typeface="Courier New" pitchFamily="34" charset="0"/>
                          <a:ea typeface="Courier New" pitchFamily="34" charset="-122"/>
                          <a:cs typeface="Courier New" pitchFamily="34" charset="-120"/>
                        </a:rPr>
                        <a:t>/auth/refresh</a:t>
                      </a:r>
                      <a:endParaRPr lang="en-US" sz="1100" dirty="0">
                        <a:latin typeface="Courier New" charset="0"/>
                        <a:ea typeface="Courier New" charset="0"/>
                        <a:cs typeface="Courier New" charset="0"/>
                      </a:endParaRPr>
                    </a:p>
                  </a:txBody>
                  <a:tcPr marL="54864" marR="54864" marT="27432" marB="27432"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chemeClr val="bg1"/>
                    </a:solidFill>
                  </a:tcPr>
                </a:tc>
                <a:tc>
                  <a:txBody>
                    <a:bodyPr/>
                    <a:lstStyle/>
                    <a:p>
                      <a:pPr marL="0" indent="0">
                        <a:buNone/>
                      </a:pPr>
                      <a:r>
                        <a:rPr lang="en-US" sz="1200" dirty="0">
                          <a:solidFill>
                            <a:schemeClr val="tx1"/>
                          </a:solidFill>
                        </a:rPr>
                        <a:t>Rotate the token pair</a:t>
                      </a:r>
                      <a:endParaRPr lang="en-US" sz="1200" dirty="0"/>
                    </a:p>
                  </a:txBody>
                  <a:tcPr marL="54864" marR="54864" marT="27432" marB="27432"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chemeClr val="bg1"/>
                    </a:solidFill>
                  </a:tcPr>
                </a:tc>
                <a:tc>
                  <a:txBody>
                    <a:bodyPr/>
                    <a:lstStyle/>
                    <a:p>
                      <a:pPr marL="0" indent="0">
                        <a:buNone/>
                      </a:pPr>
                      <a:r>
                        <a:rPr lang="en-US" sz="1200" dirty="0">
                          <a:solidFill>
                            <a:schemeClr val="accent4"/>
                          </a:solidFill>
                        </a:rPr>
                        <a:t>—</a:t>
                      </a:r>
                      <a:endParaRPr lang="en-US" sz="1200" dirty="0"/>
                    </a:p>
                  </a:txBody>
                  <a:tcPr marL="54864" marR="54864" marT="27432" marB="27432"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chemeClr val="bg1"/>
                    </a:solidFill>
                  </a:tcPr>
                </a:tc>
                <a:extLst>
                  <a:ext uri="{0D108BD9-81ED-4DB2-BD59-A6C34878D82A}">
                    <a16:rowId xmlns:a16="http://schemas.microsoft.com/office/drawing/2014/main" val="10004"/>
                  </a:ext>
                </a:extLst>
              </a:tr>
              <a:tr h="283464">
                <a:tc>
                  <a:txBody>
                    <a:bodyPr/>
                    <a:lstStyle/>
                    <a:p>
                      <a:pPr marL="0" indent="0">
                        <a:buNone/>
                      </a:pPr>
                      <a:r>
                        <a:rPr lang="en-US" sz="1200" b="1" dirty="0">
                          <a:solidFill>
                            <a:schemeClr val="accent1"/>
                          </a:solidFill>
                        </a:rPr>
                        <a:t>POST</a:t>
                      </a:r>
                      <a:endParaRPr lang="en-US" sz="1200" dirty="0"/>
                    </a:p>
                  </a:txBody>
                  <a:tcPr marL="54864" marR="54864" marT="27432" marB="27432"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chemeClr val="bg1"/>
                    </a:solidFill>
                  </a:tcPr>
                </a:tc>
                <a:tc>
                  <a:txBody>
                    <a:bodyPr/>
                    <a:lstStyle/>
                    <a:p>
                      <a:pPr marL="0" indent="0">
                        <a:buNone/>
                      </a:pPr>
                      <a:r>
                        <a:rPr lang="en-US" sz="1100" dirty="0">
                          <a:solidFill>
                            <a:schemeClr val="tx1"/>
                          </a:solidFill>
                          <a:latin typeface="Courier New" pitchFamily="34" charset="0"/>
                          <a:ea typeface="Courier New" pitchFamily="34" charset="-122"/>
                          <a:cs typeface="Courier New" pitchFamily="34" charset="-120"/>
                        </a:rPr>
                        <a:t>/auth/logout</a:t>
                      </a:r>
                      <a:endParaRPr lang="en-US" sz="1100" dirty="0">
                        <a:latin typeface="Courier New" charset="0"/>
                        <a:ea typeface="Courier New" charset="0"/>
                        <a:cs typeface="Courier New" charset="0"/>
                      </a:endParaRPr>
                    </a:p>
                  </a:txBody>
                  <a:tcPr marL="54864" marR="54864" marT="27432" marB="27432"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chemeClr val="bg1"/>
                    </a:solidFill>
                  </a:tcPr>
                </a:tc>
                <a:tc>
                  <a:txBody>
                    <a:bodyPr/>
                    <a:lstStyle/>
                    <a:p>
                      <a:pPr marL="0" indent="0">
                        <a:buNone/>
                      </a:pPr>
                      <a:r>
                        <a:rPr lang="en-US" sz="1200" dirty="0">
                          <a:solidFill>
                            <a:schemeClr val="tx1"/>
                          </a:solidFill>
                        </a:rPr>
                        <a:t>Revoke the refresh session</a:t>
                      </a:r>
                      <a:endParaRPr lang="en-US" sz="1200" dirty="0"/>
                    </a:p>
                  </a:txBody>
                  <a:tcPr marL="54864" marR="54864" marT="27432" marB="27432"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chemeClr val="bg1"/>
                    </a:solidFill>
                  </a:tcPr>
                </a:tc>
                <a:tc>
                  <a:txBody>
                    <a:bodyPr/>
                    <a:lstStyle/>
                    <a:p>
                      <a:pPr marL="0" indent="0">
                        <a:buNone/>
                      </a:pPr>
                      <a:r>
                        <a:rPr lang="en-US" sz="1200" dirty="0">
                          <a:solidFill>
                            <a:schemeClr val="accent4"/>
                          </a:solidFill>
                        </a:rPr>
                        <a:t>—</a:t>
                      </a:r>
                      <a:endParaRPr lang="en-US" sz="1200" dirty="0"/>
                    </a:p>
                  </a:txBody>
                  <a:tcPr marL="54864" marR="54864" marT="27432" marB="27432"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chemeClr val="bg1"/>
                    </a:solidFill>
                  </a:tcPr>
                </a:tc>
                <a:extLst>
                  <a:ext uri="{0D108BD9-81ED-4DB2-BD59-A6C34878D82A}">
                    <a16:rowId xmlns:a16="http://schemas.microsoft.com/office/drawing/2014/main" val="10005"/>
                  </a:ext>
                </a:extLst>
              </a:tr>
              <a:tr h="283464">
                <a:tc>
                  <a:txBody>
                    <a:bodyPr/>
                    <a:lstStyle/>
                    <a:p>
                      <a:pPr marL="0" indent="0">
                        <a:buNone/>
                      </a:pPr>
                      <a:r>
                        <a:rPr lang="en-US" sz="1200" b="1" dirty="0">
                          <a:solidFill>
                            <a:schemeClr val="accent1"/>
                          </a:solidFill>
                        </a:rPr>
                        <a:t>POST</a:t>
                      </a:r>
                      <a:endParaRPr lang="en-US" sz="1200" dirty="0"/>
                    </a:p>
                  </a:txBody>
                  <a:tcPr marL="54864" marR="54864" marT="27432" marB="27432"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chemeClr val="bg1"/>
                    </a:solidFill>
                  </a:tcPr>
                </a:tc>
                <a:tc>
                  <a:txBody>
                    <a:bodyPr/>
                    <a:lstStyle/>
                    <a:p>
                      <a:pPr marL="0" indent="0">
                        <a:buNone/>
                      </a:pPr>
                      <a:r>
                        <a:rPr lang="en-US" sz="1100" dirty="0">
                          <a:solidFill>
                            <a:schemeClr val="tx1"/>
                          </a:solidFill>
                          <a:latin typeface="Courier New" pitchFamily="34" charset="0"/>
                          <a:ea typeface="Courier New" pitchFamily="34" charset="-122"/>
                          <a:cs typeface="Courier New" pitchFamily="34" charset="-120"/>
                        </a:rPr>
                        <a:t>/auth/service-token</a:t>
                      </a:r>
                      <a:endParaRPr lang="en-US" sz="1100" dirty="0">
                        <a:latin typeface="Courier New" charset="0"/>
                        <a:ea typeface="Courier New" charset="0"/>
                        <a:cs typeface="Courier New" charset="0"/>
                      </a:endParaRPr>
                    </a:p>
                  </a:txBody>
                  <a:tcPr marL="54864" marR="54864" marT="27432" marB="27432"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chemeClr val="bg1"/>
                    </a:solidFill>
                  </a:tcPr>
                </a:tc>
                <a:tc>
                  <a:txBody>
                    <a:bodyPr/>
                    <a:lstStyle/>
                    <a:p>
                      <a:pPr marL="0" indent="0">
                        <a:buNone/>
                      </a:pPr>
                      <a:r>
                        <a:rPr lang="en-US" sz="1200" dirty="0">
                          <a:solidFill>
                            <a:schemeClr val="tx1"/>
                          </a:solidFill>
                        </a:rPr>
                        <a:t>Token for a service account</a:t>
                      </a:r>
                      <a:endParaRPr lang="en-US" sz="1200" dirty="0"/>
                    </a:p>
                  </a:txBody>
                  <a:tcPr marL="54864" marR="54864" marT="27432" marB="27432"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chemeClr val="bg1"/>
                    </a:solidFill>
                  </a:tcPr>
                </a:tc>
                <a:tc>
                  <a:txBody>
                    <a:bodyPr/>
                    <a:lstStyle/>
                    <a:p>
                      <a:pPr marL="0" indent="0">
                        <a:buNone/>
                      </a:pPr>
                      <a:r>
                        <a:rPr lang="en-US" sz="1200" b="1" dirty="0">
                          <a:solidFill>
                            <a:schemeClr val="accent5"/>
                          </a:solidFill>
                        </a:rPr>
                        <a:t>Basic</a:t>
                      </a:r>
                      <a:endParaRPr lang="en-US" sz="1200" dirty="0"/>
                    </a:p>
                  </a:txBody>
                  <a:tcPr marL="54864" marR="54864" marT="27432" marB="27432"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chemeClr val="bg1"/>
                    </a:solidFill>
                  </a:tcPr>
                </a:tc>
                <a:extLst>
                  <a:ext uri="{0D108BD9-81ED-4DB2-BD59-A6C34878D82A}">
                    <a16:rowId xmlns:a16="http://schemas.microsoft.com/office/drawing/2014/main" val="10006"/>
                  </a:ext>
                </a:extLst>
              </a:tr>
              <a:tr h="283464">
                <a:tc>
                  <a:txBody>
                    <a:bodyPr/>
                    <a:lstStyle/>
                    <a:p>
                      <a:pPr marL="0" indent="0">
                        <a:buNone/>
                      </a:pPr>
                      <a:r>
                        <a:rPr lang="en-US" sz="1200" b="1" dirty="0">
                          <a:solidFill>
                            <a:schemeClr val="accent2"/>
                          </a:solidFill>
                        </a:rPr>
                        <a:t>GET</a:t>
                      </a:r>
                      <a:endParaRPr lang="en-US" sz="1200" dirty="0"/>
                    </a:p>
                  </a:txBody>
                  <a:tcPr marL="54864" marR="54864" marT="27432" marB="27432"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chemeClr val="bg1"/>
                    </a:solidFill>
                  </a:tcPr>
                </a:tc>
                <a:tc>
                  <a:txBody>
                    <a:bodyPr/>
                    <a:lstStyle/>
                    <a:p>
                      <a:pPr marL="0" indent="0">
                        <a:buNone/>
                      </a:pPr>
                      <a:r>
                        <a:rPr lang="en-US" sz="1100" dirty="0">
                          <a:solidFill>
                            <a:schemeClr val="tx1"/>
                          </a:solidFill>
                          <a:latin typeface="Courier New" pitchFamily="34" charset="0"/>
                          <a:ea typeface="Courier New" pitchFamily="34" charset="-122"/>
                          <a:cs typeface="Courier New" pitchFamily="34" charset="-120"/>
                        </a:rPr>
                        <a:t>/auth/public-key</a:t>
                      </a:r>
                      <a:endParaRPr lang="en-US" sz="1100" dirty="0">
                        <a:latin typeface="Courier New" charset="0"/>
                        <a:ea typeface="Courier New" charset="0"/>
                        <a:cs typeface="Courier New" charset="0"/>
                      </a:endParaRPr>
                    </a:p>
                  </a:txBody>
                  <a:tcPr marL="54864" marR="54864" marT="27432" marB="27432"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chemeClr val="bg1"/>
                    </a:solidFill>
                  </a:tcPr>
                </a:tc>
                <a:tc>
                  <a:txBody>
                    <a:bodyPr/>
                    <a:lstStyle/>
                    <a:p>
                      <a:pPr marL="0" indent="0">
                        <a:buNone/>
                      </a:pPr>
                      <a:r>
                        <a:rPr lang="en-US" sz="1200" dirty="0">
                          <a:solidFill>
                            <a:schemeClr val="tx1"/>
                          </a:solidFill>
                        </a:rPr>
                        <a:t>Public key (PEM)</a:t>
                      </a:r>
                      <a:endParaRPr lang="en-US" sz="1200" dirty="0"/>
                    </a:p>
                  </a:txBody>
                  <a:tcPr marL="54864" marR="54864" marT="27432" marB="27432"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chemeClr val="bg1"/>
                    </a:solidFill>
                  </a:tcPr>
                </a:tc>
                <a:tc>
                  <a:txBody>
                    <a:bodyPr/>
                    <a:lstStyle/>
                    <a:p>
                      <a:pPr marL="0" indent="0">
                        <a:buNone/>
                      </a:pPr>
                      <a:r>
                        <a:rPr lang="en-US" sz="1200" dirty="0">
                          <a:solidFill>
                            <a:schemeClr val="accent4"/>
                          </a:solidFill>
                        </a:rPr>
                        <a:t>—</a:t>
                      </a:r>
                      <a:endParaRPr lang="en-US" sz="1200" dirty="0"/>
                    </a:p>
                  </a:txBody>
                  <a:tcPr marL="54864" marR="54864" marT="27432" marB="27432"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chemeClr val="bg1"/>
                    </a:solidFill>
                  </a:tcPr>
                </a:tc>
                <a:extLst>
                  <a:ext uri="{0D108BD9-81ED-4DB2-BD59-A6C34878D82A}">
                    <a16:rowId xmlns:a16="http://schemas.microsoft.com/office/drawing/2014/main" val="10007"/>
                  </a:ext>
                </a:extLst>
              </a:tr>
              <a:tr h="283464">
                <a:tc>
                  <a:txBody>
                    <a:bodyPr/>
                    <a:lstStyle/>
                    <a:p>
                      <a:pPr marL="0" indent="0">
                        <a:buNone/>
                      </a:pPr>
                      <a:r>
                        <a:rPr lang="en-US" sz="1200" b="1" dirty="0">
                          <a:solidFill>
                            <a:schemeClr val="accent1"/>
                          </a:solidFill>
                        </a:rPr>
                        <a:t>POST</a:t>
                      </a:r>
                      <a:endParaRPr lang="en-US" sz="1200" dirty="0"/>
                    </a:p>
                  </a:txBody>
                  <a:tcPr marL="54864" marR="54864" marT="27432" marB="27432"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chemeClr val="bg1"/>
                    </a:solidFill>
                  </a:tcPr>
                </a:tc>
                <a:tc>
                  <a:txBody>
                    <a:bodyPr/>
                    <a:lstStyle/>
                    <a:p>
                      <a:pPr marL="0" indent="0">
                        <a:buNone/>
                      </a:pPr>
                      <a:r>
                        <a:rPr lang="en-US" sz="1100" dirty="0">
                          <a:solidFill>
                            <a:schemeClr val="tx1"/>
                          </a:solidFill>
                          <a:latin typeface="Courier New" pitchFamily="34" charset="0"/>
                          <a:ea typeface="Courier New" pitchFamily="34" charset="-122"/>
                          <a:cs typeface="Courier New" pitchFamily="34" charset="-120"/>
                        </a:rPr>
                        <a:t>/clients</a:t>
                      </a:r>
                      <a:endParaRPr lang="en-US" sz="1100" dirty="0">
                        <a:latin typeface="Courier New" charset="0"/>
                        <a:ea typeface="Courier New" charset="0"/>
                        <a:cs typeface="Courier New" charset="0"/>
                      </a:endParaRPr>
                    </a:p>
                  </a:txBody>
                  <a:tcPr marL="54864" marR="54864" marT="27432" marB="27432"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chemeClr val="bg1"/>
                    </a:solidFill>
                  </a:tcPr>
                </a:tc>
                <a:tc>
                  <a:txBody>
                    <a:bodyPr/>
                    <a:lstStyle/>
                    <a:p>
                      <a:pPr marL="0" indent="0">
                        <a:buNone/>
                      </a:pPr>
                      <a:r>
                        <a:rPr lang="en-US" sz="1200" dirty="0">
                          <a:solidFill>
                            <a:schemeClr val="tx1"/>
                          </a:solidFill>
                        </a:rPr>
                        <a:t>Create a client (own email)</a:t>
                      </a:r>
                      <a:endParaRPr lang="en-US" sz="1200" dirty="0"/>
                    </a:p>
                  </a:txBody>
                  <a:tcPr marL="54864" marR="54864" marT="27432" marB="27432"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chemeClr val="bg1"/>
                    </a:solidFill>
                  </a:tcPr>
                </a:tc>
                <a:tc>
                  <a:txBody>
                    <a:bodyPr/>
                    <a:lstStyle/>
                    <a:p>
                      <a:pPr marL="0" indent="0">
                        <a:buNone/>
                      </a:pPr>
                      <a:r>
                        <a:rPr lang="en-US" sz="1200" b="1" dirty="0">
                          <a:solidFill>
                            <a:schemeClr val="accent1"/>
                          </a:solidFill>
                        </a:rPr>
                        <a:t>JWT</a:t>
                      </a:r>
                      <a:endParaRPr lang="en-US" sz="1200" dirty="0"/>
                    </a:p>
                  </a:txBody>
                  <a:tcPr marL="54864" marR="54864" marT="27432" marB="27432"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chemeClr val="bg1"/>
                    </a:solidFill>
                  </a:tcPr>
                </a:tc>
                <a:extLst>
                  <a:ext uri="{0D108BD9-81ED-4DB2-BD59-A6C34878D82A}">
                    <a16:rowId xmlns:a16="http://schemas.microsoft.com/office/drawing/2014/main" val="10008"/>
                  </a:ext>
                </a:extLst>
              </a:tr>
              <a:tr h="283464">
                <a:tc>
                  <a:txBody>
                    <a:bodyPr/>
                    <a:lstStyle/>
                    <a:p>
                      <a:pPr marL="0" indent="0">
                        <a:buNone/>
                      </a:pPr>
                      <a:r>
                        <a:rPr lang="en-US" sz="1200" b="1" dirty="0">
                          <a:solidFill>
                            <a:schemeClr val="accent2"/>
                          </a:solidFill>
                        </a:rPr>
                        <a:t>GET</a:t>
                      </a:r>
                      <a:endParaRPr lang="en-US" sz="1200" dirty="0"/>
                    </a:p>
                  </a:txBody>
                  <a:tcPr marL="54864" marR="54864" marT="27432" marB="27432"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chemeClr val="bg1"/>
                    </a:solidFill>
                  </a:tcPr>
                </a:tc>
                <a:tc>
                  <a:txBody>
                    <a:bodyPr/>
                    <a:lstStyle/>
                    <a:p>
                      <a:pPr marL="0" indent="0">
                        <a:buNone/>
                      </a:pPr>
                      <a:r>
                        <a:rPr lang="en-US" sz="1100" dirty="0">
                          <a:solidFill>
                            <a:schemeClr val="tx1"/>
                          </a:solidFill>
                          <a:latin typeface="Courier New" pitchFamily="34" charset="0"/>
                          <a:ea typeface="Courier New" pitchFamily="34" charset="-122"/>
                          <a:cs typeface="Courier New" pitchFamily="34" charset="-120"/>
                        </a:rPr>
                        <a:t>/clients</a:t>
                      </a:r>
                      <a:endParaRPr lang="en-US" sz="1100" dirty="0">
                        <a:latin typeface="Courier New" charset="0"/>
                        <a:ea typeface="Courier New" charset="0"/>
                        <a:cs typeface="Courier New" charset="0"/>
                      </a:endParaRPr>
                    </a:p>
                  </a:txBody>
                  <a:tcPr marL="54864" marR="54864" marT="27432" marB="27432"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chemeClr val="bg1"/>
                    </a:solidFill>
                  </a:tcPr>
                </a:tc>
                <a:tc>
                  <a:txBody>
                    <a:bodyPr/>
                    <a:lstStyle/>
                    <a:p>
                      <a:pPr marL="0" indent="0">
                        <a:buNone/>
                      </a:pPr>
                      <a:r>
                        <a:rPr lang="en-US" sz="1200" dirty="0">
                          <a:solidFill>
                            <a:schemeClr val="tx1"/>
                          </a:solidFill>
                        </a:rPr>
                        <a:t>List clients (own or all)</a:t>
                      </a:r>
                      <a:endParaRPr lang="en-US" sz="1200" dirty="0"/>
                    </a:p>
                  </a:txBody>
                  <a:tcPr marL="54864" marR="54864" marT="27432" marB="27432"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chemeClr val="bg1"/>
                    </a:solidFill>
                  </a:tcPr>
                </a:tc>
                <a:tc>
                  <a:txBody>
                    <a:bodyPr/>
                    <a:lstStyle/>
                    <a:p>
                      <a:pPr marL="0" indent="0">
                        <a:buNone/>
                      </a:pPr>
                      <a:r>
                        <a:rPr lang="en-US" sz="1200" b="1" dirty="0">
                          <a:solidFill>
                            <a:schemeClr val="accent1"/>
                          </a:solidFill>
                        </a:rPr>
                        <a:t>JWT</a:t>
                      </a:r>
                      <a:endParaRPr lang="en-US" sz="1200" dirty="0"/>
                    </a:p>
                  </a:txBody>
                  <a:tcPr marL="54864" marR="54864" marT="27432" marB="27432"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chemeClr val="bg1"/>
                    </a:solidFill>
                  </a:tcPr>
                </a:tc>
                <a:extLst>
                  <a:ext uri="{0D108BD9-81ED-4DB2-BD59-A6C34878D82A}">
                    <a16:rowId xmlns:a16="http://schemas.microsoft.com/office/drawing/2014/main" val="10009"/>
                  </a:ext>
                </a:extLst>
              </a:tr>
              <a:tr h="283464">
                <a:tc>
                  <a:txBody>
                    <a:bodyPr/>
                    <a:lstStyle/>
                    <a:p>
                      <a:pPr marL="0" indent="0">
                        <a:buNone/>
                      </a:pPr>
                      <a:r>
                        <a:rPr lang="en-US" sz="1200" b="1" dirty="0">
                          <a:solidFill>
                            <a:schemeClr val="accent2"/>
                          </a:solidFill>
                        </a:rPr>
                        <a:t>GET</a:t>
                      </a:r>
                      <a:endParaRPr lang="en-US" sz="1200" dirty="0"/>
                    </a:p>
                  </a:txBody>
                  <a:tcPr marL="54864" marR="54864" marT="27432" marB="27432"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chemeClr val="bg1"/>
                    </a:solidFill>
                  </a:tcPr>
                </a:tc>
                <a:tc>
                  <a:txBody>
                    <a:bodyPr/>
                    <a:lstStyle/>
                    <a:p>
                      <a:pPr marL="0" indent="0">
                        <a:buNone/>
                      </a:pPr>
                      <a:r>
                        <a:rPr lang="en-US" sz="1100" dirty="0">
                          <a:solidFill>
                            <a:schemeClr val="tx1"/>
                          </a:solidFill>
                          <a:latin typeface="Courier New" pitchFamily="34" charset="0"/>
                          <a:ea typeface="Courier New" pitchFamily="34" charset="-122"/>
                          <a:cs typeface="Courier New" pitchFamily="34" charset="-120"/>
                        </a:rPr>
                        <a:t>/clients/{id}</a:t>
                      </a:r>
                      <a:endParaRPr lang="en-US" sz="1100" dirty="0">
                        <a:latin typeface="Courier New" charset="0"/>
                        <a:ea typeface="Courier New" charset="0"/>
                        <a:cs typeface="Courier New" charset="0"/>
                      </a:endParaRPr>
                    </a:p>
                  </a:txBody>
                  <a:tcPr marL="54864" marR="54864" marT="27432" marB="27432"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chemeClr val="bg1"/>
                    </a:solidFill>
                  </a:tcPr>
                </a:tc>
                <a:tc>
                  <a:txBody>
                    <a:bodyPr/>
                    <a:lstStyle/>
                    <a:p>
                      <a:pPr marL="0" indent="0">
                        <a:buNone/>
                      </a:pPr>
                      <a:r>
                        <a:rPr lang="en-US" sz="1200" dirty="0">
                          <a:solidFill>
                            <a:schemeClr val="tx1"/>
                          </a:solidFill>
                        </a:rPr>
                        <a:t>Get a client</a:t>
                      </a:r>
                      <a:endParaRPr lang="en-US" sz="1200" dirty="0"/>
                    </a:p>
                  </a:txBody>
                  <a:tcPr marL="54864" marR="54864" marT="27432" marB="27432"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chemeClr val="bg1"/>
                    </a:solidFill>
                  </a:tcPr>
                </a:tc>
                <a:tc>
                  <a:txBody>
                    <a:bodyPr/>
                    <a:lstStyle/>
                    <a:p>
                      <a:pPr marL="0" indent="0">
                        <a:buNone/>
                      </a:pPr>
                      <a:r>
                        <a:rPr lang="en-US" sz="1200" b="1" dirty="0">
                          <a:solidFill>
                            <a:schemeClr val="accent1"/>
                          </a:solidFill>
                        </a:rPr>
                        <a:t>JWT</a:t>
                      </a:r>
                      <a:endParaRPr lang="en-US" sz="1200" dirty="0"/>
                    </a:p>
                  </a:txBody>
                  <a:tcPr marL="54864" marR="54864" marT="27432" marB="27432"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chemeClr val="bg1"/>
                    </a:solidFill>
                  </a:tcPr>
                </a:tc>
                <a:extLst>
                  <a:ext uri="{0D108BD9-81ED-4DB2-BD59-A6C34878D82A}">
                    <a16:rowId xmlns:a16="http://schemas.microsoft.com/office/drawing/2014/main" val="10010"/>
                  </a:ext>
                </a:extLst>
              </a:tr>
            </a:tbl>
          </a:graphicData>
        </a:graphic>
      </p:graphicFrame>
      <p:sp>
        <p:nvSpPr>
          <p:cNvPr id="7" name="Payments circle"/>
          <p:cNvSpPr/>
          <p:nvPr/>
        </p:nvSpPr>
        <p:spPr>
          <a:xfrm>
            <a:off x="6400800" y="1280160"/>
            <a:ext cx="502920" cy="502920"/>
          </a:xfrm>
          <a:prstGeom prst="ellipse">
            <a:avLst/>
          </a:prstGeom>
          <a:solidFill>
            <a:schemeClr val="accent5"/>
          </a:solidFill>
          <a:ln w="12700">
            <a:solidFill>
              <a:schemeClr val="accent5"/>
            </a:solidFill>
            <a:prstDash val="solid"/>
          </a:ln>
        </p:spPr>
        <p:txBody>
          <a:bodyPr/>
          <a:lstStyle/>
          <a:p>
            <a:endParaRPr lang="es-ES"/>
          </a:p>
        </p:txBody>
      </p:sp>
      <p:pic>
        <p:nvPicPr>
          <p:cNvPr id="8" name="Payments icon" descr="preencoded.png"/>
          <p:cNvPicPr>
            <a:picLocks noChangeAspect="1"/>
          </p:cNvPicPr>
          <p:nvPr/>
        </p:nvPicPr>
        <p:blipFill>
          <a:blip r:embed="rId4"/>
          <a:stretch>
            <a:fillRect/>
          </a:stretch>
        </p:blipFill>
        <p:spPr>
          <a:xfrm>
            <a:off x="6526530" y="1405890"/>
            <a:ext cx="251460" cy="251460"/>
          </a:xfrm>
          <a:prstGeom prst="rect">
            <a:avLst/>
          </a:prstGeom>
        </p:spPr>
      </p:pic>
      <p:sp>
        <p:nvSpPr>
          <p:cNvPr id="9" name="Payments header"/>
          <p:cNvSpPr txBox="1"/>
          <p:nvPr/>
        </p:nvSpPr>
        <p:spPr>
          <a:xfrm>
            <a:off x="7040880" y="1280160"/>
            <a:ext cx="4572000" cy="502920"/>
          </a:xfrm>
          <a:prstGeom prst="rect">
            <a:avLst/>
          </a:prstGeom>
          <a:noFill/>
          <a:ln/>
        </p:spPr>
        <p:txBody>
          <a:bodyPr wrap="square" rtlCol="0" anchor="ctr"/>
          <a:lstStyle/>
          <a:p>
            <a:pPr marL="0" indent="0">
              <a:buNone/>
            </a:pPr>
            <a:r>
              <a:rPr lang="en-US" sz="1700" b="1" dirty="0">
                <a:solidFill>
                  <a:schemeClr val="tx1"/>
                </a:solidFill>
              </a:rPr>
              <a:t>Payments</a:t>
            </a:r>
            <a:r>
              <a:rPr lang="en-US" sz="1200" dirty="0">
                <a:solidFill>
                  <a:schemeClr val="tx2"/>
                </a:solidFill>
              </a:rPr>
              <a:t>   :13006 · /api/payments</a:t>
            </a:r>
            <a:endParaRPr lang="en-US" sz="1700" dirty="0"/>
          </a:p>
        </p:txBody>
      </p:sp>
      <p:graphicFrame>
        <p:nvGraphicFramePr>
          <p:cNvPr id="14" name="Payments endpoints"/>
          <p:cNvGraphicFramePr>
            <a:graphicFrameLocks noGrp="1"/>
          </p:cNvGraphicFramePr>
          <p:nvPr>
            <p:extLst>
              <p:ext uri="{D42A27DB-BD31-4B8C-83A1-F6EECF244321}">
                <p14:modId xmlns:p14="http://schemas.microsoft.com/office/powerpoint/2010/main" val="1579011935"/>
              </p:ext>
            </p:extLst>
          </p:nvPr>
        </p:nvGraphicFramePr>
        <p:xfrm>
          <a:off x="6400800" y="1920240"/>
          <a:ext cx="5212080" cy="1700784"/>
        </p:xfrm>
        <a:graphic>
          <a:graphicData uri="http://schemas.openxmlformats.org/drawingml/2006/table">
            <a:tbl>
              <a:tblPr/>
              <a:tblGrid>
                <a:gridCol w="658368">
                  <a:extLst>
                    <a:ext uri="{9D8B030D-6E8A-4147-A177-3AD203B41FA5}">
                      <a16:colId xmlns:a16="http://schemas.microsoft.com/office/drawing/2014/main" val="20000"/>
                    </a:ext>
                  </a:extLst>
                </a:gridCol>
                <a:gridCol w="2606040">
                  <a:extLst>
                    <a:ext uri="{9D8B030D-6E8A-4147-A177-3AD203B41FA5}">
                      <a16:colId xmlns:a16="http://schemas.microsoft.com/office/drawing/2014/main" val="20001"/>
                    </a:ext>
                  </a:extLst>
                </a:gridCol>
                <a:gridCol w="1307592">
                  <a:extLst>
                    <a:ext uri="{9D8B030D-6E8A-4147-A177-3AD203B41FA5}">
                      <a16:colId xmlns:a16="http://schemas.microsoft.com/office/drawing/2014/main" val="20002"/>
                    </a:ext>
                  </a:extLst>
                </a:gridCol>
                <a:gridCol w="640080">
                  <a:extLst>
                    <a:ext uri="{9D8B030D-6E8A-4147-A177-3AD203B41FA5}">
                      <a16:colId xmlns:a16="http://schemas.microsoft.com/office/drawing/2014/main" val="20003"/>
                    </a:ext>
                  </a:extLst>
                </a:gridCol>
              </a:tblGrid>
              <a:tr h="283464">
                <a:tc>
                  <a:txBody>
                    <a:bodyPr/>
                    <a:lstStyle/>
                    <a:p>
                      <a:pPr marL="0" indent="0">
                        <a:buNone/>
                      </a:pPr>
                      <a:r>
                        <a:rPr lang="en-US" sz="1200" b="1" dirty="0">
                          <a:solidFill>
                            <a:schemeClr val="bg1"/>
                          </a:solidFill>
                        </a:rPr>
                        <a:t>Method</a:t>
                      </a:r>
                      <a:endParaRPr lang="en-US" sz="1200" dirty="0"/>
                    </a:p>
                  </a:txBody>
                  <a:tcPr marL="54864" marR="54864" marT="27432" marB="27432"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chemeClr val="tx1"/>
                    </a:solidFill>
                  </a:tcPr>
                </a:tc>
                <a:tc>
                  <a:txBody>
                    <a:bodyPr/>
                    <a:lstStyle/>
                    <a:p>
                      <a:pPr marL="0" indent="0">
                        <a:buNone/>
                      </a:pPr>
                      <a:r>
                        <a:rPr lang="en-US" sz="1200" b="1" dirty="0">
                          <a:solidFill>
                            <a:schemeClr val="bg1"/>
                          </a:solidFill>
                        </a:rPr>
                        <a:t>Path</a:t>
                      </a:r>
                      <a:endParaRPr lang="en-US" sz="1200" dirty="0"/>
                    </a:p>
                  </a:txBody>
                  <a:tcPr marL="54864" marR="54864" marT="27432" marB="27432"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chemeClr val="tx1"/>
                    </a:solidFill>
                  </a:tcPr>
                </a:tc>
                <a:tc>
                  <a:txBody>
                    <a:bodyPr/>
                    <a:lstStyle/>
                    <a:p>
                      <a:pPr marL="0" indent="0">
                        <a:buNone/>
                      </a:pPr>
                      <a:r>
                        <a:rPr lang="en-US" sz="1200" b="1" dirty="0">
                          <a:solidFill>
                            <a:schemeClr val="bg1"/>
                          </a:solidFill>
                        </a:rPr>
                        <a:t>Purpose</a:t>
                      </a:r>
                      <a:endParaRPr lang="en-US" sz="1200" dirty="0"/>
                    </a:p>
                  </a:txBody>
                  <a:tcPr marL="54864" marR="54864" marT="27432" marB="27432"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chemeClr val="tx1"/>
                    </a:solidFill>
                  </a:tcPr>
                </a:tc>
                <a:tc>
                  <a:txBody>
                    <a:bodyPr/>
                    <a:lstStyle/>
                    <a:p>
                      <a:pPr marL="0" indent="0">
                        <a:buNone/>
                      </a:pPr>
                      <a:r>
                        <a:rPr lang="en-US" sz="1200" b="1" dirty="0">
                          <a:solidFill>
                            <a:schemeClr val="bg1"/>
                          </a:solidFill>
                        </a:rPr>
                        <a:t>Auth</a:t>
                      </a:r>
                      <a:endParaRPr lang="en-US" sz="1200" dirty="0"/>
                    </a:p>
                  </a:txBody>
                  <a:tcPr marL="54864" marR="54864" marT="27432" marB="27432"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chemeClr val="tx1"/>
                    </a:solidFill>
                  </a:tcPr>
                </a:tc>
                <a:extLst>
                  <a:ext uri="{0D108BD9-81ED-4DB2-BD59-A6C34878D82A}">
                    <a16:rowId xmlns:a16="http://schemas.microsoft.com/office/drawing/2014/main" val="10000"/>
                  </a:ext>
                </a:extLst>
              </a:tr>
              <a:tr h="283464">
                <a:tc>
                  <a:txBody>
                    <a:bodyPr/>
                    <a:lstStyle/>
                    <a:p>
                      <a:pPr marL="0" indent="0">
                        <a:buNone/>
                      </a:pPr>
                      <a:r>
                        <a:rPr lang="en-US" sz="1200" b="1" dirty="0">
                          <a:solidFill>
                            <a:schemeClr val="accent1"/>
                          </a:solidFill>
                        </a:rPr>
                        <a:t>POST</a:t>
                      </a:r>
                      <a:endParaRPr lang="en-US" sz="1200" dirty="0"/>
                    </a:p>
                  </a:txBody>
                  <a:tcPr marL="54864" marR="54864" marT="27432" marB="27432"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chemeClr val="bg1"/>
                    </a:solidFill>
                  </a:tcPr>
                </a:tc>
                <a:tc>
                  <a:txBody>
                    <a:bodyPr/>
                    <a:lstStyle/>
                    <a:p>
                      <a:pPr marL="0" indent="0">
                        <a:buNone/>
                      </a:pPr>
                      <a:r>
                        <a:rPr lang="en-US" sz="1100" dirty="0">
                          <a:solidFill>
                            <a:schemeClr val="tx1"/>
                          </a:solidFill>
                          <a:latin typeface="Courier New" pitchFamily="34" charset="0"/>
                          <a:ea typeface="Courier New" pitchFamily="34" charset="-122"/>
                          <a:cs typeface="Courier New" pitchFamily="34" charset="-120"/>
                        </a:rPr>
                        <a:t>/payment/{client_id}/deposit</a:t>
                      </a:r>
                      <a:endParaRPr lang="en-US" sz="1100" dirty="0">
                        <a:latin typeface="Courier New" charset="0"/>
                        <a:ea typeface="Courier New" charset="0"/>
                        <a:cs typeface="Courier New" charset="0"/>
                      </a:endParaRPr>
                    </a:p>
                  </a:txBody>
                  <a:tcPr marL="54864" marR="54864" marT="27432" marB="27432"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chemeClr val="bg1"/>
                    </a:solidFill>
                  </a:tcPr>
                </a:tc>
                <a:tc>
                  <a:txBody>
                    <a:bodyPr/>
                    <a:lstStyle/>
                    <a:p>
                      <a:pPr marL="0" indent="0">
                        <a:buNone/>
                      </a:pPr>
                      <a:r>
                        <a:rPr lang="en-US" sz="1200" dirty="0">
                          <a:solidFill>
                            <a:schemeClr val="tx1"/>
                          </a:solidFill>
                        </a:rPr>
                        <a:t>Add balance</a:t>
                      </a:r>
                      <a:endParaRPr lang="en-US" sz="1200" dirty="0"/>
                    </a:p>
                  </a:txBody>
                  <a:tcPr marL="54864" marR="54864" marT="27432" marB="27432"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chemeClr val="bg1"/>
                    </a:solidFill>
                  </a:tcPr>
                </a:tc>
                <a:tc>
                  <a:txBody>
                    <a:bodyPr/>
                    <a:lstStyle/>
                    <a:p>
                      <a:pPr marL="0" indent="0">
                        <a:buNone/>
                      </a:pPr>
                      <a:r>
                        <a:rPr lang="en-US" sz="1200" b="1" dirty="0">
                          <a:solidFill>
                            <a:schemeClr val="accent1"/>
                          </a:solidFill>
                        </a:rPr>
                        <a:t>JWT</a:t>
                      </a:r>
                      <a:endParaRPr lang="en-US" sz="1200" dirty="0"/>
                    </a:p>
                  </a:txBody>
                  <a:tcPr marL="54864" marR="54864" marT="27432" marB="27432"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chemeClr val="bg1"/>
                    </a:solidFill>
                  </a:tcPr>
                </a:tc>
                <a:extLst>
                  <a:ext uri="{0D108BD9-81ED-4DB2-BD59-A6C34878D82A}">
                    <a16:rowId xmlns:a16="http://schemas.microsoft.com/office/drawing/2014/main" val="10001"/>
                  </a:ext>
                </a:extLst>
              </a:tr>
              <a:tr h="283464">
                <a:tc>
                  <a:txBody>
                    <a:bodyPr/>
                    <a:lstStyle/>
                    <a:p>
                      <a:pPr marL="0" indent="0">
                        <a:buNone/>
                      </a:pPr>
                      <a:r>
                        <a:rPr lang="en-US" sz="1200" b="1" dirty="0">
                          <a:solidFill>
                            <a:schemeClr val="accent1"/>
                          </a:solidFill>
                        </a:rPr>
                        <a:t>POST</a:t>
                      </a:r>
                      <a:endParaRPr lang="en-US" sz="1200" dirty="0"/>
                    </a:p>
                  </a:txBody>
                  <a:tcPr marL="54864" marR="54864" marT="27432" marB="27432"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chemeClr val="bg1"/>
                    </a:solidFill>
                  </a:tcPr>
                </a:tc>
                <a:tc>
                  <a:txBody>
                    <a:bodyPr/>
                    <a:lstStyle/>
                    <a:p>
                      <a:pPr marL="0" indent="0">
                        <a:buNone/>
                      </a:pPr>
                      <a:r>
                        <a:rPr lang="en-US" sz="1100" dirty="0">
                          <a:solidFill>
                            <a:schemeClr val="tx1"/>
                          </a:solidFill>
                          <a:latin typeface="Courier New" pitchFamily="34" charset="0"/>
                          <a:ea typeface="Courier New" pitchFamily="34" charset="-122"/>
                          <a:cs typeface="Courier New" pitchFamily="34" charset="-120"/>
                        </a:rPr>
                        <a:t>/payment/{client_id}/charge</a:t>
                      </a:r>
                      <a:endParaRPr lang="en-US" sz="1100" dirty="0">
                        <a:latin typeface="Courier New" charset="0"/>
                        <a:ea typeface="Courier New" charset="0"/>
                        <a:cs typeface="Courier New" charset="0"/>
                      </a:endParaRPr>
                    </a:p>
                  </a:txBody>
                  <a:tcPr marL="54864" marR="54864" marT="27432" marB="27432"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chemeClr val="bg1"/>
                    </a:solidFill>
                  </a:tcPr>
                </a:tc>
                <a:tc>
                  <a:txBody>
                    <a:bodyPr/>
                    <a:lstStyle/>
                    <a:p>
                      <a:pPr marL="0" indent="0">
                        <a:buNone/>
                      </a:pPr>
                      <a:r>
                        <a:rPr lang="en-US" sz="1200" dirty="0">
                          <a:solidFill>
                            <a:schemeClr val="tx1"/>
                          </a:solidFill>
                        </a:rPr>
                        <a:t>Charge an order</a:t>
                      </a:r>
                      <a:endParaRPr lang="en-US" sz="1200" dirty="0"/>
                    </a:p>
                  </a:txBody>
                  <a:tcPr marL="54864" marR="54864" marT="27432" marB="27432"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chemeClr val="bg1"/>
                    </a:solidFill>
                  </a:tcPr>
                </a:tc>
                <a:tc>
                  <a:txBody>
                    <a:bodyPr/>
                    <a:lstStyle/>
                    <a:p>
                      <a:pPr marL="0" indent="0">
                        <a:buNone/>
                      </a:pPr>
                      <a:r>
                        <a:rPr lang="en-US" sz="1200" b="1" dirty="0">
                          <a:solidFill>
                            <a:schemeClr val="accent1"/>
                          </a:solidFill>
                        </a:rPr>
                        <a:t>JWT</a:t>
                      </a:r>
                      <a:endParaRPr lang="en-US" sz="1200" dirty="0"/>
                    </a:p>
                  </a:txBody>
                  <a:tcPr marL="54864" marR="54864" marT="27432" marB="27432"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chemeClr val="bg1"/>
                    </a:solidFill>
                  </a:tcPr>
                </a:tc>
                <a:extLst>
                  <a:ext uri="{0D108BD9-81ED-4DB2-BD59-A6C34878D82A}">
                    <a16:rowId xmlns:a16="http://schemas.microsoft.com/office/drawing/2014/main" val="10002"/>
                  </a:ext>
                </a:extLst>
              </a:tr>
              <a:tr h="283464">
                <a:tc>
                  <a:txBody>
                    <a:bodyPr/>
                    <a:lstStyle/>
                    <a:p>
                      <a:pPr marL="0" indent="0">
                        <a:buNone/>
                      </a:pPr>
                      <a:r>
                        <a:rPr lang="en-US" sz="1200" b="1" dirty="0">
                          <a:solidFill>
                            <a:schemeClr val="accent2"/>
                          </a:solidFill>
                        </a:rPr>
                        <a:t>GET</a:t>
                      </a:r>
                      <a:endParaRPr lang="en-US" sz="1200" dirty="0"/>
                    </a:p>
                  </a:txBody>
                  <a:tcPr marL="54864" marR="54864" marT="27432" marB="27432"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chemeClr val="bg1"/>
                    </a:solidFill>
                  </a:tcPr>
                </a:tc>
                <a:tc>
                  <a:txBody>
                    <a:bodyPr/>
                    <a:lstStyle/>
                    <a:p>
                      <a:pPr marL="0" indent="0">
                        <a:buNone/>
                      </a:pPr>
                      <a:r>
                        <a:rPr lang="en-US" sz="1100" dirty="0">
                          <a:solidFill>
                            <a:schemeClr val="tx1"/>
                          </a:solidFill>
                          <a:latin typeface="Courier New" pitchFamily="34" charset="0"/>
                          <a:ea typeface="Courier New" pitchFamily="34" charset="-122"/>
                          <a:cs typeface="Courier New" pitchFamily="34" charset="-120"/>
                        </a:rPr>
                        <a:t>/payment/{client_id}/balance</a:t>
                      </a:r>
                      <a:endParaRPr lang="en-US" sz="1100" dirty="0">
                        <a:latin typeface="Courier New" charset="0"/>
                        <a:ea typeface="Courier New" charset="0"/>
                        <a:cs typeface="Courier New" charset="0"/>
                      </a:endParaRPr>
                    </a:p>
                  </a:txBody>
                  <a:tcPr marL="54864" marR="54864" marT="27432" marB="27432"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chemeClr val="bg1"/>
                    </a:solidFill>
                  </a:tcPr>
                </a:tc>
                <a:tc>
                  <a:txBody>
                    <a:bodyPr/>
                    <a:lstStyle/>
                    <a:p>
                      <a:pPr marL="0" indent="0">
                        <a:buNone/>
                      </a:pPr>
                      <a:r>
                        <a:rPr lang="en-US" sz="1200" dirty="0">
                          <a:solidFill>
                            <a:schemeClr val="tx1"/>
                          </a:solidFill>
                        </a:rPr>
                        <a:t>Check balance</a:t>
                      </a:r>
                      <a:endParaRPr lang="en-US" sz="1200" dirty="0"/>
                    </a:p>
                  </a:txBody>
                  <a:tcPr marL="54864" marR="54864" marT="27432" marB="27432"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chemeClr val="bg1"/>
                    </a:solidFill>
                  </a:tcPr>
                </a:tc>
                <a:tc>
                  <a:txBody>
                    <a:bodyPr/>
                    <a:lstStyle/>
                    <a:p>
                      <a:pPr marL="0" indent="0">
                        <a:buNone/>
                      </a:pPr>
                      <a:r>
                        <a:rPr lang="en-US" sz="1200" b="1" dirty="0">
                          <a:solidFill>
                            <a:schemeClr val="accent1"/>
                          </a:solidFill>
                        </a:rPr>
                        <a:t>JWT</a:t>
                      </a:r>
                      <a:endParaRPr lang="en-US" sz="1200" dirty="0"/>
                    </a:p>
                  </a:txBody>
                  <a:tcPr marL="54864" marR="54864" marT="27432" marB="27432"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chemeClr val="bg1"/>
                    </a:solidFill>
                  </a:tcPr>
                </a:tc>
                <a:extLst>
                  <a:ext uri="{0D108BD9-81ED-4DB2-BD59-A6C34878D82A}">
                    <a16:rowId xmlns:a16="http://schemas.microsoft.com/office/drawing/2014/main" val="10003"/>
                  </a:ext>
                </a:extLst>
              </a:tr>
              <a:tr h="283464">
                <a:tc>
                  <a:txBody>
                    <a:bodyPr/>
                    <a:lstStyle/>
                    <a:p>
                      <a:pPr marL="0" indent="0">
                        <a:buNone/>
                      </a:pPr>
                      <a:r>
                        <a:rPr lang="en-US" sz="1200" b="1" dirty="0">
                          <a:solidFill>
                            <a:schemeClr val="accent2"/>
                          </a:solidFill>
                        </a:rPr>
                        <a:t>GET</a:t>
                      </a:r>
                      <a:endParaRPr lang="en-US" sz="1200" dirty="0"/>
                    </a:p>
                  </a:txBody>
                  <a:tcPr marL="54864" marR="54864" marT="27432" marB="27432"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chemeClr val="bg1"/>
                    </a:solidFill>
                  </a:tcPr>
                </a:tc>
                <a:tc>
                  <a:txBody>
                    <a:bodyPr/>
                    <a:lstStyle/>
                    <a:p>
                      <a:pPr marL="0" indent="0">
                        <a:buNone/>
                      </a:pPr>
                      <a:r>
                        <a:rPr lang="en-US" sz="1100" dirty="0">
                          <a:solidFill>
                            <a:schemeClr val="tx1"/>
                          </a:solidFill>
                          <a:latin typeface="Courier New" pitchFamily="34" charset="0"/>
                          <a:ea typeface="Courier New" pitchFamily="34" charset="-122"/>
                          <a:cs typeface="Courier New" pitchFamily="34" charset="-120"/>
                        </a:rPr>
                        <a:t>/</a:t>
                      </a:r>
                      <a:endParaRPr lang="en-US" sz="1100" dirty="0">
                        <a:latin typeface="Courier New" charset="0"/>
                        <a:ea typeface="Courier New" charset="0"/>
                        <a:cs typeface="Courier New" charset="0"/>
                      </a:endParaRPr>
                    </a:p>
                  </a:txBody>
                  <a:tcPr marL="54864" marR="54864" marT="27432" marB="27432"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chemeClr val="bg1"/>
                    </a:solidFill>
                  </a:tcPr>
                </a:tc>
                <a:tc>
                  <a:txBody>
                    <a:bodyPr/>
                    <a:lstStyle/>
                    <a:p>
                      <a:pPr marL="0" indent="0">
                        <a:buNone/>
                      </a:pPr>
                      <a:r>
                        <a:rPr lang="en-US" sz="1200" dirty="0">
                          <a:solidFill>
                            <a:schemeClr val="tx1"/>
                          </a:solidFill>
                        </a:rPr>
                        <a:t>Service check</a:t>
                      </a:r>
                      <a:endParaRPr lang="en-US" sz="1200" dirty="0"/>
                    </a:p>
                  </a:txBody>
                  <a:tcPr marL="54864" marR="54864" marT="27432" marB="27432"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chemeClr val="bg1"/>
                    </a:solidFill>
                  </a:tcPr>
                </a:tc>
                <a:tc>
                  <a:txBody>
                    <a:bodyPr/>
                    <a:lstStyle/>
                    <a:p>
                      <a:pPr marL="0" indent="0">
                        <a:buNone/>
                      </a:pPr>
                      <a:r>
                        <a:rPr lang="en-US" sz="1200" dirty="0">
                          <a:solidFill>
                            <a:schemeClr val="accent4"/>
                          </a:solidFill>
                        </a:rPr>
                        <a:t>—</a:t>
                      </a:r>
                      <a:endParaRPr lang="en-US" sz="1200" dirty="0"/>
                    </a:p>
                  </a:txBody>
                  <a:tcPr marL="54864" marR="54864" marT="27432" marB="27432"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chemeClr val="bg1"/>
                    </a:solidFill>
                  </a:tcPr>
                </a:tc>
                <a:extLst>
                  <a:ext uri="{0D108BD9-81ED-4DB2-BD59-A6C34878D82A}">
                    <a16:rowId xmlns:a16="http://schemas.microsoft.com/office/drawing/2014/main" val="10004"/>
                  </a:ext>
                </a:extLst>
              </a:tr>
              <a:tr h="283464">
                <a:tc>
                  <a:txBody>
                    <a:bodyPr/>
                    <a:lstStyle/>
                    <a:p>
                      <a:pPr marL="0" indent="0">
                        <a:buNone/>
                      </a:pPr>
                      <a:r>
                        <a:rPr lang="en-US" sz="1200" b="1" dirty="0">
                          <a:solidFill>
                            <a:schemeClr val="accent2"/>
                          </a:solidFill>
                        </a:rPr>
                        <a:t>GET</a:t>
                      </a:r>
                      <a:endParaRPr lang="en-US" sz="1200" dirty="0"/>
                    </a:p>
                  </a:txBody>
                  <a:tcPr marL="54864" marR="54864" marT="27432" marB="27432"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chemeClr val="bg1"/>
                    </a:solidFill>
                  </a:tcPr>
                </a:tc>
                <a:tc>
                  <a:txBody>
                    <a:bodyPr/>
                    <a:lstStyle/>
                    <a:p>
                      <a:pPr marL="0" indent="0">
                        <a:buNone/>
                      </a:pPr>
                      <a:r>
                        <a:rPr lang="en-US" sz="1100" dirty="0">
                          <a:solidFill>
                            <a:schemeClr val="tx1"/>
                          </a:solidFill>
                          <a:latin typeface="Courier New" pitchFamily="34" charset="0"/>
                          <a:ea typeface="Courier New" pitchFamily="34" charset="-122"/>
                          <a:cs typeface="Courier New" pitchFamily="34" charset="-120"/>
                        </a:rPr>
                        <a:t>/health</a:t>
                      </a:r>
                      <a:endParaRPr lang="en-US" sz="1100" dirty="0">
                        <a:latin typeface="Courier New" charset="0"/>
                        <a:ea typeface="Courier New" charset="0"/>
                        <a:cs typeface="Courier New" charset="0"/>
                      </a:endParaRPr>
                    </a:p>
                  </a:txBody>
                  <a:tcPr marL="54864" marR="54864" marT="27432" marB="27432"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chemeClr val="bg1"/>
                    </a:solidFill>
                  </a:tcPr>
                </a:tc>
                <a:tc>
                  <a:txBody>
                    <a:bodyPr/>
                    <a:lstStyle/>
                    <a:p>
                      <a:pPr marL="0" indent="0">
                        <a:buNone/>
                      </a:pPr>
                      <a:r>
                        <a:rPr lang="en-US" sz="1200" dirty="0">
                          <a:solidFill>
                            <a:schemeClr val="tx1"/>
                          </a:solidFill>
                        </a:rPr>
                        <a:t>Health (chassis)</a:t>
                      </a:r>
                      <a:endParaRPr lang="en-US" sz="1200" dirty="0"/>
                    </a:p>
                  </a:txBody>
                  <a:tcPr marL="54864" marR="54864" marT="27432" marB="27432"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chemeClr val="bg1"/>
                    </a:solidFill>
                  </a:tcPr>
                </a:tc>
                <a:tc>
                  <a:txBody>
                    <a:bodyPr/>
                    <a:lstStyle/>
                    <a:p>
                      <a:pPr marL="0" indent="0">
                        <a:buNone/>
                      </a:pPr>
                      <a:r>
                        <a:rPr lang="en-US" sz="1200" dirty="0">
                          <a:solidFill>
                            <a:schemeClr val="accent4"/>
                          </a:solidFill>
                        </a:rPr>
                        <a:t>—</a:t>
                      </a:r>
                      <a:endParaRPr lang="en-US" sz="1200" dirty="0"/>
                    </a:p>
                  </a:txBody>
                  <a:tcPr marL="54864" marR="54864" marT="27432" marB="27432"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chemeClr val="bg1"/>
                    </a:solidFill>
                  </a:tcPr>
                </a:tc>
                <a:extLst>
                  <a:ext uri="{0D108BD9-81ED-4DB2-BD59-A6C34878D82A}">
                    <a16:rowId xmlns:a16="http://schemas.microsoft.com/office/drawing/2014/main" val="10005"/>
                  </a:ext>
                </a:extLst>
              </a:tr>
            </a:tbl>
          </a:graphicData>
        </a:graphic>
      </p:graphicFrame>
      <p:sp>
        <p:nvSpPr>
          <p:cNvPr id="11" name="Machine circle"/>
          <p:cNvSpPr/>
          <p:nvPr/>
        </p:nvSpPr>
        <p:spPr>
          <a:xfrm>
            <a:off x="6400800" y="3886200"/>
            <a:ext cx="502920" cy="502920"/>
          </a:xfrm>
          <a:prstGeom prst="ellipse">
            <a:avLst/>
          </a:prstGeom>
          <a:solidFill>
            <a:schemeClr val="accent5"/>
          </a:solidFill>
          <a:ln w="12700">
            <a:solidFill>
              <a:schemeClr val="accent5"/>
            </a:solidFill>
            <a:prstDash val="solid"/>
          </a:ln>
        </p:spPr>
        <p:txBody>
          <a:bodyPr/>
          <a:lstStyle/>
          <a:p>
            <a:endParaRPr lang="es-ES"/>
          </a:p>
        </p:txBody>
      </p:sp>
      <p:pic>
        <p:nvPicPr>
          <p:cNvPr id="12" name="Machine icon" descr="preencoded.png"/>
          <p:cNvPicPr>
            <a:picLocks noChangeAspect="1"/>
          </p:cNvPicPr>
          <p:nvPr/>
        </p:nvPicPr>
        <p:blipFill>
          <a:blip r:embed="rId5"/>
          <a:stretch>
            <a:fillRect/>
          </a:stretch>
        </p:blipFill>
        <p:spPr>
          <a:xfrm>
            <a:off x="6526530" y="4011930"/>
            <a:ext cx="251460" cy="251460"/>
          </a:xfrm>
          <a:prstGeom prst="rect">
            <a:avLst/>
          </a:prstGeom>
        </p:spPr>
      </p:pic>
      <p:sp>
        <p:nvSpPr>
          <p:cNvPr id="13" name="Machine header"/>
          <p:cNvSpPr txBox="1"/>
          <p:nvPr/>
        </p:nvSpPr>
        <p:spPr>
          <a:xfrm>
            <a:off x="7040880" y="3886200"/>
            <a:ext cx="4572000" cy="502920"/>
          </a:xfrm>
          <a:prstGeom prst="rect">
            <a:avLst/>
          </a:prstGeom>
          <a:noFill/>
          <a:ln/>
        </p:spPr>
        <p:txBody>
          <a:bodyPr wrap="square" rtlCol="0" anchor="ctr"/>
          <a:lstStyle/>
          <a:p>
            <a:pPr marL="0" indent="0">
              <a:buNone/>
            </a:pPr>
            <a:r>
              <a:rPr lang="en-US" sz="1700" b="1" dirty="0">
                <a:solidFill>
                  <a:schemeClr val="tx1"/>
                </a:solidFill>
              </a:rPr>
              <a:t>Machine</a:t>
            </a:r>
            <a:r>
              <a:rPr lang="en-US" sz="1200" dirty="0">
                <a:solidFill>
                  <a:schemeClr val="tx2"/>
                </a:solidFill>
              </a:rPr>
              <a:t>   :13002 · /api/machine</a:t>
            </a:r>
            <a:endParaRPr lang="en-US" sz="1700" dirty="0"/>
          </a:p>
        </p:txBody>
      </p:sp>
      <p:graphicFrame>
        <p:nvGraphicFramePr>
          <p:cNvPr id="10" name="Machine endpoints"/>
          <p:cNvGraphicFramePr>
            <a:graphicFrameLocks noGrp="1"/>
          </p:cNvGraphicFramePr>
          <p:nvPr>
            <p:extLst>
              <p:ext uri="{D42A27DB-BD31-4B8C-83A1-F6EECF244321}">
                <p14:modId xmlns:p14="http://schemas.microsoft.com/office/powerpoint/2010/main" val="1579011935"/>
              </p:ext>
            </p:extLst>
          </p:nvPr>
        </p:nvGraphicFramePr>
        <p:xfrm>
          <a:off x="6400800" y="4526280"/>
          <a:ext cx="5212080" cy="1133856"/>
        </p:xfrm>
        <a:graphic>
          <a:graphicData uri="http://schemas.openxmlformats.org/drawingml/2006/table">
            <a:tbl>
              <a:tblPr/>
              <a:tblGrid>
                <a:gridCol w="777240">
                  <a:extLst>
                    <a:ext uri="{9D8B030D-6E8A-4147-A177-3AD203B41FA5}">
                      <a16:colId xmlns:a16="http://schemas.microsoft.com/office/drawing/2014/main" val="20000"/>
                    </a:ext>
                  </a:extLst>
                </a:gridCol>
                <a:gridCol w="2468880">
                  <a:extLst>
                    <a:ext uri="{9D8B030D-6E8A-4147-A177-3AD203B41FA5}">
                      <a16:colId xmlns:a16="http://schemas.microsoft.com/office/drawing/2014/main" val="20001"/>
                    </a:ext>
                  </a:extLst>
                </a:gridCol>
                <a:gridCol w="1325880">
                  <a:extLst>
                    <a:ext uri="{9D8B030D-6E8A-4147-A177-3AD203B41FA5}">
                      <a16:colId xmlns:a16="http://schemas.microsoft.com/office/drawing/2014/main" val="20002"/>
                    </a:ext>
                  </a:extLst>
                </a:gridCol>
                <a:gridCol w="640080">
                  <a:extLst>
                    <a:ext uri="{9D8B030D-6E8A-4147-A177-3AD203B41FA5}">
                      <a16:colId xmlns:a16="http://schemas.microsoft.com/office/drawing/2014/main" val="20003"/>
                    </a:ext>
                  </a:extLst>
                </a:gridCol>
              </a:tblGrid>
              <a:tr h="283464">
                <a:tc>
                  <a:txBody>
                    <a:bodyPr/>
                    <a:lstStyle/>
                    <a:p>
                      <a:pPr marL="0" indent="0">
                        <a:buNone/>
                      </a:pPr>
                      <a:r>
                        <a:rPr lang="en-US" sz="1200" b="1" dirty="0">
                          <a:solidFill>
                            <a:schemeClr val="bg1"/>
                          </a:solidFill>
                        </a:rPr>
                        <a:t>Method</a:t>
                      </a:r>
                      <a:endParaRPr lang="en-US" sz="1200" dirty="0"/>
                    </a:p>
                  </a:txBody>
                  <a:tcPr marL="54864" marR="54864" marT="27432" marB="27432"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chemeClr val="tx1"/>
                    </a:solidFill>
                  </a:tcPr>
                </a:tc>
                <a:tc>
                  <a:txBody>
                    <a:bodyPr/>
                    <a:lstStyle/>
                    <a:p>
                      <a:pPr marL="0" indent="0">
                        <a:buNone/>
                      </a:pPr>
                      <a:r>
                        <a:rPr lang="en-US" sz="1200" b="1" dirty="0">
                          <a:solidFill>
                            <a:schemeClr val="bg1"/>
                          </a:solidFill>
                        </a:rPr>
                        <a:t>Path</a:t>
                      </a:r>
                      <a:endParaRPr lang="en-US" sz="1200" dirty="0"/>
                    </a:p>
                  </a:txBody>
                  <a:tcPr marL="54864" marR="54864" marT="27432" marB="27432"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chemeClr val="tx1"/>
                    </a:solidFill>
                  </a:tcPr>
                </a:tc>
                <a:tc>
                  <a:txBody>
                    <a:bodyPr/>
                    <a:lstStyle/>
                    <a:p>
                      <a:pPr marL="0" indent="0">
                        <a:buNone/>
                      </a:pPr>
                      <a:r>
                        <a:rPr lang="en-US" sz="1200" b="1" dirty="0">
                          <a:solidFill>
                            <a:schemeClr val="bg1"/>
                          </a:solidFill>
                        </a:rPr>
                        <a:t>Purpose</a:t>
                      </a:r>
                      <a:endParaRPr lang="en-US" sz="1200" dirty="0"/>
                    </a:p>
                  </a:txBody>
                  <a:tcPr marL="54864" marR="54864" marT="27432" marB="27432"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chemeClr val="tx1"/>
                    </a:solidFill>
                  </a:tcPr>
                </a:tc>
                <a:tc>
                  <a:txBody>
                    <a:bodyPr/>
                    <a:lstStyle/>
                    <a:p>
                      <a:pPr marL="0" indent="0">
                        <a:buNone/>
                      </a:pPr>
                      <a:r>
                        <a:rPr lang="en-US" sz="1200" b="1" dirty="0">
                          <a:solidFill>
                            <a:schemeClr val="bg1"/>
                          </a:solidFill>
                        </a:rPr>
                        <a:t>Auth</a:t>
                      </a:r>
                      <a:endParaRPr lang="en-US" sz="1200" dirty="0"/>
                    </a:p>
                  </a:txBody>
                  <a:tcPr marL="54864" marR="54864" marT="27432" marB="27432"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chemeClr val="tx1"/>
                    </a:solidFill>
                  </a:tcPr>
                </a:tc>
                <a:extLst>
                  <a:ext uri="{0D108BD9-81ED-4DB2-BD59-A6C34878D82A}">
                    <a16:rowId xmlns:a16="http://schemas.microsoft.com/office/drawing/2014/main" val="10000"/>
                  </a:ext>
                </a:extLst>
              </a:tr>
              <a:tr h="283464">
                <a:tc>
                  <a:txBody>
                    <a:bodyPr/>
                    <a:lstStyle/>
                    <a:p>
                      <a:pPr marL="0" indent="0">
                        <a:buNone/>
                      </a:pPr>
                      <a:r>
                        <a:rPr lang="en-US" sz="1200" b="1" dirty="0">
                          <a:solidFill>
                            <a:schemeClr val="accent2"/>
                          </a:solidFill>
                        </a:rPr>
                        <a:t>GET</a:t>
                      </a:r>
                      <a:endParaRPr lang="en-US" sz="1200" dirty="0"/>
                    </a:p>
                  </a:txBody>
                  <a:tcPr marL="54864" marR="54864" marT="27432" marB="27432"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chemeClr val="bg1"/>
                    </a:solidFill>
                  </a:tcPr>
                </a:tc>
                <a:tc>
                  <a:txBody>
                    <a:bodyPr/>
                    <a:lstStyle/>
                    <a:p>
                      <a:pPr marL="0" indent="0">
                        <a:buNone/>
                      </a:pPr>
                      <a:r>
                        <a:rPr lang="en-US" sz="1100" dirty="0">
                          <a:solidFill>
                            <a:schemeClr val="tx1"/>
                          </a:solidFill>
                          <a:latin typeface="Courier New" pitchFamily="34" charset="0"/>
                          <a:ea typeface="Courier New" pitchFamily="34" charset="-122"/>
                          <a:cs typeface="Courier New" pitchFamily="34" charset="-120"/>
                        </a:rPr>
                        <a:t>/machine/status</a:t>
                      </a:r>
                      <a:endParaRPr lang="en-US" sz="1100" dirty="0">
                        <a:latin typeface="Courier New" charset="0"/>
                        <a:ea typeface="Courier New" charset="0"/>
                        <a:cs typeface="Courier New" charset="0"/>
                      </a:endParaRPr>
                    </a:p>
                  </a:txBody>
                  <a:tcPr marL="54864" marR="54864" marT="27432" marB="27432"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chemeClr val="bg1"/>
                    </a:solidFill>
                  </a:tcPr>
                </a:tc>
                <a:tc>
                  <a:txBody>
                    <a:bodyPr/>
                    <a:lstStyle/>
                    <a:p>
                      <a:pPr marL="0" indent="0">
                        <a:buNone/>
                      </a:pPr>
                      <a:r>
                        <a:rPr lang="en-US" sz="1200" dirty="0">
                          <a:solidFill>
                            <a:schemeClr val="tx1"/>
                          </a:solidFill>
                        </a:rPr>
                        <a:t>Status and queue</a:t>
                      </a:r>
                      <a:endParaRPr lang="en-US" sz="1200" dirty="0"/>
                    </a:p>
                  </a:txBody>
                  <a:tcPr marL="54864" marR="54864" marT="27432" marB="27432"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chemeClr val="bg1"/>
                    </a:solidFill>
                  </a:tcPr>
                </a:tc>
                <a:tc>
                  <a:txBody>
                    <a:bodyPr/>
                    <a:lstStyle/>
                    <a:p>
                      <a:pPr marL="0" indent="0">
                        <a:buNone/>
                      </a:pPr>
                      <a:r>
                        <a:rPr lang="en-US" sz="1200" b="1" dirty="0">
                          <a:solidFill>
                            <a:schemeClr val="accent1"/>
                          </a:solidFill>
                        </a:rPr>
                        <a:t>JWT</a:t>
                      </a:r>
                      <a:endParaRPr lang="en-US" sz="1200" dirty="0"/>
                    </a:p>
                  </a:txBody>
                  <a:tcPr marL="54864" marR="54864" marT="27432" marB="27432"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chemeClr val="bg1"/>
                    </a:solidFill>
                  </a:tcPr>
                </a:tc>
                <a:extLst>
                  <a:ext uri="{0D108BD9-81ED-4DB2-BD59-A6C34878D82A}">
                    <a16:rowId xmlns:a16="http://schemas.microsoft.com/office/drawing/2014/main" val="10001"/>
                  </a:ext>
                </a:extLst>
              </a:tr>
              <a:tr h="283464">
                <a:tc>
                  <a:txBody>
                    <a:bodyPr/>
                    <a:lstStyle/>
                    <a:p>
                      <a:pPr marL="0" indent="0">
                        <a:buNone/>
                      </a:pPr>
                      <a:r>
                        <a:rPr lang="en-US" sz="1200" b="1" dirty="0">
                          <a:solidFill>
                            <a:schemeClr val="accent1"/>
                          </a:solidFill>
                        </a:rPr>
                        <a:t>POST</a:t>
                      </a:r>
                      <a:endParaRPr lang="en-US" sz="1200" dirty="0"/>
                    </a:p>
                  </a:txBody>
                  <a:tcPr marL="54864" marR="54864" marT="27432" marB="27432"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chemeClr val="bg1"/>
                    </a:solidFill>
                  </a:tcPr>
                </a:tc>
                <a:tc>
                  <a:txBody>
                    <a:bodyPr/>
                    <a:lstStyle/>
                    <a:p>
                      <a:pPr marL="0" indent="0">
                        <a:buNone/>
                      </a:pPr>
                      <a:r>
                        <a:rPr lang="en-US" sz="1100" dirty="0">
                          <a:solidFill>
                            <a:schemeClr val="tx1"/>
                          </a:solidFill>
                          <a:latin typeface="Courier New" pitchFamily="34" charset="0"/>
                          <a:ea typeface="Courier New" pitchFamily="34" charset="-122"/>
                          <a:cs typeface="Courier New" pitchFamily="34" charset="-120"/>
                        </a:rPr>
                        <a:t>/machine/queue</a:t>
                      </a:r>
                      <a:endParaRPr lang="en-US" sz="1100" dirty="0">
                        <a:latin typeface="Courier New" charset="0"/>
                        <a:ea typeface="Courier New" charset="0"/>
                        <a:cs typeface="Courier New" charset="0"/>
                      </a:endParaRPr>
                    </a:p>
                  </a:txBody>
                  <a:tcPr marL="54864" marR="54864" marT="27432" marB="27432"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chemeClr val="bg1"/>
                    </a:solidFill>
                  </a:tcPr>
                </a:tc>
                <a:tc>
                  <a:txBody>
                    <a:bodyPr/>
                    <a:lstStyle/>
                    <a:p>
                      <a:pPr marL="0" indent="0">
                        <a:buNone/>
                      </a:pPr>
                      <a:r>
                        <a:rPr lang="en-US" sz="1200" dirty="0">
                          <a:solidFill>
                            <a:schemeClr val="tx1"/>
                          </a:solidFill>
                        </a:rPr>
                        <a:t>Enqueue by hand</a:t>
                      </a:r>
                      <a:endParaRPr lang="en-US" sz="1200" dirty="0"/>
                    </a:p>
                  </a:txBody>
                  <a:tcPr marL="54864" marR="54864" marT="27432" marB="27432"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chemeClr val="bg1"/>
                    </a:solidFill>
                  </a:tcPr>
                </a:tc>
                <a:tc>
                  <a:txBody>
                    <a:bodyPr/>
                    <a:lstStyle/>
                    <a:p>
                      <a:pPr marL="0" indent="0">
                        <a:buNone/>
                      </a:pPr>
                      <a:r>
                        <a:rPr lang="en-US" sz="1200" b="1" dirty="0">
                          <a:solidFill>
                            <a:schemeClr val="accent1"/>
                          </a:solidFill>
                        </a:rPr>
                        <a:t>JWT</a:t>
                      </a:r>
                      <a:endParaRPr lang="en-US" sz="1200" dirty="0"/>
                    </a:p>
                  </a:txBody>
                  <a:tcPr marL="54864" marR="54864" marT="27432" marB="27432"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chemeClr val="bg1"/>
                    </a:solidFill>
                  </a:tcPr>
                </a:tc>
                <a:extLst>
                  <a:ext uri="{0D108BD9-81ED-4DB2-BD59-A6C34878D82A}">
                    <a16:rowId xmlns:a16="http://schemas.microsoft.com/office/drawing/2014/main" val="10002"/>
                  </a:ext>
                </a:extLst>
              </a:tr>
              <a:tr h="283464">
                <a:tc>
                  <a:txBody>
                    <a:bodyPr/>
                    <a:lstStyle/>
                    <a:p>
                      <a:pPr marL="0" indent="0">
                        <a:buNone/>
                      </a:pPr>
                      <a:r>
                        <a:rPr lang="en-US" sz="1200" b="1" dirty="0">
                          <a:solidFill>
                            <a:schemeClr val="accent6"/>
                          </a:solidFill>
                        </a:rPr>
                        <a:t>DELETE</a:t>
                      </a:r>
                      <a:endParaRPr lang="en-US" sz="1200" dirty="0"/>
                    </a:p>
                  </a:txBody>
                  <a:tcPr marL="54864" marR="54864" marT="27432" marB="27432"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chemeClr val="bg1"/>
                    </a:solidFill>
                  </a:tcPr>
                </a:tc>
                <a:tc>
                  <a:txBody>
                    <a:bodyPr/>
                    <a:lstStyle/>
                    <a:p>
                      <a:pPr marL="0" indent="0">
                        <a:buNone/>
                      </a:pPr>
                      <a:r>
                        <a:rPr lang="en-US" sz="1100" dirty="0">
                          <a:solidFill>
                            <a:schemeClr val="tx1"/>
                          </a:solidFill>
                          <a:latin typeface="Courier New" pitchFamily="34" charset="0"/>
                          <a:ea typeface="Courier New" pitchFamily="34" charset="-122"/>
                          <a:cs typeface="Courier New" pitchFamily="34" charset="-120"/>
                        </a:rPr>
                        <a:t>/machine/queue/{piece_id}</a:t>
                      </a:r>
                      <a:endParaRPr lang="en-US" sz="1100" dirty="0">
                        <a:latin typeface="Courier New" charset="0"/>
                        <a:ea typeface="Courier New" charset="0"/>
                        <a:cs typeface="Courier New" charset="0"/>
                      </a:endParaRPr>
                    </a:p>
                  </a:txBody>
                  <a:tcPr marL="54864" marR="54864" marT="27432" marB="27432"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chemeClr val="bg1"/>
                    </a:solidFill>
                  </a:tcPr>
                </a:tc>
                <a:tc>
                  <a:txBody>
                    <a:bodyPr/>
                    <a:lstStyle/>
                    <a:p>
                      <a:pPr marL="0" indent="0">
                        <a:buNone/>
                      </a:pPr>
                      <a:r>
                        <a:rPr lang="en-US" sz="1200" dirty="0">
                          <a:solidFill>
                            <a:schemeClr val="tx1"/>
                          </a:solidFill>
                        </a:rPr>
                        <a:t>Remove a piece</a:t>
                      </a:r>
                      <a:endParaRPr lang="en-US" sz="1200" dirty="0"/>
                    </a:p>
                  </a:txBody>
                  <a:tcPr marL="54864" marR="54864" marT="27432" marB="27432"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chemeClr val="bg1"/>
                    </a:solidFill>
                  </a:tcPr>
                </a:tc>
                <a:tc>
                  <a:txBody>
                    <a:bodyPr/>
                    <a:lstStyle/>
                    <a:p>
                      <a:pPr marL="0" indent="0">
                        <a:buNone/>
                      </a:pPr>
                      <a:r>
                        <a:rPr lang="en-US" sz="1200" b="1" dirty="0">
                          <a:solidFill>
                            <a:schemeClr val="accent1"/>
                          </a:solidFill>
                        </a:rPr>
                        <a:t>JWT</a:t>
                      </a:r>
                      <a:endParaRPr lang="en-US" sz="1200" dirty="0"/>
                    </a:p>
                  </a:txBody>
                  <a:tcPr marL="54864" marR="54864" marT="27432" marB="27432"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chemeClr val="bg1"/>
                    </a:solidFill>
                  </a:tcPr>
                </a:tc>
                <a:extLst>
                  <a:ext uri="{0D108BD9-81ED-4DB2-BD59-A6C34878D82A}">
                    <a16:rowId xmlns:a16="http://schemas.microsoft.com/office/drawing/2014/main" val="10003"/>
                  </a:ext>
                </a:extLst>
              </a:tr>
            </a:tbl>
          </a:graphicData>
        </a:graphic>
      </p:graphicFrame>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4"/>
                </a:solidFill>
              </a:defRPr>
            </a:lvl1pPr>
          </a:lstStyle>
          <a:p>
            <a:pPr algn="r"/>
            <a:fld id="{F7021451-1387-4CA6-816F-3879F97B5CBC}" type="slidenum">
              <a:rPr lang="en-US" b="0"/>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11064240" cy="822960"/>
          </a:xfrm>
          <a:prstGeom prst="rect">
            <a:avLst/>
          </a:prstGeom>
          <a:noFill/>
          <a:ln/>
        </p:spPr>
        <p:txBody>
          <a:bodyPr wrap="square" rtlCol="0" anchor="ctr"/>
          <a:lstStyle/>
          <a:p>
            <a:pPr marL="0" indent="0" algn="l">
              <a:buNone/>
            </a:pPr>
            <a:r>
              <a:rPr lang="en-US" sz="3000" b="1" dirty="0">
                <a:solidFill>
                  <a:schemeClr val="tx1"/>
                </a:solidFill>
              </a:rPr>
              <a:t>Endpoints: Orders and Deliveries</a:t>
            </a:r>
            <a:endParaRPr lang="en-US" sz="3000" dirty="0"/>
          </a:p>
        </p:txBody>
      </p:sp>
      <p:sp>
        <p:nvSpPr>
          <p:cNvPr id="3" name="Orders circle"/>
          <p:cNvSpPr/>
          <p:nvPr/>
        </p:nvSpPr>
        <p:spPr>
          <a:xfrm>
            <a:off x="548640" y="1280160"/>
            <a:ext cx="502920" cy="502920"/>
          </a:xfrm>
          <a:prstGeom prst="ellipse">
            <a:avLst/>
          </a:prstGeom>
          <a:solidFill>
            <a:schemeClr val="accent5"/>
          </a:solidFill>
          <a:ln w="12700">
            <a:solidFill>
              <a:schemeClr val="accent5"/>
            </a:solidFill>
            <a:prstDash val="solid"/>
          </a:ln>
        </p:spPr>
        <p:txBody>
          <a:bodyPr/>
          <a:lstStyle/>
          <a:p>
            <a:endParaRPr lang="es-ES"/>
          </a:p>
        </p:txBody>
      </p:sp>
      <p:pic>
        <p:nvPicPr>
          <p:cNvPr id="4" name="Orders icon" descr="preencoded.png"/>
          <p:cNvPicPr>
            <a:picLocks noChangeAspect="1"/>
          </p:cNvPicPr>
          <p:nvPr/>
        </p:nvPicPr>
        <p:blipFill>
          <a:blip r:embed="rId3"/>
          <a:stretch>
            <a:fillRect/>
          </a:stretch>
        </p:blipFill>
        <p:spPr>
          <a:xfrm>
            <a:off x="674370" y="1405890"/>
            <a:ext cx="251460" cy="251460"/>
          </a:xfrm>
          <a:prstGeom prst="rect">
            <a:avLst/>
          </a:prstGeom>
        </p:spPr>
      </p:pic>
      <p:sp>
        <p:nvSpPr>
          <p:cNvPr id="5" name="Orders header"/>
          <p:cNvSpPr txBox="1"/>
          <p:nvPr/>
        </p:nvSpPr>
        <p:spPr>
          <a:xfrm>
            <a:off x="1188720" y="1280160"/>
            <a:ext cx="5669280" cy="502920"/>
          </a:xfrm>
          <a:prstGeom prst="rect">
            <a:avLst/>
          </a:prstGeom>
          <a:noFill/>
          <a:ln/>
        </p:spPr>
        <p:txBody>
          <a:bodyPr wrap="square" rtlCol="0" anchor="ctr"/>
          <a:lstStyle/>
          <a:p>
            <a:pPr marL="0" indent="0">
              <a:buNone/>
            </a:pPr>
            <a:r>
              <a:rPr lang="en-US" sz="1700" b="1" dirty="0">
                <a:solidFill>
                  <a:schemeClr val="tx1"/>
                </a:solidFill>
              </a:rPr>
              <a:t>Orders</a:t>
            </a:r>
            <a:r>
              <a:rPr lang="en-US" sz="1200" dirty="0">
                <a:solidFill>
                  <a:schemeClr val="tx2"/>
                </a:solidFill>
              </a:rPr>
              <a:t>   :13001 · /api/orders, /api/pieces</a:t>
            </a:r>
            <a:endParaRPr lang="en-US" sz="1700" dirty="0"/>
          </a:p>
        </p:txBody>
      </p:sp>
      <p:graphicFrame>
        <p:nvGraphicFramePr>
          <p:cNvPr id="6" name="Orders endpoints"/>
          <p:cNvGraphicFramePr>
            <a:graphicFrameLocks noGrp="1"/>
          </p:cNvGraphicFramePr>
          <p:nvPr>
            <p:extLst>
              <p:ext uri="{D42A27DB-BD31-4B8C-83A1-F6EECF244321}">
                <p14:modId xmlns:p14="http://schemas.microsoft.com/office/powerpoint/2010/main" val="1579011935"/>
              </p:ext>
            </p:extLst>
          </p:nvPr>
        </p:nvGraphicFramePr>
        <p:xfrm>
          <a:off x="548640" y="1920240"/>
          <a:ext cx="6309360" cy="3968496"/>
        </p:xfrm>
        <a:graphic>
          <a:graphicData uri="http://schemas.openxmlformats.org/drawingml/2006/table">
            <a:tbl>
              <a:tblPr/>
              <a:tblGrid>
                <a:gridCol w="731520">
                  <a:extLst>
                    <a:ext uri="{9D8B030D-6E8A-4147-A177-3AD203B41FA5}">
                      <a16:colId xmlns:a16="http://schemas.microsoft.com/office/drawing/2014/main" val="20000"/>
                    </a:ext>
                  </a:extLst>
                </a:gridCol>
                <a:gridCol w="2240280">
                  <a:extLst>
                    <a:ext uri="{9D8B030D-6E8A-4147-A177-3AD203B41FA5}">
                      <a16:colId xmlns:a16="http://schemas.microsoft.com/office/drawing/2014/main" val="20001"/>
                    </a:ext>
                  </a:extLst>
                </a:gridCol>
                <a:gridCol w="2697480">
                  <a:extLst>
                    <a:ext uri="{9D8B030D-6E8A-4147-A177-3AD203B41FA5}">
                      <a16:colId xmlns:a16="http://schemas.microsoft.com/office/drawing/2014/main" val="20002"/>
                    </a:ext>
                  </a:extLst>
                </a:gridCol>
                <a:gridCol w="640080">
                  <a:extLst>
                    <a:ext uri="{9D8B030D-6E8A-4147-A177-3AD203B41FA5}">
                      <a16:colId xmlns:a16="http://schemas.microsoft.com/office/drawing/2014/main" val="20003"/>
                    </a:ext>
                  </a:extLst>
                </a:gridCol>
              </a:tblGrid>
              <a:tr h="283464">
                <a:tc>
                  <a:txBody>
                    <a:bodyPr/>
                    <a:lstStyle/>
                    <a:p>
                      <a:pPr marL="0" indent="0">
                        <a:buNone/>
                      </a:pPr>
                      <a:r>
                        <a:rPr lang="en-US" sz="1200" b="1" dirty="0">
                          <a:solidFill>
                            <a:schemeClr val="bg1"/>
                          </a:solidFill>
                        </a:rPr>
                        <a:t>Method</a:t>
                      </a:r>
                      <a:endParaRPr lang="en-US" sz="1200" dirty="0"/>
                    </a:p>
                  </a:txBody>
                  <a:tcPr marL="54864" marR="54864" marT="27432" marB="27432"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chemeClr val="tx1"/>
                    </a:solidFill>
                  </a:tcPr>
                </a:tc>
                <a:tc>
                  <a:txBody>
                    <a:bodyPr/>
                    <a:lstStyle/>
                    <a:p>
                      <a:pPr marL="0" indent="0">
                        <a:buNone/>
                      </a:pPr>
                      <a:r>
                        <a:rPr lang="en-US" sz="1200" b="1" dirty="0">
                          <a:solidFill>
                            <a:schemeClr val="bg1"/>
                          </a:solidFill>
                        </a:rPr>
                        <a:t>Path</a:t>
                      </a:r>
                      <a:endParaRPr lang="en-US" sz="1200" dirty="0"/>
                    </a:p>
                  </a:txBody>
                  <a:tcPr marL="54864" marR="54864" marT="27432" marB="27432"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chemeClr val="tx1"/>
                    </a:solidFill>
                  </a:tcPr>
                </a:tc>
                <a:tc>
                  <a:txBody>
                    <a:bodyPr/>
                    <a:lstStyle/>
                    <a:p>
                      <a:pPr marL="0" indent="0">
                        <a:buNone/>
                      </a:pPr>
                      <a:r>
                        <a:rPr lang="en-US" sz="1200" b="1" dirty="0">
                          <a:solidFill>
                            <a:schemeClr val="bg1"/>
                          </a:solidFill>
                        </a:rPr>
                        <a:t>Purpose</a:t>
                      </a:r>
                      <a:endParaRPr lang="en-US" sz="1200" dirty="0"/>
                    </a:p>
                  </a:txBody>
                  <a:tcPr marL="54864" marR="54864" marT="27432" marB="27432"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chemeClr val="tx1"/>
                    </a:solidFill>
                  </a:tcPr>
                </a:tc>
                <a:tc>
                  <a:txBody>
                    <a:bodyPr/>
                    <a:lstStyle/>
                    <a:p>
                      <a:pPr marL="0" indent="0">
                        <a:buNone/>
                      </a:pPr>
                      <a:r>
                        <a:rPr lang="en-US" sz="1200" b="1" dirty="0">
                          <a:solidFill>
                            <a:schemeClr val="bg1"/>
                          </a:solidFill>
                        </a:rPr>
                        <a:t>Auth</a:t>
                      </a:r>
                      <a:endParaRPr lang="en-US" sz="1200" dirty="0"/>
                    </a:p>
                  </a:txBody>
                  <a:tcPr marL="54864" marR="54864" marT="27432" marB="27432"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chemeClr val="tx1"/>
                    </a:solidFill>
                  </a:tcPr>
                </a:tc>
                <a:extLst>
                  <a:ext uri="{0D108BD9-81ED-4DB2-BD59-A6C34878D82A}">
                    <a16:rowId xmlns:a16="http://schemas.microsoft.com/office/drawing/2014/main" val="10000"/>
                  </a:ext>
                </a:extLst>
              </a:tr>
              <a:tr h="283464">
                <a:tc>
                  <a:txBody>
                    <a:bodyPr/>
                    <a:lstStyle/>
                    <a:p>
                      <a:pPr marL="0" indent="0">
                        <a:buNone/>
                      </a:pPr>
                      <a:r>
                        <a:rPr lang="en-US" sz="1200" b="1" dirty="0">
                          <a:solidFill>
                            <a:schemeClr val="accent1"/>
                          </a:solidFill>
                        </a:rPr>
                        <a:t>POST</a:t>
                      </a:r>
                      <a:endParaRPr lang="en-US" sz="1200" dirty="0"/>
                    </a:p>
                  </a:txBody>
                  <a:tcPr marL="54864" marR="54864" marT="27432" marB="27432"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chemeClr val="bg1"/>
                    </a:solidFill>
                  </a:tcPr>
                </a:tc>
                <a:tc>
                  <a:txBody>
                    <a:bodyPr/>
                    <a:lstStyle/>
                    <a:p>
                      <a:pPr marL="0" indent="0">
                        <a:buNone/>
                      </a:pPr>
                      <a:r>
                        <a:rPr lang="en-US" sz="1100" dirty="0">
                          <a:solidFill>
                            <a:schemeClr val="tx1"/>
                          </a:solidFill>
                          <a:latin typeface="Courier New" pitchFamily="34" charset="0"/>
                          <a:ea typeface="Courier New" pitchFamily="34" charset="-122"/>
                          <a:cs typeface="Courier New" pitchFamily="34" charset="-120"/>
                        </a:rPr>
                        <a:t>/order</a:t>
                      </a:r>
                      <a:endParaRPr lang="en-US" sz="1100" dirty="0">
                        <a:latin typeface="Courier New" charset="0"/>
                        <a:ea typeface="Courier New" charset="0"/>
                        <a:cs typeface="Courier New" charset="0"/>
                      </a:endParaRPr>
                    </a:p>
                  </a:txBody>
                  <a:tcPr marL="54864" marR="54864" marT="27432" marB="27432"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chemeClr val="bg1"/>
                    </a:solidFill>
                  </a:tcPr>
                </a:tc>
                <a:tc>
                  <a:txBody>
                    <a:bodyPr/>
                    <a:lstStyle/>
                    <a:p>
                      <a:pPr marL="0" indent="0">
                        <a:buNone/>
                      </a:pPr>
                      <a:r>
                        <a:rPr lang="en-US" sz="1200" dirty="0">
                          <a:solidFill>
                            <a:schemeClr val="tx1"/>
                          </a:solidFill>
                        </a:rPr>
                        <a:t>Create an order (202)</a:t>
                      </a:r>
                      <a:endParaRPr lang="en-US" sz="1200" dirty="0"/>
                    </a:p>
                  </a:txBody>
                  <a:tcPr marL="54864" marR="54864" marT="27432" marB="27432"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chemeClr val="bg1"/>
                    </a:solidFill>
                  </a:tcPr>
                </a:tc>
                <a:tc>
                  <a:txBody>
                    <a:bodyPr/>
                    <a:lstStyle/>
                    <a:p>
                      <a:pPr marL="0" indent="0">
                        <a:buNone/>
                      </a:pPr>
                      <a:r>
                        <a:rPr lang="en-US" sz="1200" b="1" dirty="0">
                          <a:solidFill>
                            <a:schemeClr val="accent1"/>
                          </a:solidFill>
                        </a:rPr>
                        <a:t>JWT</a:t>
                      </a:r>
                      <a:endParaRPr lang="en-US" sz="1200" dirty="0"/>
                    </a:p>
                  </a:txBody>
                  <a:tcPr marL="54864" marR="54864" marT="27432" marB="27432"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chemeClr val="bg1"/>
                    </a:solidFill>
                  </a:tcPr>
                </a:tc>
                <a:extLst>
                  <a:ext uri="{0D108BD9-81ED-4DB2-BD59-A6C34878D82A}">
                    <a16:rowId xmlns:a16="http://schemas.microsoft.com/office/drawing/2014/main" val="10001"/>
                  </a:ext>
                </a:extLst>
              </a:tr>
              <a:tr h="283464">
                <a:tc>
                  <a:txBody>
                    <a:bodyPr/>
                    <a:lstStyle/>
                    <a:p>
                      <a:pPr marL="0" indent="0">
                        <a:buNone/>
                      </a:pPr>
                      <a:r>
                        <a:rPr lang="en-US" sz="1200" b="1" dirty="0">
                          <a:solidFill>
                            <a:schemeClr val="accent2"/>
                          </a:solidFill>
                        </a:rPr>
                        <a:t>GET</a:t>
                      </a:r>
                      <a:endParaRPr lang="en-US" sz="1200" dirty="0"/>
                    </a:p>
                  </a:txBody>
                  <a:tcPr marL="54864" marR="54864" marT="27432" marB="27432"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chemeClr val="bg1"/>
                    </a:solidFill>
                  </a:tcPr>
                </a:tc>
                <a:tc>
                  <a:txBody>
                    <a:bodyPr/>
                    <a:lstStyle/>
                    <a:p>
                      <a:pPr marL="0" indent="0">
                        <a:buNone/>
                      </a:pPr>
                      <a:r>
                        <a:rPr lang="en-US" sz="1100" dirty="0">
                          <a:solidFill>
                            <a:schemeClr val="tx1"/>
                          </a:solidFill>
                          <a:latin typeface="Courier New" pitchFamily="34" charset="0"/>
                          <a:ea typeface="Courier New" pitchFamily="34" charset="-122"/>
                          <a:cs typeface="Courier New" pitchFamily="34" charset="-120"/>
                        </a:rPr>
                        <a:t>/order</a:t>
                      </a:r>
                      <a:endParaRPr lang="en-US" sz="1100" dirty="0">
                        <a:latin typeface="Courier New" charset="0"/>
                        <a:ea typeface="Courier New" charset="0"/>
                        <a:cs typeface="Courier New" charset="0"/>
                      </a:endParaRPr>
                    </a:p>
                  </a:txBody>
                  <a:tcPr marL="54864" marR="54864" marT="27432" marB="27432"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chemeClr val="bg1"/>
                    </a:solidFill>
                  </a:tcPr>
                </a:tc>
                <a:tc>
                  <a:txBody>
                    <a:bodyPr/>
                    <a:lstStyle/>
                    <a:p>
                      <a:pPr marL="0" indent="0">
                        <a:buNone/>
                      </a:pPr>
                      <a:r>
                        <a:rPr lang="en-US" sz="1200" dirty="0">
                          <a:solidFill>
                            <a:schemeClr val="tx1"/>
                          </a:solidFill>
                        </a:rPr>
                        <a:t>List orders</a:t>
                      </a:r>
                      <a:endParaRPr lang="en-US" sz="1200" dirty="0"/>
                    </a:p>
                  </a:txBody>
                  <a:tcPr marL="54864" marR="54864" marT="27432" marB="27432"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chemeClr val="bg1"/>
                    </a:solidFill>
                  </a:tcPr>
                </a:tc>
                <a:tc>
                  <a:txBody>
                    <a:bodyPr/>
                    <a:lstStyle/>
                    <a:p>
                      <a:pPr marL="0" indent="0">
                        <a:buNone/>
                      </a:pPr>
                      <a:r>
                        <a:rPr lang="en-US" sz="1200" b="1" dirty="0">
                          <a:solidFill>
                            <a:schemeClr val="accent1"/>
                          </a:solidFill>
                        </a:rPr>
                        <a:t>JWT</a:t>
                      </a:r>
                      <a:endParaRPr lang="en-US" sz="1200" dirty="0"/>
                    </a:p>
                  </a:txBody>
                  <a:tcPr marL="54864" marR="54864" marT="27432" marB="27432"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chemeClr val="bg1"/>
                    </a:solidFill>
                  </a:tcPr>
                </a:tc>
                <a:extLst>
                  <a:ext uri="{0D108BD9-81ED-4DB2-BD59-A6C34878D82A}">
                    <a16:rowId xmlns:a16="http://schemas.microsoft.com/office/drawing/2014/main" val="10002"/>
                  </a:ext>
                </a:extLst>
              </a:tr>
              <a:tr h="283464">
                <a:tc>
                  <a:txBody>
                    <a:bodyPr/>
                    <a:lstStyle/>
                    <a:p>
                      <a:pPr marL="0" indent="0">
                        <a:buNone/>
                      </a:pPr>
                      <a:r>
                        <a:rPr lang="en-US" sz="1200" b="1" dirty="0">
                          <a:solidFill>
                            <a:schemeClr val="accent2"/>
                          </a:solidFill>
                        </a:rPr>
                        <a:t>GET</a:t>
                      </a:r>
                      <a:endParaRPr lang="en-US" sz="1200" dirty="0"/>
                    </a:p>
                  </a:txBody>
                  <a:tcPr marL="54864" marR="54864" marT="27432" marB="27432"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chemeClr val="bg1"/>
                    </a:solidFill>
                  </a:tcPr>
                </a:tc>
                <a:tc>
                  <a:txBody>
                    <a:bodyPr/>
                    <a:lstStyle/>
                    <a:p>
                      <a:pPr marL="0" indent="0">
                        <a:buNone/>
                      </a:pPr>
                      <a:r>
                        <a:rPr lang="en-US" sz="1100" dirty="0">
                          <a:solidFill>
                            <a:schemeClr val="tx1"/>
                          </a:solidFill>
                          <a:latin typeface="Courier New" pitchFamily="34" charset="0"/>
                          <a:ea typeface="Courier New" pitchFamily="34" charset="-122"/>
                          <a:cs typeface="Courier New" pitchFamily="34" charset="-120"/>
                        </a:rPr>
                        <a:t>/order/{id}</a:t>
                      </a:r>
                      <a:endParaRPr lang="en-US" sz="1100" dirty="0">
                        <a:latin typeface="Courier New" charset="0"/>
                        <a:ea typeface="Courier New" charset="0"/>
                        <a:cs typeface="Courier New" charset="0"/>
                      </a:endParaRPr>
                    </a:p>
                  </a:txBody>
                  <a:tcPr marL="54864" marR="54864" marT="27432" marB="27432"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chemeClr val="bg1"/>
                    </a:solidFill>
                  </a:tcPr>
                </a:tc>
                <a:tc>
                  <a:txBody>
                    <a:bodyPr/>
                    <a:lstStyle/>
                    <a:p>
                      <a:pPr marL="0" indent="0">
                        <a:buNone/>
                      </a:pPr>
                      <a:r>
                        <a:rPr lang="en-US" sz="1200" dirty="0">
                          <a:solidFill>
                            <a:schemeClr val="tx1"/>
                          </a:solidFill>
                        </a:rPr>
                        <a:t>Get an order</a:t>
                      </a:r>
                      <a:endParaRPr lang="en-US" sz="1200" dirty="0"/>
                    </a:p>
                  </a:txBody>
                  <a:tcPr marL="54864" marR="54864" marT="27432" marB="27432"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chemeClr val="bg1"/>
                    </a:solidFill>
                  </a:tcPr>
                </a:tc>
                <a:tc>
                  <a:txBody>
                    <a:bodyPr/>
                    <a:lstStyle/>
                    <a:p>
                      <a:pPr marL="0" indent="0">
                        <a:buNone/>
                      </a:pPr>
                      <a:r>
                        <a:rPr lang="en-US" sz="1200" dirty="0">
                          <a:solidFill>
                            <a:schemeClr val="accent4"/>
                          </a:solidFill>
                        </a:rPr>
                        <a:t>—</a:t>
                      </a:r>
                      <a:endParaRPr lang="en-US" sz="1200" dirty="0"/>
                    </a:p>
                  </a:txBody>
                  <a:tcPr marL="54864" marR="54864" marT="27432" marB="27432"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chemeClr val="bg1"/>
                    </a:solidFill>
                  </a:tcPr>
                </a:tc>
                <a:extLst>
                  <a:ext uri="{0D108BD9-81ED-4DB2-BD59-A6C34878D82A}">
                    <a16:rowId xmlns:a16="http://schemas.microsoft.com/office/drawing/2014/main" val="10003"/>
                  </a:ext>
                </a:extLst>
              </a:tr>
              <a:tr h="283464">
                <a:tc>
                  <a:txBody>
                    <a:bodyPr/>
                    <a:lstStyle/>
                    <a:p>
                      <a:pPr marL="0" indent="0">
                        <a:buNone/>
                      </a:pPr>
                      <a:r>
                        <a:rPr lang="en-US" sz="1200" b="1" dirty="0">
                          <a:solidFill>
                            <a:schemeClr val="accent2"/>
                          </a:solidFill>
                        </a:rPr>
                        <a:t>GET</a:t>
                      </a:r>
                      <a:endParaRPr lang="en-US" sz="1200" dirty="0"/>
                    </a:p>
                  </a:txBody>
                  <a:tcPr marL="54864" marR="54864" marT="27432" marB="27432"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chemeClr val="bg1"/>
                    </a:solidFill>
                  </a:tcPr>
                </a:tc>
                <a:tc>
                  <a:txBody>
                    <a:bodyPr/>
                    <a:lstStyle/>
                    <a:p>
                      <a:pPr marL="0" indent="0">
                        <a:buNone/>
                      </a:pPr>
                      <a:r>
                        <a:rPr lang="en-US" sz="1100" dirty="0">
                          <a:solidFill>
                            <a:schemeClr val="tx1"/>
                          </a:solidFill>
                          <a:latin typeface="Courier New" pitchFamily="34" charset="0"/>
                          <a:ea typeface="Courier New" pitchFamily="34" charset="-122"/>
                          <a:cs typeface="Courier New" pitchFamily="34" charset="-120"/>
                        </a:rPr>
                        <a:t>/order/{id}/pieces</a:t>
                      </a:r>
                      <a:endParaRPr lang="en-US" sz="1100" dirty="0">
                        <a:latin typeface="Courier New" charset="0"/>
                        <a:ea typeface="Courier New" charset="0"/>
                        <a:cs typeface="Courier New" charset="0"/>
                      </a:endParaRPr>
                    </a:p>
                  </a:txBody>
                  <a:tcPr marL="54864" marR="54864" marT="27432" marB="27432"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chemeClr val="bg1"/>
                    </a:solidFill>
                  </a:tcPr>
                </a:tc>
                <a:tc>
                  <a:txBody>
                    <a:bodyPr/>
                    <a:lstStyle/>
                    <a:p>
                      <a:pPr marL="0" indent="0">
                        <a:buNone/>
                      </a:pPr>
                      <a:r>
                        <a:rPr lang="en-US" sz="1200" dirty="0">
                          <a:solidFill>
                            <a:schemeClr val="tx1"/>
                          </a:solidFill>
                        </a:rPr>
                        <a:t>Pieces of an order</a:t>
                      </a:r>
                      <a:endParaRPr lang="en-US" sz="1200" dirty="0"/>
                    </a:p>
                  </a:txBody>
                  <a:tcPr marL="54864" marR="54864" marT="27432" marB="27432"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chemeClr val="bg1"/>
                    </a:solidFill>
                  </a:tcPr>
                </a:tc>
                <a:tc>
                  <a:txBody>
                    <a:bodyPr/>
                    <a:lstStyle/>
                    <a:p>
                      <a:pPr marL="0" indent="0">
                        <a:buNone/>
                      </a:pPr>
                      <a:r>
                        <a:rPr lang="en-US" sz="1200" dirty="0">
                          <a:solidFill>
                            <a:schemeClr val="accent4"/>
                          </a:solidFill>
                        </a:rPr>
                        <a:t>—</a:t>
                      </a:r>
                      <a:endParaRPr lang="en-US" sz="1200" dirty="0"/>
                    </a:p>
                  </a:txBody>
                  <a:tcPr marL="54864" marR="54864" marT="27432" marB="27432"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chemeClr val="bg1"/>
                    </a:solidFill>
                  </a:tcPr>
                </a:tc>
                <a:extLst>
                  <a:ext uri="{0D108BD9-81ED-4DB2-BD59-A6C34878D82A}">
                    <a16:rowId xmlns:a16="http://schemas.microsoft.com/office/drawing/2014/main" val="10004"/>
                  </a:ext>
                </a:extLst>
              </a:tr>
              <a:tr h="283464">
                <a:tc>
                  <a:txBody>
                    <a:bodyPr/>
                    <a:lstStyle/>
                    <a:p>
                      <a:pPr marL="0" indent="0">
                        <a:buNone/>
                      </a:pPr>
                      <a:r>
                        <a:rPr lang="en-US" sz="1200" b="1" dirty="0">
                          <a:solidFill>
                            <a:schemeClr val="accent1"/>
                          </a:solidFill>
                        </a:rPr>
                        <a:t>POST</a:t>
                      </a:r>
                      <a:endParaRPr lang="en-US" sz="1200" dirty="0"/>
                    </a:p>
                  </a:txBody>
                  <a:tcPr marL="54864" marR="54864" marT="27432" marB="27432"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chemeClr val="bg1"/>
                    </a:solidFill>
                  </a:tcPr>
                </a:tc>
                <a:tc>
                  <a:txBody>
                    <a:bodyPr/>
                    <a:lstStyle/>
                    <a:p>
                      <a:pPr marL="0" indent="0">
                        <a:buNone/>
                      </a:pPr>
                      <a:r>
                        <a:rPr lang="en-US" sz="1100" dirty="0">
                          <a:solidFill>
                            <a:schemeClr val="tx1"/>
                          </a:solidFill>
                          <a:latin typeface="Courier New" pitchFamily="34" charset="0"/>
                          <a:ea typeface="Courier New" pitchFamily="34" charset="-122"/>
                          <a:cs typeface="Courier New" pitchFamily="34" charset="-120"/>
                        </a:rPr>
                        <a:t>/order/{id}/retry</a:t>
                      </a:r>
                      <a:endParaRPr lang="en-US" sz="1100" dirty="0">
                        <a:latin typeface="Courier New" charset="0"/>
                        <a:ea typeface="Courier New" charset="0"/>
                        <a:cs typeface="Courier New" charset="0"/>
                      </a:endParaRPr>
                    </a:p>
                  </a:txBody>
                  <a:tcPr marL="54864" marR="54864" marT="27432" marB="27432"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chemeClr val="bg1"/>
                    </a:solidFill>
                  </a:tcPr>
                </a:tc>
                <a:tc>
                  <a:txBody>
                    <a:bodyPr/>
                    <a:lstStyle/>
                    <a:p>
                      <a:pPr marL="0" indent="0">
                        <a:buNone/>
                      </a:pPr>
                      <a:r>
                        <a:rPr lang="en-US" sz="1200" dirty="0">
                          <a:solidFill>
                            <a:schemeClr val="tx1"/>
                          </a:solidFill>
                        </a:rPr>
                        <a:t>Re-record pending facts</a:t>
                      </a:r>
                      <a:endParaRPr lang="en-US" sz="1200" dirty="0"/>
                    </a:p>
                  </a:txBody>
                  <a:tcPr marL="54864" marR="54864" marT="27432" marB="27432"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chemeClr val="bg1"/>
                    </a:solidFill>
                  </a:tcPr>
                </a:tc>
                <a:tc>
                  <a:txBody>
                    <a:bodyPr/>
                    <a:lstStyle/>
                    <a:p>
                      <a:pPr marL="0" indent="0">
                        <a:buNone/>
                      </a:pPr>
                      <a:r>
                        <a:rPr lang="en-US" sz="1200" dirty="0">
                          <a:solidFill>
                            <a:schemeClr val="accent4"/>
                          </a:solidFill>
                        </a:rPr>
                        <a:t>—</a:t>
                      </a:r>
                      <a:endParaRPr lang="en-US" sz="1200" dirty="0"/>
                    </a:p>
                  </a:txBody>
                  <a:tcPr marL="54864" marR="54864" marT="27432" marB="27432"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chemeClr val="bg1"/>
                    </a:solidFill>
                  </a:tcPr>
                </a:tc>
                <a:extLst>
                  <a:ext uri="{0D108BD9-81ED-4DB2-BD59-A6C34878D82A}">
                    <a16:rowId xmlns:a16="http://schemas.microsoft.com/office/drawing/2014/main" val="10005"/>
                  </a:ext>
                </a:extLst>
              </a:tr>
              <a:tr h="283464">
                <a:tc>
                  <a:txBody>
                    <a:bodyPr/>
                    <a:lstStyle/>
                    <a:p>
                      <a:pPr marL="0" indent="0">
                        <a:buNone/>
                      </a:pPr>
                      <a:r>
                        <a:rPr lang="en-US" sz="1200" b="1" dirty="0">
                          <a:solidFill>
                            <a:schemeClr val="accent5"/>
                          </a:solidFill>
                        </a:rPr>
                        <a:t>PATCH</a:t>
                      </a:r>
                      <a:endParaRPr lang="en-US" sz="1200" dirty="0"/>
                    </a:p>
                  </a:txBody>
                  <a:tcPr marL="54864" marR="54864" marT="27432" marB="27432"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chemeClr val="bg1"/>
                    </a:solidFill>
                  </a:tcPr>
                </a:tc>
                <a:tc>
                  <a:txBody>
                    <a:bodyPr/>
                    <a:lstStyle/>
                    <a:p>
                      <a:pPr marL="0" indent="0">
                        <a:buNone/>
                      </a:pPr>
                      <a:r>
                        <a:rPr lang="en-US" sz="1100" dirty="0">
                          <a:solidFill>
                            <a:schemeClr val="tx1"/>
                          </a:solidFill>
                          <a:latin typeface="Courier New" pitchFamily="34" charset="0"/>
                          <a:ea typeface="Courier New" pitchFamily="34" charset="-122"/>
                          <a:cs typeface="Courier New" pitchFamily="34" charset="-120"/>
                        </a:rPr>
                        <a:t>/order/{id}/status</a:t>
                      </a:r>
                      <a:endParaRPr lang="en-US" sz="1100" dirty="0">
                        <a:latin typeface="Courier New" charset="0"/>
                        <a:ea typeface="Courier New" charset="0"/>
                        <a:cs typeface="Courier New" charset="0"/>
                      </a:endParaRPr>
                    </a:p>
                  </a:txBody>
                  <a:tcPr marL="54864" marR="54864" marT="27432" marB="27432"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chemeClr val="bg1"/>
                    </a:solidFill>
                  </a:tcPr>
                </a:tc>
                <a:tc>
                  <a:txBody>
                    <a:bodyPr/>
                    <a:lstStyle/>
                    <a:p>
                      <a:pPr marL="0" indent="0">
                        <a:buNone/>
                      </a:pPr>
                      <a:r>
                        <a:rPr lang="en-US" sz="1200" dirty="0">
                          <a:solidFill>
                            <a:schemeClr val="tx1"/>
                          </a:solidFill>
                        </a:rPr>
                        <a:t>Mark Finished or Delivered</a:t>
                      </a:r>
                      <a:endParaRPr lang="en-US" sz="1200" dirty="0"/>
                    </a:p>
                  </a:txBody>
                  <a:tcPr marL="54864" marR="54864" marT="27432" marB="27432"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chemeClr val="bg1"/>
                    </a:solidFill>
                  </a:tcPr>
                </a:tc>
                <a:tc>
                  <a:txBody>
                    <a:bodyPr/>
                    <a:lstStyle/>
                    <a:p>
                      <a:pPr marL="0" indent="0">
                        <a:buNone/>
                      </a:pPr>
                      <a:r>
                        <a:rPr lang="en-US" sz="1200" dirty="0">
                          <a:solidFill>
                            <a:schemeClr val="accent4"/>
                          </a:solidFill>
                        </a:rPr>
                        <a:t>—</a:t>
                      </a:r>
                      <a:endParaRPr lang="en-US" sz="1200" dirty="0"/>
                    </a:p>
                  </a:txBody>
                  <a:tcPr marL="54864" marR="54864" marT="27432" marB="27432"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chemeClr val="bg1"/>
                    </a:solidFill>
                  </a:tcPr>
                </a:tc>
                <a:extLst>
                  <a:ext uri="{0D108BD9-81ED-4DB2-BD59-A6C34878D82A}">
                    <a16:rowId xmlns:a16="http://schemas.microsoft.com/office/drawing/2014/main" val="10006"/>
                  </a:ext>
                </a:extLst>
              </a:tr>
              <a:tr h="283464">
                <a:tc>
                  <a:txBody>
                    <a:bodyPr/>
                    <a:lstStyle/>
                    <a:p>
                      <a:pPr marL="0" indent="0">
                        <a:buNone/>
                      </a:pPr>
                      <a:r>
                        <a:rPr lang="en-US" sz="1200" b="1" dirty="0">
                          <a:solidFill>
                            <a:schemeClr val="accent5"/>
                          </a:solidFill>
                        </a:rPr>
                        <a:t>PATCH</a:t>
                      </a:r>
                      <a:endParaRPr lang="en-US" sz="1200" dirty="0"/>
                    </a:p>
                  </a:txBody>
                  <a:tcPr marL="54864" marR="54864" marT="27432" marB="27432"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chemeClr val="bg1"/>
                    </a:solidFill>
                  </a:tcPr>
                </a:tc>
                <a:tc>
                  <a:txBody>
                    <a:bodyPr/>
                    <a:lstStyle/>
                    <a:p>
                      <a:pPr marL="0" indent="0">
                        <a:buNone/>
                      </a:pPr>
                      <a:r>
                        <a:rPr lang="en-US" sz="1100" dirty="0">
                          <a:solidFill>
                            <a:schemeClr val="tx1"/>
                          </a:solidFill>
                          <a:latin typeface="Courier New" pitchFamily="34" charset="0"/>
                          <a:ea typeface="Courier New" pitchFamily="34" charset="-122"/>
                          <a:cs typeface="Courier New" pitchFamily="34" charset="-120"/>
                        </a:rPr>
                        <a:t>/order/{id}/payment</a:t>
                      </a:r>
                      <a:endParaRPr lang="en-US" sz="1100" dirty="0">
                        <a:latin typeface="Courier New" charset="0"/>
                        <a:ea typeface="Courier New" charset="0"/>
                        <a:cs typeface="Courier New" charset="0"/>
                      </a:endParaRPr>
                    </a:p>
                  </a:txBody>
                  <a:tcPr marL="54864" marR="54864" marT="27432" marB="27432"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chemeClr val="bg1"/>
                    </a:solidFill>
                  </a:tcPr>
                </a:tc>
                <a:tc>
                  <a:txBody>
                    <a:bodyPr/>
                    <a:lstStyle/>
                    <a:p>
                      <a:pPr marL="0" indent="0">
                        <a:buNone/>
                      </a:pPr>
                      <a:r>
                        <a:rPr lang="en-US" sz="1200" dirty="0">
                          <a:solidFill>
                            <a:schemeClr val="tx1"/>
                          </a:solidFill>
                        </a:rPr>
                        <a:t>Payment result (legacy)</a:t>
                      </a:r>
                      <a:endParaRPr lang="en-US" sz="1200" dirty="0"/>
                    </a:p>
                  </a:txBody>
                  <a:tcPr marL="54864" marR="54864" marT="27432" marB="27432"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chemeClr val="bg1"/>
                    </a:solidFill>
                  </a:tcPr>
                </a:tc>
                <a:tc>
                  <a:txBody>
                    <a:bodyPr/>
                    <a:lstStyle/>
                    <a:p>
                      <a:pPr marL="0" indent="0">
                        <a:buNone/>
                      </a:pPr>
                      <a:r>
                        <a:rPr lang="en-US" sz="1200" dirty="0">
                          <a:solidFill>
                            <a:schemeClr val="accent4"/>
                          </a:solidFill>
                        </a:rPr>
                        <a:t>—</a:t>
                      </a:r>
                      <a:endParaRPr lang="en-US" sz="1200" dirty="0"/>
                    </a:p>
                  </a:txBody>
                  <a:tcPr marL="54864" marR="54864" marT="27432" marB="27432"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chemeClr val="bg1"/>
                    </a:solidFill>
                  </a:tcPr>
                </a:tc>
                <a:extLst>
                  <a:ext uri="{0D108BD9-81ED-4DB2-BD59-A6C34878D82A}">
                    <a16:rowId xmlns:a16="http://schemas.microsoft.com/office/drawing/2014/main" val="10007"/>
                  </a:ext>
                </a:extLst>
              </a:tr>
              <a:tr h="283464">
                <a:tc>
                  <a:txBody>
                    <a:bodyPr/>
                    <a:lstStyle/>
                    <a:p>
                      <a:pPr marL="0" indent="0">
                        <a:buNone/>
                      </a:pPr>
                      <a:r>
                        <a:rPr lang="en-US" sz="1200" b="1" dirty="0">
                          <a:solidFill>
                            <a:schemeClr val="accent6"/>
                          </a:solidFill>
                        </a:rPr>
                        <a:t>DELETE</a:t>
                      </a:r>
                      <a:endParaRPr lang="en-US" sz="1200" dirty="0"/>
                    </a:p>
                  </a:txBody>
                  <a:tcPr marL="54864" marR="54864" marT="27432" marB="27432"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chemeClr val="bg1"/>
                    </a:solidFill>
                  </a:tcPr>
                </a:tc>
                <a:tc>
                  <a:txBody>
                    <a:bodyPr/>
                    <a:lstStyle/>
                    <a:p>
                      <a:pPr marL="0" indent="0">
                        <a:buNone/>
                      </a:pPr>
                      <a:r>
                        <a:rPr lang="en-US" sz="1100" dirty="0">
                          <a:solidFill>
                            <a:schemeClr val="tx1"/>
                          </a:solidFill>
                          <a:latin typeface="Courier New" pitchFamily="34" charset="0"/>
                          <a:ea typeface="Courier New" pitchFamily="34" charset="-122"/>
                          <a:cs typeface="Courier New" pitchFamily="34" charset="-120"/>
                        </a:rPr>
                        <a:t>/order/{id}</a:t>
                      </a:r>
                      <a:endParaRPr lang="en-US" sz="1100" dirty="0">
                        <a:latin typeface="Courier New" charset="0"/>
                        <a:ea typeface="Courier New" charset="0"/>
                        <a:cs typeface="Courier New" charset="0"/>
                      </a:endParaRPr>
                    </a:p>
                  </a:txBody>
                  <a:tcPr marL="54864" marR="54864" marT="27432" marB="27432"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chemeClr val="bg1"/>
                    </a:solidFill>
                  </a:tcPr>
                </a:tc>
                <a:tc>
                  <a:txBody>
                    <a:bodyPr/>
                    <a:lstStyle/>
                    <a:p>
                      <a:pPr marL="0" indent="0">
                        <a:buNone/>
                      </a:pPr>
                      <a:r>
                        <a:rPr lang="en-US" sz="1200" dirty="0">
                          <a:solidFill>
                            <a:schemeClr val="tx1"/>
                          </a:solidFill>
                        </a:rPr>
                        <a:t>Delete; 409 for workflow orders</a:t>
                      </a:r>
                      <a:endParaRPr lang="en-US" sz="1200" dirty="0"/>
                    </a:p>
                  </a:txBody>
                  <a:tcPr marL="54864" marR="54864" marT="27432" marB="27432"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chemeClr val="bg1"/>
                    </a:solidFill>
                  </a:tcPr>
                </a:tc>
                <a:tc>
                  <a:txBody>
                    <a:bodyPr/>
                    <a:lstStyle/>
                    <a:p>
                      <a:pPr marL="0" indent="0">
                        <a:buNone/>
                      </a:pPr>
                      <a:r>
                        <a:rPr lang="en-US" sz="1200" dirty="0">
                          <a:solidFill>
                            <a:schemeClr val="accent4"/>
                          </a:solidFill>
                        </a:rPr>
                        <a:t>—</a:t>
                      </a:r>
                      <a:endParaRPr lang="en-US" sz="1200" dirty="0"/>
                    </a:p>
                  </a:txBody>
                  <a:tcPr marL="54864" marR="54864" marT="27432" marB="27432"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chemeClr val="bg1"/>
                    </a:solidFill>
                  </a:tcPr>
                </a:tc>
                <a:extLst>
                  <a:ext uri="{0D108BD9-81ED-4DB2-BD59-A6C34878D82A}">
                    <a16:rowId xmlns:a16="http://schemas.microsoft.com/office/drawing/2014/main" val="10008"/>
                  </a:ext>
                </a:extLst>
              </a:tr>
              <a:tr h="283464">
                <a:tc>
                  <a:txBody>
                    <a:bodyPr/>
                    <a:lstStyle/>
                    <a:p>
                      <a:pPr marL="0" indent="0">
                        <a:buNone/>
                      </a:pPr>
                      <a:r>
                        <a:rPr lang="en-US" sz="1200" b="1" dirty="0">
                          <a:solidFill>
                            <a:schemeClr val="accent2"/>
                          </a:solidFill>
                        </a:rPr>
                        <a:t>GET</a:t>
                      </a:r>
                      <a:endParaRPr lang="en-US" sz="1200" dirty="0"/>
                    </a:p>
                  </a:txBody>
                  <a:tcPr marL="54864" marR="54864" marT="27432" marB="27432"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chemeClr val="bg1"/>
                    </a:solidFill>
                  </a:tcPr>
                </a:tc>
                <a:tc>
                  <a:txBody>
                    <a:bodyPr/>
                    <a:lstStyle/>
                    <a:p>
                      <a:pPr marL="0" indent="0">
                        <a:buNone/>
                      </a:pPr>
                      <a:r>
                        <a:rPr lang="en-US" sz="1100" dirty="0">
                          <a:solidFill>
                            <a:schemeClr val="tx1"/>
                          </a:solidFill>
                          <a:latin typeface="Courier New" pitchFamily="34" charset="0"/>
                          <a:ea typeface="Courier New" pitchFamily="34" charset="-122"/>
                          <a:cs typeface="Courier New" pitchFamily="34" charset="-120"/>
                        </a:rPr>
                        <a:t>/piece</a:t>
                      </a:r>
                      <a:endParaRPr lang="en-US" sz="1100" dirty="0">
                        <a:latin typeface="Courier New" charset="0"/>
                        <a:ea typeface="Courier New" charset="0"/>
                        <a:cs typeface="Courier New" charset="0"/>
                      </a:endParaRPr>
                    </a:p>
                  </a:txBody>
                  <a:tcPr marL="54864" marR="54864" marT="27432" marB="27432"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chemeClr val="bg1"/>
                    </a:solidFill>
                  </a:tcPr>
                </a:tc>
                <a:tc>
                  <a:txBody>
                    <a:bodyPr/>
                    <a:lstStyle/>
                    <a:p>
                      <a:pPr marL="0" indent="0">
                        <a:buNone/>
                      </a:pPr>
                      <a:r>
                        <a:rPr lang="en-US" sz="1200" dirty="0">
                          <a:solidFill>
                            <a:schemeClr val="tx1"/>
                          </a:solidFill>
                        </a:rPr>
                        <a:t>List pieces</a:t>
                      </a:r>
                      <a:endParaRPr lang="en-US" sz="1200" dirty="0"/>
                    </a:p>
                  </a:txBody>
                  <a:tcPr marL="54864" marR="54864" marT="27432" marB="27432"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chemeClr val="bg1"/>
                    </a:solidFill>
                  </a:tcPr>
                </a:tc>
                <a:tc>
                  <a:txBody>
                    <a:bodyPr/>
                    <a:lstStyle/>
                    <a:p>
                      <a:pPr marL="0" indent="0">
                        <a:buNone/>
                      </a:pPr>
                      <a:r>
                        <a:rPr lang="en-US" sz="1200" dirty="0">
                          <a:solidFill>
                            <a:schemeClr val="accent4"/>
                          </a:solidFill>
                        </a:rPr>
                        <a:t>—</a:t>
                      </a:r>
                      <a:endParaRPr lang="en-US" sz="1200" dirty="0"/>
                    </a:p>
                  </a:txBody>
                  <a:tcPr marL="54864" marR="54864" marT="27432" marB="27432"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chemeClr val="bg1"/>
                    </a:solidFill>
                  </a:tcPr>
                </a:tc>
                <a:extLst>
                  <a:ext uri="{0D108BD9-81ED-4DB2-BD59-A6C34878D82A}">
                    <a16:rowId xmlns:a16="http://schemas.microsoft.com/office/drawing/2014/main" val="10009"/>
                  </a:ext>
                </a:extLst>
              </a:tr>
              <a:tr h="283464">
                <a:tc>
                  <a:txBody>
                    <a:bodyPr/>
                    <a:lstStyle/>
                    <a:p>
                      <a:pPr marL="0" indent="0">
                        <a:buNone/>
                      </a:pPr>
                      <a:r>
                        <a:rPr lang="en-US" sz="1200" b="1" dirty="0">
                          <a:solidFill>
                            <a:schemeClr val="accent2"/>
                          </a:solidFill>
                        </a:rPr>
                        <a:t>GET</a:t>
                      </a:r>
                      <a:endParaRPr lang="en-US" sz="1200" dirty="0"/>
                    </a:p>
                  </a:txBody>
                  <a:tcPr marL="54864" marR="54864" marT="27432" marB="27432"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chemeClr val="bg1"/>
                    </a:solidFill>
                  </a:tcPr>
                </a:tc>
                <a:tc>
                  <a:txBody>
                    <a:bodyPr/>
                    <a:lstStyle/>
                    <a:p>
                      <a:pPr marL="0" indent="0">
                        <a:buNone/>
                      </a:pPr>
                      <a:r>
                        <a:rPr lang="en-US" sz="1100" dirty="0">
                          <a:solidFill>
                            <a:schemeClr val="tx1"/>
                          </a:solidFill>
                          <a:latin typeface="Courier New" pitchFamily="34" charset="0"/>
                          <a:ea typeface="Courier New" pitchFamily="34" charset="-122"/>
                          <a:cs typeface="Courier New" pitchFamily="34" charset="-120"/>
                        </a:rPr>
                        <a:t>/piece/{id}</a:t>
                      </a:r>
                      <a:endParaRPr lang="en-US" sz="1100" dirty="0">
                        <a:latin typeface="Courier New" charset="0"/>
                        <a:ea typeface="Courier New" charset="0"/>
                        <a:cs typeface="Courier New" charset="0"/>
                      </a:endParaRPr>
                    </a:p>
                  </a:txBody>
                  <a:tcPr marL="54864" marR="54864" marT="27432" marB="27432"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chemeClr val="bg1"/>
                    </a:solidFill>
                  </a:tcPr>
                </a:tc>
                <a:tc>
                  <a:txBody>
                    <a:bodyPr/>
                    <a:lstStyle/>
                    <a:p>
                      <a:pPr marL="0" indent="0">
                        <a:buNone/>
                      </a:pPr>
                      <a:r>
                        <a:rPr lang="en-US" sz="1200" dirty="0">
                          <a:solidFill>
                            <a:schemeClr val="tx1"/>
                          </a:solidFill>
                        </a:rPr>
                        <a:t>Get a piece</a:t>
                      </a:r>
                      <a:endParaRPr lang="en-US" sz="1200" dirty="0"/>
                    </a:p>
                  </a:txBody>
                  <a:tcPr marL="54864" marR="54864" marT="27432" marB="27432"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chemeClr val="bg1"/>
                    </a:solidFill>
                  </a:tcPr>
                </a:tc>
                <a:tc>
                  <a:txBody>
                    <a:bodyPr/>
                    <a:lstStyle/>
                    <a:p>
                      <a:pPr marL="0" indent="0">
                        <a:buNone/>
                      </a:pPr>
                      <a:r>
                        <a:rPr lang="en-US" sz="1200" dirty="0">
                          <a:solidFill>
                            <a:schemeClr val="accent4"/>
                          </a:solidFill>
                        </a:rPr>
                        <a:t>—</a:t>
                      </a:r>
                      <a:endParaRPr lang="en-US" sz="1200" dirty="0"/>
                    </a:p>
                  </a:txBody>
                  <a:tcPr marL="54864" marR="54864" marT="27432" marB="27432"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chemeClr val="bg1"/>
                    </a:solidFill>
                  </a:tcPr>
                </a:tc>
                <a:extLst>
                  <a:ext uri="{0D108BD9-81ED-4DB2-BD59-A6C34878D82A}">
                    <a16:rowId xmlns:a16="http://schemas.microsoft.com/office/drawing/2014/main" val="10010"/>
                  </a:ext>
                </a:extLst>
              </a:tr>
              <a:tr h="283464">
                <a:tc>
                  <a:txBody>
                    <a:bodyPr/>
                    <a:lstStyle/>
                    <a:p>
                      <a:pPr marL="0" indent="0">
                        <a:buNone/>
                      </a:pPr>
                      <a:r>
                        <a:rPr lang="en-US" sz="1200" b="1" dirty="0">
                          <a:solidFill>
                            <a:schemeClr val="accent2"/>
                          </a:solidFill>
                        </a:rPr>
                        <a:t>GET</a:t>
                      </a:r>
                      <a:endParaRPr lang="en-US" sz="1200" dirty="0"/>
                    </a:p>
                  </a:txBody>
                  <a:tcPr marL="54864" marR="54864" marT="27432" marB="27432"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chemeClr val="bg1"/>
                    </a:solidFill>
                  </a:tcPr>
                </a:tc>
                <a:tc>
                  <a:txBody>
                    <a:bodyPr/>
                    <a:lstStyle/>
                    <a:p>
                      <a:pPr marL="0" indent="0">
                        <a:buNone/>
                      </a:pPr>
                      <a:r>
                        <a:rPr lang="en-US" sz="1100" dirty="0">
                          <a:solidFill>
                            <a:schemeClr val="tx1"/>
                          </a:solidFill>
                          <a:latin typeface="Courier New" pitchFamily="34" charset="0"/>
                          <a:ea typeface="Courier New" pitchFamily="34" charset="-122"/>
                          <a:cs typeface="Courier New" pitchFamily="34" charset="-120"/>
                        </a:rPr>
                        <a:t>/piece/by-status/{status}</a:t>
                      </a:r>
                      <a:endParaRPr lang="en-US" sz="1100" dirty="0">
                        <a:latin typeface="Courier New" charset="0"/>
                        <a:ea typeface="Courier New" charset="0"/>
                        <a:cs typeface="Courier New" charset="0"/>
                      </a:endParaRPr>
                    </a:p>
                  </a:txBody>
                  <a:tcPr marL="54864" marR="54864" marT="27432" marB="27432"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chemeClr val="bg1"/>
                    </a:solidFill>
                  </a:tcPr>
                </a:tc>
                <a:tc>
                  <a:txBody>
                    <a:bodyPr/>
                    <a:lstStyle/>
                    <a:p>
                      <a:pPr marL="0" indent="0">
                        <a:buNone/>
                      </a:pPr>
                      <a:r>
                        <a:rPr lang="en-US" sz="1200" dirty="0">
                          <a:solidFill>
                            <a:schemeClr val="tx1"/>
                          </a:solidFill>
                        </a:rPr>
                        <a:t>Pieces by status (legacy)</a:t>
                      </a:r>
                      <a:endParaRPr lang="en-US" sz="1200" dirty="0"/>
                    </a:p>
                  </a:txBody>
                  <a:tcPr marL="54864" marR="54864" marT="27432" marB="27432"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chemeClr val="bg1"/>
                    </a:solidFill>
                  </a:tcPr>
                </a:tc>
                <a:tc>
                  <a:txBody>
                    <a:bodyPr/>
                    <a:lstStyle/>
                    <a:p>
                      <a:pPr marL="0" indent="0">
                        <a:buNone/>
                      </a:pPr>
                      <a:r>
                        <a:rPr lang="en-US" sz="1200" dirty="0">
                          <a:solidFill>
                            <a:schemeClr val="accent4"/>
                          </a:solidFill>
                        </a:rPr>
                        <a:t>—</a:t>
                      </a:r>
                      <a:endParaRPr lang="en-US" sz="1200" dirty="0"/>
                    </a:p>
                  </a:txBody>
                  <a:tcPr marL="54864" marR="54864" marT="27432" marB="27432"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chemeClr val="bg1"/>
                    </a:solidFill>
                  </a:tcPr>
                </a:tc>
                <a:extLst>
                  <a:ext uri="{0D108BD9-81ED-4DB2-BD59-A6C34878D82A}">
                    <a16:rowId xmlns:a16="http://schemas.microsoft.com/office/drawing/2014/main" val="10011"/>
                  </a:ext>
                </a:extLst>
              </a:tr>
              <a:tr h="283464">
                <a:tc>
                  <a:txBody>
                    <a:bodyPr/>
                    <a:lstStyle/>
                    <a:p>
                      <a:pPr marL="0" indent="0">
                        <a:buNone/>
                      </a:pPr>
                      <a:r>
                        <a:rPr lang="en-US" sz="1200" b="1" dirty="0">
                          <a:solidFill>
                            <a:schemeClr val="accent5"/>
                          </a:solidFill>
                        </a:rPr>
                        <a:t>PATCH</a:t>
                      </a:r>
                      <a:endParaRPr lang="en-US" sz="1200" dirty="0"/>
                    </a:p>
                  </a:txBody>
                  <a:tcPr marL="54864" marR="54864" marT="27432" marB="27432"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chemeClr val="bg1"/>
                    </a:solidFill>
                  </a:tcPr>
                </a:tc>
                <a:tc>
                  <a:txBody>
                    <a:bodyPr/>
                    <a:lstStyle/>
                    <a:p>
                      <a:pPr marL="0" indent="0">
                        <a:buNone/>
                      </a:pPr>
                      <a:r>
                        <a:rPr lang="en-US" sz="1100" dirty="0">
                          <a:solidFill>
                            <a:schemeClr val="tx1"/>
                          </a:solidFill>
                          <a:latin typeface="Courier New" pitchFamily="34" charset="0"/>
                          <a:ea typeface="Courier New" pitchFamily="34" charset="-122"/>
                          <a:cs typeface="Courier New" pitchFamily="34" charset="-120"/>
                        </a:rPr>
                        <a:t>/piece/{id}</a:t>
                      </a:r>
                      <a:endParaRPr lang="en-US" sz="1100" dirty="0">
                        <a:latin typeface="Courier New" charset="0"/>
                        <a:ea typeface="Courier New" charset="0"/>
                        <a:cs typeface="Courier New" charset="0"/>
                      </a:endParaRPr>
                    </a:p>
                  </a:txBody>
                  <a:tcPr marL="54864" marR="54864" marT="27432" marB="27432"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chemeClr val="bg1"/>
                    </a:solidFill>
                  </a:tcPr>
                </a:tc>
                <a:tc>
                  <a:txBody>
                    <a:bodyPr/>
                    <a:lstStyle/>
                    <a:p>
                      <a:pPr marL="0" indent="0">
                        <a:buNone/>
                      </a:pPr>
                      <a:r>
                        <a:rPr lang="en-US" sz="1200" dirty="0">
                          <a:solidFill>
                            <a:schemeClr val="tx1"/>
                          </a:solidFill>
                        </a:rPr>
                        <a:t>Piece status (legacy)</a:t>
                      </a:r>
                      <a:endParaRPr lang="en-US" sz="1200" dirty="0"/>
                    </a:p>
                  </a:txBody>
                  <a:tcPr marL="54864" marR="54864" marT="27432" marB="27432"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chemeClr val="bg1"/>
                    </a:solidFill>
                  </a:tcPr>
                </a:tc>
                <a:tc>
                  <a:txBody>
                    <a:bodyPr/>
                    <a:lstStyle/>
                    <a:p>
                      <a:pPr marL="0" indent="0">
                        <a:buNone/>
                      </a:pPr>
                      <a:r>
                        <a:rPr lang="en-US" sz="1200" dirty="0">
                          <a:solidFill>
                            <a:schemeClr val="accent4"/>
                          </a:solidFill>
                        </a:rPr>
                        <a:t>—</a:t>
                      </a:r>
                      <a:endParaRPr lang="en-US" sz="1200" dirty="0"/>
                    </a:p>
                  </a:txBody>
                  <a:tcPr marL="54864" marR="54864" marT="27432" marB="27432"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chemeClr val="bg1"/>
                    </a:solidFill>
                  </a:tcPr>
                </a:tc>
                <a:extLst>
                  <a:ext uri="{0D108BD9-81ED-4DB2-BD59-A6C34878D82A}">
                    <a16:rowId xmlns:a16="http://schemas.microsoft.com/office/drawing/2014/main" val="10012"/>
                  </a:ext>
                </a:extLst>
              </a:tr>
              <a:tr h="283464">
                <a:tc>
                  <a:txBody>
                    <a:bodyPr/>
                    <a:lstStyle/>
                    <a:p>
                      <a:pPr marL="0" indent="0">
                        <a:buNone/>
                      </a:pPr>
                      <a:r>
                        <a:rPr lang="en-US" sz="1200" b="1" dirty="0">
                          <a:solidFill>
                            <a:schemeClr val="accent2"/>
                          </a:solidFill>
                        </a:rPr>
                        <a:t>GET</a:t>
                      </a:r>
                      <a:endParaRPr lang="en-US" sz="1200" dirty="0"/>
                    </a:p>
                  </a:txBody>
                  <a:tcPr marL="54864" marR="54864" marT="27432" marB="27432"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chemeClr val="bg1"/>
                    </a:solidFill>
                  </a:tcPr>
                </a:tc>
                <a:tc>
                  <a:txBody>
                    <a:bodyPr/>
                    <a:lstStyle/>
                    <a:p>
                      <a:pPr marL="0" indent="0">
                        <a:buNone/>
                      </a:pPr>
                      <a:r>
                        <a:rPr lang="en-US" sz="1100" dirty="0">
                          <a:solidFill>
                            <a:schemeClr val="tx1"/>
                          </a:solidFill>
                          <a:latin typeface="Courier New" pitchFamily="34" charset="0"/>
                          <a:ea typeface="Courier New" pitchFamily="34" charset="-122"/>
                          <a:cs typeface="Courier New" pitchFamily="34" charset="-120"/>
                        </a:rPr>
                        <a:t>/health</a:t>
                      </a:r>
                      <a:endParaRPr lang="en-US" sz="1100" dirty="0">
                        <a:latin typeface="Courier New" charset="0"/>
                        <a:ea typeface="Courier New" charset="0"/>
                        <a:cs typeface="Courier New" charset="0"/>
                      </a:endParaRPr>
                    </a:p>
                  </a:txBody>
                  <a:tcPr marL="54864" marR="54864" marT="27432" marB="27432"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chemeClr val="bg1"/>
                    </a:solidFill>
                  </a:tcPr>
                </a:tc>
                <a:tc>
                  <a:txBody>
                    <a:bodyPr/>
                    <a:lstStyle/>
                    <a:p>
                      <a:pPr marL="0" indent="0">
                        <a:buNone/>
                      </a:pPr>
                      <a:r>
                        <a:rPr lang="en-US" sz="1200" dirty="0">
                          <a:solidFill>
                            <a:schemeClr val="tx1"/>
                          </a:solidFill>
                        </a:rPr>
                        <a:t>Health (chassis)</a:t>
                      </a:r>
                      <a:endParaRPr lang="en-US" sz="1200" dirty="0"/>
                    </a:p>
                  </a:txBody>
                  <a:tcPr marL="54864" marR="54864" marT="27432" marB="27432"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chemeClr val="bg1"/>
                    </a:solidFill>
                  </a:tcPr>
                </a:tc>
                <a:tc>
                  <a:txBody>
                    <a:bodyPr/>
                    <a:lstStyle/>
                    <a:p>
                      <a:pPr marL="0" indent="0">
                        <a:buNone/>
                      </a:pPr>
                      <a:r>
                        <a:rPr lang="en-US" sz="1200" dirty="0">
                          <a:solidFill>
                            <a:schemeClr val="accent4"/>
                          </a:solidFill>
                        </a:rPr>
                        <a:t>—</a:t>
                      </a:r>
                      <a:endParaRPr lang="en-US" sz="1200" dirty="0"/>
                    </a:p>
                  </a:txBody>
                  <a:tcPr marL="54864" marR="54864" marT="27432" marB="27432"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chemeClr val="bg1"/>
                    </a:solidFill>
                  </a:tcPr>
                </a:tc>
                <a:extLst>
                  <a:ext uri="{0D108BD9-81ED-4DB2-BD59-A6C34878D82A}">
                    <a16:rowId xmlns:a16="http://schemas.microsoft.com/office/drawing/2014/main" val="10013"/>
                  </a:ext>
                </a:extLst>
              </a:tr>
            </a:tbl>
          </a:graphicData>
        </a:graphic>
      </p:graphicFrame>
      <p:sp>
        <p:nvSpPr>
          <p:cNvPr id="7" name="Deliveries circle"/>
          <p:cNvSpPr/>
          <p:nvPr/>
        </p:nvSpPr>
        <p:spPr>
          <a:xfrm>
            <a:off x="7132320" y="1280160"/>
            <a:ext cx="502920" cy="502920"/>
          </a:xfrm>
          <a:prstGeom prst="ellipse">
            <a:avLst/>
          </a:prstGeom>
          <a:solidFill>
            <a:schemeClr val="accent5"/>
          </a:solidFill>
          <a:ln w="12700">
            <a:solidFill>
              <a:schemeClr val="accent5"/>
            </a:solidFill>
            <a:prstDash val="solid"/>
          </a:ln>
        </p:spPr>
        <p:txBody>
          <a:bodyPr/>
          <a:lstStyle/>
          <a:p>
            <a:endParaRPr lang="es-ES"/>
          </a:p>
        </p:txBody>
      </p:sp>
      <p:pic>
        <p:nvPicPr>
          <p:cNvPr id="8" name="Deliveries icon" descr="preencoded.png"/>
          <p:cNvPicPr>
            <a:picLocks noChangeAspect="1"/>
          </p:cNvPicPr>
          <p:nvPr/>
        </p:nvPicPr>
        <p:blipFill>
          <a:blip r:embed="rId4"/>
          <a:stretch>
            <a:fillRect/>
          </a:stretch>
        </p:blipFill>
        <p:spPr>
          <a:xfrm>
            <a:off x="7258050" y="1405890"/>
            <a:ext cx="251460" cy="251460"/>
          </a:xfrm>
          <a:prstGeom prst="rect">
            <a:avLst/>
          </a:prstGeom>
        </p:spPr>
      </p:pic>
      <p:sp>
        <p:nvSpPr>
          <p:cNvPr id="9" name="Deliveries header"/>
          <p:cNvSpPr txBox="1"/>
          <p:nvPr/>
        </p:nvSpPr>
        <p:spPr>
          <a:xfrm>
            <a:off x="7772400" y="1280160"/>
            <a:ext cx="3840480" cy="502920"/>
          </a:xfrm>
          <a:prstGeom prst="rect">
            <a:avLst/>
          </a:prstGeom>
          <a:noFill/>
          <a:ln/>
        </p:spPr>
        <p:txBody>
          <a:bodyPr wrap="square" rtlCol="0" anchor="ctr"/>
          <a:lstStyle/>
          <a:p>
            <a:pPr marL="0" indent="0">
              <a:buNone/>
            </a:pPr>
            <a:r>
              <a:rPr lang="en-US" sz="1700" b="1" dirty="0">
                <a:solidFill>
                  <a:schemeClr val="tx1"/>
                </a:solidFill>
              </a:rPr>
              <a:t>Deliveries</a:t>
            </a:r>
            <a:r>
              <a:rPr lang="en-US" sz="1200" dirty="0">
                <a:solidFill>
                  <a:schemeClr val="tx2"/>
                </a:solidFill>
              </a:rPr>
              <a:t>   :13004 · prefix /deliveries</a:t>
            </a:r>
            <a:endParaRPr lang="en-US" sz="1700" dirty="0"/>
          </a:p>
        </p:txBody>
      </p:sp>
      <p:graphicFrame>
        <p:nvGraphicFramePr>
          <p:cNvPr id="10" name="Deliveries endpoints"/>
          <p:cNvGraphicFramePr>
            <a:graphicFrameLocks noGrp="1"/>
          </p:cNvGraphicFramePr>
          <p:nvPr>
            <p:extLst>
              <p:ext uri="{D42A27DB-BD31-4B8C-83A1-F6EECF244321}">
                <p14:modId xmlns:p14="http://schemas.microsoft.com/office/powerpoint/2010/main" val="1579011935"/>
              </p:ext>
            </p:extLst>
          </p:nvPr>
        </p:nvGraphicFramePr>
        <p:xfrm>
          <a:off x="7132320" y="1920240"/>
          <a:ext cx="4480560" cy="1984248"/>
        </p:xfrm>
        <a:graphic>
          <a:graphicData uri="http://schemas.openxmlformats.org/drawingml/2006/table">
            <a:tbl>
              <a:tblPr/>
              <a:tblGrid>
                <a:gridCol w="685800">
                  <a:extLst>
                    <a:ext uri="{9D8B030D-6E8A-4147-A177-3AD203B41FA5}">
                      <a16:colId xmlns:a16="http://schemas.microsoft.com/office/drawing/2014/main" val="20000"/>
                    </a:ext>
                  </a:extLst>
                </a:gridCol>
                <a:gridCol w="1920240">
                  <a:extLst>
                    <a:ext uri="{9D8B030D-6E8A-4147-A177-3AD203B41FA5}">
                      <a16:colId xmlns:a16="http://schemas.microsoft.com/office/drawing/2014/main" val="20001"/>
                    </a:ext>
                  </a:extLst>
                </a:gridCol>
                <a:gridCol w="1325880">
                  <a:extLst>
                    <a:ext uri="{9D8B030D-6E8A-4147-A177-3AD203B41FA5}">
                      <a16:colId xmlns:a16="http://schemas.microsoft.com/office/drawing/2014/main" val="20002"/>
                    </a:ext>
                  </a:extLst>
                </a:gridCol>
                <a:gridCol w="548640">
                  <a:extLst>
                    <a:ext uri="{9D8B030D-6E8A-4147-A177-3AD203B41FA5}">
                      <a16:colId xmlns:a16="http://schemas.microsoft.com/office/drawing/2014/main" val="20003"/>
                    </a:ext>
                  </a:extLst>
                </a:gridCol>
              </a:tblGrid>
              <a:tr h="283464">
                <a:tc>
                  <a:txBody>
                    <a:bodyPr/>
                    <a:lstStyle/>
                    <a:p>
                      <a:pPr marL="0" indent="0">
                        <a:buNone/>
                      </a:pPr>
                      <a:r>
                        <a:rPr lang="en-US" sz="1200" b="1" dirty="0">
                          <a:solidFill>
                            <a:schemeClr val="bg1"/>
                          </a:solidFill>
                        </a:rPr>
                        <a:t>Method</a:t>
                      </a:r>
                      <a:endParaRPr lang="en-US" sz="1200" dirty="0"/>
                    </a:p>
                  </a:txBody>
                  <a:tcPr marL="54864" marR="54864" marT="27432" marB="27432"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chemeClr val="tx1"/>
                    </a:solidFill>
                  </a:tcPr>
                </a:tc>
                <a:tc>
                  <a:txBody>
                    <a:bodyPr/>
                    <a:lstStyle/>
                    <a:p>
                      <a:pPr marL="0" indent="0">
                        <a:buNone/>
                      </a:pPr>
                      <a:r>
                        <a:rPr lang="en-US" sz="1200" b="1" dirty="0">
                          <a:solidFill>
                            <a:schemeClr val="bg1"/>
                          </a:solidFill>
                        </a:rPr>
                        <a:t>Path</a:t>
                      </a:r>
                      <a:endParaRPr lang="en-US" sz="1200" dirty="0"/>
                    </a:p>
                  </a:txBody>
                  <a:tcPr marL="54864" marR="54864" marT="27432" marB="27432"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chemeClr val="tx1"/>
                    </a:solidFill>
                  </a:tcPr>
                </a:tc>
                <a:tc>
                  <a:txBody>
                    <a:bodyPr/>
                    <a:lstStyle/>
                    <a:p>
                      <a:pPr marL="0" indent="0">
                        <a:buNone/>
                      </a:pPr>
                      <a:r>
                        <a:rPr lang="en-US" sz="1200" b="1" dirty="0">
                          <a:solidFill>
                            <a:schemeClr val="bg1"/>
                          </a:solidFill>
                        </a:rPr>
                        <a:t>Purpose</a:t>
                      </a:r>
                      <a:endParaRPr lang="en-US" sz="1200" dirty="0"/>
                    </a:p>
                  </a:txBody>
                  <a:tcPr marL="54864" marR="54864" marT="27432" marB="27432"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chemeClr val="tx1"/>
                    </a:solidFill>
                  </a:tcPr>
                </a:tc>
                <a:tc>
                  <a:txBody>
                    <a:bodyPr/>
                    <a:lstStyle/>
                    <a:p>
                      <a:pPr marL="0" indent="0">
                        <a:buNone/>
                      </a:pPr>
                      <a:r>
                        <a:rPr lang="en-US" sz="1200" b="1" dirty="0">
                          <a:solidFill>
                            <a:schemeClr val="bg1"/>
                          </a:solidFill>
                        </a:rPr>
                        <a:t>Auth</a:t>
                      </a:r>
                      <a:endParaRPr lang="en-US" sz="1200" dirty="0"/>
                    </a:p>
                  </a:txBody>
                  <a:tcPr marL="54864" marR="54864" marT="27432" marB="27432"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chemeClr val="tx1"/>
                    </a:solidFill>
                  </a:tcPr>
                </a:tc>
                <a:extLst>
                  <a:ext uri="{0D108BD9-81ED-4DB2-BD59-A6C34878D82A}">
                    <a16:rowId xmlns:a16="http://schemas.microsoft.com/office/drawing/2014/main" val="10000"/>
                  </a:ext>
                </a:extLst>
              </a:tr>
              <a:tr h="283464">
                <a:tc>
                  <a:txBody>
                    <a:bodyPr/>
                    <a:lstStyle/>
                    <a:p>
                      <a:pPr marL="0" indent="0">
                        <a:buNone/>
                      </a:pPr>
                      <a:r>
                        <a:rPr lang="en-US" sz="1200" b="1" dirty="0">
                          <a:solidFill>
                            <a:schemeClr val="accent1"/>
                          </a:solidFill>
                        </a:rPr>
                        <a:t>POST</a:t>
                      </a:r>
                      <a:endParaRPr lang="en-US" sz="1200" dirty="0"/>
                    </a:p>
                  </a:txBody>
                  <a:tcPr marL="54864" marR="54864" marT="27432" marB="27432"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chemeClr val="bg1"/>
                    </a:solidFill>
                  </a:tcPr>
                </a:tc>
                <a:tc>
                  <a:txBody>
                    <a:bodyPr/>
                    <a:lstStyle/>
                    <a:p>
                      <a:pPr marL="0" indent="0">
                        <a:buNone/>
                      </a:pPr>
                      <a:r>
                        <a:rPr lang="en-US" sz="1100" dirty="0">
                          <a:solidFill>
                            <a:schemeClr val="tx1"/>
                          </a:solidFill>
                          <a:latin typeface="Courier New" pitchFamily="34" charset="0"/>
                          <a:ea typeface="Courier New" pitchFamily="34" charset="-122"/>
                          <a:cs typeface="Courier New" pitchFamily="34" charset="-120"/>
                        </a:rPr>
                        <a:t>/delivery</a:t>
                      </a:r>
                      <a:endParaRPr lang="en-US" sz="1100" dirty="0">
                        <a:latin typeface="Courier New" charset="0"/>
                        <a:ea typeface="Courier New" charset="0"/>
                        <a:cs typeface="Courier New" charset="0"/>
                      </a:endParaRPr>
                    </a:p>
                  </a:txBody>
                  <a:tcPr marL="54864" marR="54864" marT="27432" marB="27432"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chemeClr val="bg1"/>
                    </a:solidFill>
                  </a:tcPr>
                </a:tc>
                <a:tc>
                  <a:txBody>
                    <a:bodyPr/>
                    <a:lstStyle/>
                    <a:p>
                      <a:pPr marL="0" indent="0">
                        <a:buNone/>
                      </a:pPr>
                      <a:r>
                        <a:rPr lang="en-US" sz="1200" dirty="0">
                          <a:solidFill>
                            <a:schemeClr val="tx1"/>
                          </a:solidFill>
                        </a:rPr>
                        <a:t>Create a delivery</a:t>
                      </a:r>
                      <a:endParaRPr lang="en-US" sz="1200" dirty="0"/>
                    </a:p>
                  </a:txBody>
                  <a:tcPr marL="54864" marR="54864" marT="27432" marB="27432"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chemeClr val="bg1"/>
                    </a:solidFill>
                  </a:tcPr>
                </a:tc>
                <a:tc>
                  <a:txBody>
                    <a:bodyPr/>
                    <a:lstStyle/>
                    <a:p>
                      <a:pPr marL="0" indent="0">
                        <a:buNone/>
                      </a:pPr>
                      <a:r>
                        <a:rPr lang="en-US" sz="1200" b="1" dirty="0">
                          <a:solidFill>
                            <a:schemeClr val="accent1"/>
                          </a:solidFill>
                        </a:rPr>
                        <a:t>JWT</a:t>
                      </a:r>
                      <a:endParaRPr lang="en-US" sz="1200" dirty="0"/>
                    </a:p>
                  </a:txBody>
                  <a:tcPr marL="54864" marR="54864" marT="27432" marB="27432"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chemeClr val="bg1"/>
                    </a:solidFill>
                  </a:tcPr>
                </a:tc>
                <a:extLst>
                  <a:ext uri="{0D108BD9-81ED-4DB2-BD59-A6C34878D82A}">
                    <a16:rowId xmlns:a16="http://schemas.microsoft.com/office/drawing/2014/main" val="10001"/>
                  </a:ext>
                </a:extLst>
              </a:tr>
              <a:tr h="283464">
                <a:tc>
                  <a:txBody>
                    <a:bodyPr/>
                    <a:lstStyle/>
                    <a:p>
                      <a:pPr marL="0" indent="0">
                        <a:buNone/>
                      </a:pPr>
                      <a:r>
                        <a:rPr lang="en-US" sz="1200" b="1" dirty="0">
                          <a:solidFill>
                            <a:schemeClr val="accent2"/>
                          </a:solidFill>
                        </a:rPr>
                        <a:t>GET</a:t>
                      </a:r>
                      <a:endParaRPr lang="en-US" sz="1200" dirty="0"/>
                    </a:p>
                  </a:txBody>
                  <a:tcPr marL="54864" marR="54864" marT="27432" marB="27432"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chemeClr val="bg1"/>
                    </a:solidFill>
                  </a:tcPr>
                </a:tc>
                <a:tc>
                  <a:txBody>
                    <a:bodyPr/>
                    <a:lstStyle/>
                    <a:p>
                      <a:pPr marL="0" indent="0">
                        <a:buNone/>
                      </a:pPr>
                      <a:r>
                        <a:rPr lang="en-US" sz="1100" dirty="0">
                          <a:solidFill>
                            <a:schemeClr val="tx1"/>
                          </a:solidFill>
                          <a:latin typeface="Courier New" pitchFamily="34" charset="0"/>
                          <a:ea typeface="Courier New" pitchFamily="34" charset="-122"/>
                          <a:cs typeface="Courier New" pitchFamily="34" charset="-120"/>
                        </a:rPr>
                        <a:t>/delivery</a:t>
                      </a:r>
                      <a:endParaRPr lang="en-US" sz="1100" dirty="0">
                        <a:latin typeface="Courier New" charset="0"/>
                        <a:ea typeface="Courier New" charset="0"/>
                        <a:cs typeface="Courier New" charset="0"/>
                      </a:endParaRPr>
                    </a:p>
                  </a:txBody>
                  <a:tcPr marL="54864" marR="54864" marT="27432" marB="27432"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chemeClr val="bg1"/>
                    </a:solidFill>
                  </a:tcPr>
                </a:tc>
                <a:tc>
                  <a:txBody>
                    <a:bodyPr/>
                    <a:lstStyle/>
                    <a:p>
                      <a:pPr marL="0" indent="0">
                        <a:buNone/>
                      </a:pPr>
                      <a:r>
                        <a:rPr lang="en-US" sz="1200" dirty="0">
                          <a:solidFill>
                            <a:schemeClr val="tx1"/>
                          </a:solidFill>
                        </a:rPr>
                        <a:t>List deliveries</a:t>
                      </a:r>
                      <a:endParaRPr lang="en-US" sz="1200" dirty="0"/>
                    </a:p>
                  </a:txBody>
                  <a:tcPr marL="54864" marR="54864" marT="27432" marB="27432"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chemeClr val="bg1"/>
                    </a:solidFill>
                  </a:tcPr>
                </a:tc>
                <a:tc>
                  <a:txBody>
                    <a:bodyPr/>
                    <a:lstStyle/>
                    <a:p>
                      <a:pPr marL="0" indent="0">
                        <a:buNone/>
                      </a:pPr>
                      <a:r>
                        <a:rPr lang="en-US" sz="1200" b="1" dirty="0">
                          <a:solidFill>
                            <a:schemeClr val="accent1"/>
                          </a:solidFill>
                        </a:rPr>
                        <a:t>JWT</a:t>
                      </a:r>
                      <a:endParaRPr lang="en-US" sz="1200" dirty="0"/>
                    </a:p>
                  </a:txBody>
                  <a:tcPr marL="54864" marR="54864" marT="27432" marB="27432"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chemeClr val="bg1"/>
                    </a:solidFill>
                  </a:tcPr>
                </a:tc>
                <a:extLst>
                  <a:ext uri="{0D108BD9-81ED-4DB2-BD59-A6C34878D82A}">
                    <a16:rowId xmlns:a16="http://schemas.microsoft.com/office/drawing/2014/main" val="10002"/>
                  </a:ext>
                </a:extLst>
              </a:tr>
              <a:tr h="283464">
                <a:tc>
                  <a:txBody>
                    <a:bodyPr/>
                    <a:lstStyle/>
                    <a:p>
                      <a:pPr marL="0" indent="0">
                        <a:buNone/>
                      </a:pPr>
                      <a:r>
                        <a:rPr lang="en-US" sz="1200" b="1" dirty="0">
                          <a:solidFill>
                            <a:schemeClr val="accent2"/>
                          </a:solidFill>
                        </a:rPr>
                        <a:t>GET</a:t>
                      </a:r>
                      <a:endParaRPr lang="en-US" sz="1200" dirty="0"/>
                    </a:p>
                  </a:txBody>
                  <a:tcPr marL="54864" marR="54864" marT="27432" marB="27432"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chemeClr val="bg1"/>
                    </a:solidFill>
                  </a:tcPr>
                </a:tc>
                <a:tc>
                  <a:txBody>
                    <a:bodyPr/>
                    <a:lstStyle/>
                    <a:p>
                      <a:pPr marL="0" indent="0">
                        <a:buNone/>
                      </a:pPr>
                      <a:r>
                        <a:rPr lang="en-US" sz="1100" dirty="0">
                          <a:solidFill>
                            <a:schemeClr val="tx1"/>
                          </a:solidFill>
                          <a:latin typeface="Courier New" pitchFamily="34" charset="0"/>
                          <a:ea typeface="Courier New" pitchFamily="34" charset="-122"/>
                          <a:cs typeface="Courier New" pitchFamily="34" charset="-120"/>
                        </a:rPr>
                        <a:t>/delivery/{id}</a:t>
                      </a:r>
                      <a:endParaRPr lang="en-US" sz="1100" dirty="0">
                        <a:latin typeface="Courier New" charset="0"/>
                        <a:ea typeface="Courier New" charset="0"/>
                        <a:cs typeface="Courier New" charset="0"/>
                      </a:endParaRPr>
                    </a:p>
                  </a:txBody>
                  <a:tcPr marL="54864" marR="54864" marT="27432" marB="27432"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chemeClr val="bg1"/>
                    </a:solidFill>
                  </a:tcPr>
                </a:tc>
                <a:tc>
                  <a:txBody>
                    <a:bodyPr/>
                    <a:lstStyle/>
                    <a:p>
                      <a:pPr marL="0" indent="0">
                        <a:buNone/>
                      </a:pPr>
                      <a:r>
                        <a:rPr lang="en-US" sz="1200" dirty="0">
                          <a:solidFill>
                            <a:schemeClr val="tx1"/>
                          </a:solidFill>
                        </a:rPr>
                        <a:t>Get a delivery</a:t>
                      </a:r>
                      <a:endParaRPr lang="en-US" sz="1200" dirty="0"/>
                    </a:p>
                  </a:txBody>
                  <a:tcPr marL="54864" marR="54864" marT="27432" marB="27432"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chemeClr val="bg1"/>
                    </a:solidFill>
                  </a:tcPr>
                </a:tc>
                <a:tc>
                  <a:txBody>
                    <a:bodyPr/>
                    <a:lstStyle/>
                    <a:p>
                      <a:pPr marL="0" indent="0">
                        <a:buNone/>
                      </a:pPr>
                      <a:r>
                        <a:rPr lang="en-US" sz="1200" b="1" dirty="0">
                          <a:solidFill>
                            <a:schemeClr val="accent1"/>
                          </a:solidFill>
                        </a:rPr>
                        <a:t>JWT</a:t>
                      </a:r>
                      <a:endParaRPr lang="en-US" sz="1200" dirty="0"/>
                    </a:p>
                  </a:txBody>
                  <a:tcPr marL="54864" marR="54864" marT="27432" marB="27432"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chemeClr val="bg1"/>
                    </a:solidFill>
                  </a:tcPr>
                </a:tc>
                <a:extLst>
                  <a:ext uri="{0D108BD9-81ED-4DB2-BD59-A6C34878D82A}">
                    <a16:rowId xmlns:a16="http://schemas.microsoft.com/office/drawing/2014/main" val="10003"/>
                  </a:ext>
                </a:extLst>
              </a:tr>
              <a:tr h="283464">
                <a:tc>
                  <a:txBody>
                    <a:bodyPr/>
                    <a:lstStyle/>
                    <a:p>
                      <a:pPr marL="0" indent="0">
                        <a:buNone/>
                      </a:pPr>
                      <a:r>
                        <a:rPr lang="en-US" sz="1200" b="1" dirty="0">
                          <a:solidFill>
                            <a:schemeClr val="accent5"/>
                          </a:solidFill>
                        </a:rPr>
                        <a:t>PATCH</a:t>
                      </a:r>
                      <a:endParaRPr lang="en-US" sz="1200" dirty="0"/>
                    </a:p>
                  </a:txBody>
                  <a:tcPr marL="54864" marR="54864" marT="27432" marB="27432"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chemeClr val="bg1"/>
                    </a:solidFill>
                  </a:tcPr>
                </a:tc>
                <a:tc>
                  <a:txBody>
                    <a:bodyPr/>
                    <a:lstStyle/>
                    <a:p>
                      <a:pPr marL="0" indent="0">
                        <a:buNone/>
                      </a:pPr>
                      <a:r>
                        <a:rPr lang="en-US" sz="1100" dirty="0">
                          <a:solidFill>
                            <a:schemeClr val="tx1"/>
                          </a:solidFill>
                          <a:latin typeface="Courier New" pitchFamily="34" charset="0"/>
                          <a:ea typeface="Courier New" pitchFamily="34" charset="-122"/>
                          <a:cs typeface="Courier New" pitchFamily="34" charset="-120"/>
                        </a:rPr>
                        <a:t>/delivery/{id}/status</a:t>
                      </a:r>
                      <a:endParaRPr lang="en-US" sz="1100" dirty="0">
                        <a:latin typeface="Courier New" charset="0"/>
                        <a:ea typeface="Courier New" charset="0"/>
                        <a:cs typeface="Courier New" charset="0"/>
                      </a:endParaRPr>
                    </a:p>
                  </a:txBody>
                  <a:tcPr marL="54864" marR="54864" marT="27432" marB="27432"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chemeClr val="bg1"/>
                    </a:solidFill>
                  </a:tcPr>
                </a:tc>
                <a:tc>
                  <a:txBody>
                    <a:bodyPr/>
                    <a:lstStyle/>
                    <a:p>
                      <a:pPr marL="0" indent="0">
                        <a:buNone/>
                      </a:pPr>
                      <a:r>
                        <a:rPr lang="en-US" sz="1200" dirty="0">
                          <a:solidFill>
                            <a:schemeClr val="tx1"/>
                          </a:solidFill>
                        </a:rPr>
                        <a:t>Sent or Delivered</a:t>
                      </a:r>
                      <a:endParaRPr lang="en-US" sz="1200" dirty="0"/>
                    </a:p>
                  </a:txBody>
                  <a:tcPr marL="54864" marR="54864" marT="27432" marB="27432"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chemeClr val="bg1"/>
                    </a:solidFill>
                  </a:tcPr>
                </a:tc>
                <a:tc>
                  <a:txBody>
                    <a:bodyPr/>
                    <a:lstStyle/>
                    <a:p>
                      <a:pPr marL="0" indent="0">
                        <a:buNone/>
                      </a:pPr>
                      <a:r>
                        <a:rPr lang="en-US" sz="1200" b="1" dirty="0">
                          <a:solidFill>
                            <a:schemeClr val="accent1"/>
                          </a:solidFill>
                        </a:rPr>
                        <a:t>JWT</a:t>
                      </a:r>
                      <a:endParaRPr lang="en-US" sz="1200" dirty="0"/>
                    </a:p>
                  </a:txBody>
                  <a:tcPr marL="54864" marR="54864" marT="27432" marB="27432"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chemeClr val="bg1"/>
                    </a:solidFill>
                  </a:tcPr>
                </a:tc>
                <a:extLst>
                  <a:ext uri="{0D108BD9-81ED-4DB2-BD59-A6C34878D82A}">
                    <a16:rowId xmlns:a16="http://schemas.microsoft.com/office/drawing/2014/main" val="10004"/>
                  </a:ext>
                </a:extLst>
              </a:tr>
              <a:tr h="283464">
                <a:tc>
                  <a:txBody>
                    <a:bodyPr/>
                    <a:lstStyle/>
                    <a:p>
                      <a:pPr marL="0" indent="0">
                        <a:buNone/>
                      </a:pPr>
                      <a:r>
                        <a:rPr lang="en-US" sz="1200" b="1" dirty="0">
                          <a:solidFill>
                            <a:schemeClr val="accent6"/>
                          </a:solidFill>
                        </a:rPr>
                        <a:t>DELETE</a:t>
                      </a:r>
                      <a:endParaRPr lang="en-US" sz="1200" dirty="0"/>
                    </a:p>
                  </a:txBody>
                  <a:tcPr marL="54864" marR="54864" marT="27432" marB="27432"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chemeClr val="bg1"/>
                    </a:solidFill>
                  </a:tcPr>
                </a:tc>
                <a:tc>
                  <a:txBody>
                    <a:bodyPr/>
                    <a:lstStyle/>
                    <a:p>
                      <a:pPr marL="0" indent="0">
                        <a:buNone/>
                      </a:pPr>
                      <a:r>
                        <a:rPr lang="en-US" sz="1100" dirty="0">
                          <a:solidFill>
                            <a:schemeClr val="tx1"/>
                          </a:solidFill>
                          <a:latin typeface="Courier New" pitchFamily="34" charset="0"/>
                          <a:ea typeface="Courier New" pitchFamily="34" charset="-122"/>
                          <a:cs typeface="Courier New" pitchFamily="34" charset="-120"/>
                        </a:rPr>
                        <a:t>/delivery/{id}</a:t>
                      </a:r>
                      <a:endParaRPr lang="en-US" sz="1100" dirty="0">
                        <a:latin typeface="Courier New" charset="0"/>
                        <a:ea typeface="Courier New" charset="0"/>
                        <a:cs typeface="Courier New" charset="0"/>
                      </a:endParaRPr>
                    </a:p>
                  </a:txBody>
                  <a:tcPr marL="54864" marR="54864" marT="27432" marB="27432"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chemeClr val="bg1"/>
                    </a:solidFill>
                  </a:tcPr>
                </a:tc>
                <a:tc>
                  <a:txBody>
                    <a:bodyPr/>
                    <a:lstStyle/>
                    <a:p>
                      <a:pPr marL="0" indent="0">
                        <a:buNone/>
                      </a:pPr>
                      <a:r>
                        <a:rPr lang="en-US" sz="1200" dirty="0">
                          <a:solidFill>
                            <a:schemeClr val="tx1"/>
                          </a:solidFill>
                        </a:rPr>
                        <a:t>Delete a delivery</a:t>
                      </a:r>
                      <a:endParaRPr lang="en-US" sz="1200" dirty="0"/>
                    </a:p>
                  </a:txBody>
                  <a:tcPr marL="54864" marR="54864" marT="27432" marB="27432"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chemeClr val="bg1"/>
                    </a:solidFill>
                  </a:tcPr>
                </a:tc>
                <a:tc>
                  <a:txBody>
                    <a:bodyPr/>
                    <a:lstStyle/>
                    <a:p>
                      <a:pPr marL="0" indent="0">
                        <a:buNone/>
                      </a:pPr>
                      <a:r>
                        <a:rPr lang="en-US" sz="1200" b="1" dirty="0">
                          <a:solidFill>
                            <a:schemeClr val="accent1"/>
                          </a:solidFill>
                        </a:rPr>
                        <a:t>JWT</a:t>
                      </a:r>
                      <a:endParaRPr lang="en-US" sz="1200" dirty="0"/>
                    </a:p>
                  </a:txBody>
                  <a:tcPr marL="54864" marR="54864" marT="27432" marB="27432"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chemeClr val="bg1"/>
                    </a:solidFill>
                  </a:tcPr>
                </a:tc>
                <a:extLst>
                  <a:ext uri="{0D108BD9-81ED-4DB2-BD59-A6C34878D82A}">
                    <a16:rowId xmlns:a16="http://schemas.microsoft.com/office/drawing/2014/main" val="10005"/>
                  </a:ext>
                </a:extLst>
              </a:tr>
              <a:tr h="283464">
                <a:tc>
                  <a:txBody>
                    <a:bodyPr/>
                    <a:lstStyle/>
                    <a:p>
                      <a:pPr marL="0" indent="0">
                        <a:buNone/>
                      </a:pPr>
                      <a:r>
                        <a:rPr lang="en-US" sz="1200" b="1" dirty="0">
                          <a:solidFill>
                            <a:schemeClr val="accent2"/>
                          </a:solidFill>
                        </a:rPr>
                        <a:t>GET</a:t>
                      </a:r>
                      <a:endParaRPr lang="en-US" sz="1200" dirty="0"/>
                    </a:p>
                  </a:txBody>
                  <a:tcPr marL="54864" marR="54864" marT="27432" marB="27432"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chemeClr val="bg1"/>
                    </a:solidFill>
                  </a:tcPr>
                </a:tc>
                <a:tc>
                  <a:txBody>
                    <a:bodyPr/>
                    <a:lstStyle/>
                    <a:p>
                      <a:pPr marL="0" indent="0">
                        <a:buNone/>
                      </a:pPr>
                      <a:r>
                        <a:rPr lang="en-US" sz="1100" dirty="0">
                          <a:solidFill>
                            <a:schemeClr val="tx1"/>
                          </a:solidFill>
                          <a:latin typeface="Courier New" pitchFamily="34" charset="0"/>
                          <a:ea typeface="Courier New" pitchFamily="34" charset="-122"/>
                          <a:cs typeface="Courier New" pitchFamily="34" charset="-120"/>
                        </a:rPr>
                        <a:t>/</a:t>
                      </a:r>
                      <a:endParaRPr lang="en-US" sz="1100" dirty="0">
                        <a:latin typeface="Courier New" charset="0"/>
                        <a:ea typeface="Courier New" charset="0"/>
                        <a:cs typeface="Courier New" charset="0"/>
                      </a:endParaRPr>
                    </a:p>
                  </a:txBody>
                  <a:tcPr marL="54864" marR="54864" marT="27432" marB="27432"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chemeClr val="bg1"/>
                    </a:solidFill>
                  </a:tcPr>
                </a:tc>
                <a:tc>
                  <a:txBody>
                    <a:bodyPr/>
                    <a:lstStyle/>
                    <a:p>
                      <a:pPr marL="0" indent="0">
                        <a:buNone/>
                      </a:pPr>
                      <a:r>
                        <a:rPr lang="en-US" sz="1200" dirty="0">
                          <a:solidFill>
                            <a:schemeClr val="tx1"/>
                          </a:solidFill>
                        </a:rPr>
                        <a:t>Service check</a:t>
                      </a:r>
                      <a:endParaRPr lang="en-US" sz="1200" dirty="0"/>
                    </a:p>
                  </a:txBody>
                  <a:tcPr marL="54864" marR="54864" marT="27432" marB="27432"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chemeClr val="bg1"/>
                    </a:solidFill>
                  </a:tcPr>
                </a:tc>
                <a:tc>
                  <a:txBody>
                    <a:bodyPr/>
                    <a:lstStyle/>
                    <a:p>
                      <a:pPr marL="0" indent="0">
                        <a:buNone/>
                      </a:pPr>
                      <a:r>
                        <a:rPr lang="en-US" sz="1200" dirty="0">
                          <a:solidFill>
                            <a:schemeClr val="accent4"/>
                          </a:solidFill>
                        </a:rPr>
                        <a:t>—</a:t>
                      </a:r>
                      <a:endParaRPr lang="en-US" sz="1200" dirty="0"/>
                    </a:p>
                  </a:txBody>
                  <a:tcPr marL="54864" marR="54864" marT="27432" marB="27432"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chemeClr val="bg1"/>
                    </a:solidFill>
                  </a:tcPr>
                </a:tc>
                <a:extLst>
                  <a:ext uri="{0D108BD9-81ED-4DB2-BD59-A6C34878D82A}">
                    <a16:rowId xmlns:a16="http://schemas.microsoft.com/office/drawing/2014/main" val="10006"/>
                  </a:ext>
                </a:extLst>
              </a:tr>
            </a:tbl>
          </a:graphicData>
        </a:graphic>
      </p:graphicFrame>
      <p:sp>
        <p:nvSpPr>
          <p:cNvPr id="11" name="Endpoint note card"/>
          <p:cNvSpPr/>
          <p:nvPr/>
        </p:nvSpPr>
        <p:spPr>
          <a:xfrm>
            <a:off x="7132320" y="4160520"/>
            <a:ext cx="4480560" cy="1783080"/>
          </a:xfrm>
          <a:prstGeom prst="roundRect">
            <a:avLst>
              <a:gd name="adj" fmla="val 6154"/>
            </a:avLst>
          </a:prstGeom>
          <a:solidFill>
            <a:schemeClr val="bg2"/>
          </a:solidFill>
          <a:ln w="12700">
            <a:solidFill>
              <a:schemeClr val="bg2"/>
            </a:solidFill>
            <a:prstDash val="solid"/>
          </a:ln>
        </p:spPr>
        <p:txBody>
          <a:bodyPr/>
          <a:lstStyle/>
          <a:p>
            <a:endParaRPr lang="es-ES"/>
          </a:p>
        </p:txBody>
      </p:sp>
      <p:sp>
        <p:nvSpPr>
          <p:cNvPr id="12" name="Legacy note"/>
          <p:cNvSpPr txBox="1"/>
          <p:nvPr/>
        </p:nvSpPr>
        <p:spPr>
          <a:xfrm>
            <a:off x="7360920" y="4251960"/>
            <a:ext cx="4023360" cy="1600200"/>
          </a:xfrm>
          <a:prstGeom prst="rect">
            <a:avLst/>
          </a:prstGeom>
          <a:noFill/>
          <a:ln/>
        </p:spPr>
        <p:txBody>
          <a:bodyPr wrap="square" rtlCol="0" anchor="ctr"/>
          <a:lstStyle/>
          <a:p>
            <a:pPr marL="0" indent="0">
              <a:buNone/>
            </a:pPr>
            <a:r>
              <a:rPr lang="en-US" sz="1500" b="1" dirty="0">
                <a:solidFill>
                  <a:schemeClr val="tx1"/>
                </a:solidFill>
              </a:rPr>
              <a:t>Legacy endpoints</a:t>
            </a:r>
            <a:endParaRPr lang="en-US" sz="1500" dirty="0"/>
          </a:p>
          <a:p>
            <a:pPr marL="0" indent="0">
              <a:buNone/>
            </a:pPr>
            <a:r>
              <a:rPr lang="en-US" sz="1300" dirty="0">
                <a:solidFill>
                  <a:schemeClr val="tx1"/>
                </a:solidFill>
              </a:rPr>
              <a:t>PATCH /piece/{id}, PATCH /order/{id}/payment and /piece/by-status are kept for compatibility; that information now arrives as RabbitMQ facts.</a:t>
            </a:r>
            <a:endParaRPr lang="en-US" sz="15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4"/>
                </a:solidFill>
              </a:defRPr>
            </a:lvl1pPr>
          </a:lstStyle>
          <a:p>
            <a:pPr algn="r"/>
            <a:fld id="{F7021451-1387-4CA6-816F-3879F97B5CBC}" type="slidenum">
              <a:rPr lang="en-US" b="0"/>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11064240" cy="822960"/>
          </a:xfrm>
          <a:prstGeom prst="rect">
            <a:avLst/>
          </a:prstGeom>
          <a:noFill/>
          <a:ln/>
        </p:spPr>
        <p:txBody>
          <a:bodyPr wrap="square" rtlCol="0" anchor="ctr"/>
          <a:lstStyle/>
          <a:p>
            <a:pPr marL="0" indent="0" algn="l">
              <a:buNone/>
            </a:pPr>
            <a:r>
              <a:rPr lang="en-US" sz="3000" b="1" dirty="0">
                <a:solidFill>
                  <a:schemeClr val="tx1"/>
                </a:solidFill>
              </a:rPr>
              <a:t>Choreography on one topic exchange</a:t>
            </a:r>
            <a:endParaRPr lang="en-US" sz="3000" dirty="0"/>
          </a:p>
        </p:txBody>
      </p:sp>
      <p:pic>
        <p:nvPicPr>
          <p:cNvPr id="3" name="Messaging diagram" descr="/home/claude/img/project_messaging.png"/>
          <p:cNvPicPr>
            <a:picLocks noChangeAspect="1"/>
          </p:cNvPicPr>
          <p:nvPr/>
        </p:nvPicPr>
        <p:blipFill>
          <a:blip r:embed="rId3"/>
          <a:stretch>
            <a:fillRect/>
          </a:stretch>
        </p:blipFill>
        <p:spPr>
          <a:xfrm>
            <a:off x="1984248" y="1188720"/>
            <a:ext cx="8229600" cy="5029200"/>
          </a:xfrm>
          <a:prstGeom prst="rect">
            <a:avLst/>
          </a:prstGeom>
        </p:spPr>
      </p:pic>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4"/>
                </a:solidFill>
              </a:defRPr>
            </a:lvl1pPr>
          </a:lstStyle>
          <a:p>
            <a:pPr algn="r"/>
            <a:fld id="{F7021451-1387-4CA6-816F-3879F97B5CBC}" type="slidenum">
              <a:rPr lang="en-US" b="0"/>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11064240" cy="822960"/>
          </a:xfrm>
          <a:prstGeom prst="rect">
            <a:avLst/>
          </a:prstGeom>
          <a:noFill/>
          <a:ln/>
        </p:spPr>
        <p:txBody>
          <a:bodyPr wrap="square" rtlCol="0" anchor="ctr"/>
          <a:lstStyle/>
          <a:p>
            <a:pPr marL="0" indent="0" algn="l">
              <a:buNone/>
            </a:pPr>
            <a:r>
              <a:rPr lang="en-US" sz="3000" b="1" dirty="0">
                <a:solidFill>
                  <a:schemeClr val="tx1"/>
                </a:solidFill>
              </a:rPr>
              <a:t>Exchange, queues and topics</a:t>
            </a:r>
            <a:endParaRPr lang="en-US" sz="3000" dirty="0"/>
          </a:p>
        </p:txBody>
      </p:sp>
      <p:graphicFrame>
        <p:nvGraphicFramePr>
          <p:cNvPr id="7" name="Events table"/>
          <p:cNvGraphicFramePr>
            <a:graphicFrameLocks noGrp="1"/>
          </p:cNvGraphicFramePr>
          <p:nvPr>
            <p:extLst>
              <p:ext uri="{D42A27DB-BD31-4B8C-83A1-F6EECF244321}">
                <p14:modId xmlns:p14="http://schemas.microsoft.com/office/powerpoint/2010/main" val="1579011935"/>
              </p:ext>
            </p:extLst>
          </p:nvPr>
        </p:nvGraphicFramePr>
        <p:xfrm>
          <a:off x="548640" y="1280160"/>
          <a:ext cx="7772400" cy="4358640"/>
        </p:xfrm>
        <a:graphic>
          <a:graphicData uri="http://schemas.openxmlformats.org/drawingml/2006/table">
            <a:tbl>
              <a:tblPr/>
              <a:tblGrid>
                <a:gridCol w="3200400">
                  <a:extLst>
                    <a:ext uri="{9D8B030D-6E8A-4147-A177-3AD203B41FA5}">
                      <a16:colId xmlns:a16="http://schemas.microsoft.com/office/drawing/2014/main" val="20000"/>
                    </a:ext>
                  </a:extLst>
                </a:gridCol>
                <a:gridCol w="1143000">
                  <a:extLst>
                    <a:ext uri="{9D8B030D-6E8A-4147-A177-3AD203B41FA5}">
                      <a16:colId xmlns:a16="http://schemas.microsoft.com/office/drawing/2014/main" val="20001"/>
                    </a:ext>
                  </a:extLst>
                </a:gridCol>
                <a:gridCol w="3429000">
                  <a:extLst>
                    <a:ext uri="{9D8B030D-6E8A-4147-A177-3AD203B41FA5}">
                      <a16:colId xmlns:a16="http://schemas.microsoft.com/office/drawing/2014/main" val="20002"/>
                    </a:ext>
                  </a:extLst>
                </a:gridCol>
              </a:tblGrid>
              <a:tr h="393192">
                <a:tc>
                  <a:txBody>
                    <a:bodyPr/>
                    <a:lstStyle/>
                    <a:p>
                      <a:pPr marL="0" indent="0">
                        <a:buNone/>
                      </a:pPr>
                      <a:r>
                        <a:rPr lang="en-US" sz="1200" b="1" dirty="0">
                          <a:solidFill>
                            <a:schemeClr val="bg1"/>
                          </a:solidFill>
                        </a:rPr>
                        <a:t>Fact (routing key)</a:t>
                      </a:r>
                      <a:endParaRPr lang="en-US" sz="1200" dirty="0"/>
                    </a:p>
                  </a:txBody>
                  <a:tcPr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chemeClr val="tx1"/>
                    </a:solidFill>
                  </a:tcPr>
                </a:tc>
                <a:tc>
                  <a:txBody>
                    <a:bodyPr/>
                    <a:lstStyle/>
                    <a:p>
                      <a:pPr marL="0" indent="0">
                        <a:buNone/>
                      </a:pPr>
                      <a:r>
                        <a:rPr lang="en-US" sz="1200" b="1" dirty="0">
                          <a:solidFill>
                            <a:schemeClr val="bg1"/>
                          </a:solidFill>
                        </a:rPr>
                        <a:t>Publisher</a:t>
                      </a:r>
                      <a:endParaRPr lang="en-US" sz="1200" dirty="0"/>
                    </a:p>
                  </a:txBody>
                  <a:tcPr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chemeClr val="tx1"/>
                    </a:solidFill>
                  </a:tcPr>
                </a:tc>
                <a:tc>
                  <a:txBody>
                    <a:bodyPr/>
                    <a:lstStyle/>
                    <a:p>
                      <a:pPr marL="0" indent="0">
                        <a:buNone/>
                      </a:pPr>
                      <a:r>
                        <a:rPr lang="en-US" sz="1200" b="1" dirty="0">
                          <a:solidFill>
                            <a:schemeClr val="bg1"/>
                          </a:solidFill>
                        </a:rPr>
                        <a:t>Subscribed queues</a:t>
                      </a:r>
                      <a:endParaRPr lang="en-US" sz="1200" dirty="0"/>
                    </a:p>
                  </a:txBody>
                  <a:tcPr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chemeClr val="tx1"/>
                    </a:solidFill>
                  </a:tcPr>
                </a:tc>
                <a:extLst>
                  <a:ext uri="{0D108BD9-81ED-4DB2-BD59-A6C34878D82A}">
                    <a16:rowId xmlns:a16="http://schemas.microsoft.com/office/drawing/2014/main" val="10000"/>
                  </a:ext>
                </a:extLst>
              </a:tr>
              <a:tr h="393192">
                <a:tc>
                  <a:txBody>
                    <a:bodyPr/>
                    <a:lstStyle/>
                    <a:p>
                      <a:pPr marL="0" indent="0">
                        <a:buNone/>
                      </a:pPr>
                      <a:r>
                        <a:rPr lang="en-US" sz="1100" b="1" dirty="0">
                          <a:solidFill>
                            <a:schemeClr val="tx1"/>
                          </a:solidFill>
                          <a:latin typeface="Courier New" pitchFamily="34" charset="0"/>
                          <a:ea typeface="Courier New" pitchFamily="34" charset="-122"/>
                          <a:cs typeface="Courier New" pitchFamily="34" charset="-120"/>
                        </a:rPr>
                        <a:t>client.created</a:t>
                      </a:r>
                      <a:endParaRPr lang="en-US" sz="1100" dirty="0">
                        <a:latin typeface="Courier New" charset="0"/>
                        <a:ea typeface="Courier New" charset="0"/>
                        <a:cs typeface="Courier New" charset="0"/>
                      </a:endParaRPr>
                    </a:p>
                  </a:txBody>
                  <a:tcPr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chemeClr val="bg1"/>
                    </a:solidFill>
                  </a:tcPr>
                </a:tc>
                <a:tc>
                  <a:txBody>
                    <a:bodyPr/>
                    <a:lstStyle/>
                    <a:p>
                      <a:pPr marL="0" indent="0">
                        <a:buNone/>
                      </a:pPr>
                      <a:r>
                        <a:rPr lang="en-US" sz="1200" dirty="0">
                          <a:solidFill>
                            <a:schemeClr val="tx1"/>
                          </a:solidFill>
                        </a:rPr>
                        <a:t>Clients</a:t>
                      </a:r>
                      <a:endParaRPr lang="en-US" sz="1200" dirty="0"/>
                    </a:p>
                  </a:txBody>
                  <a:tcPr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chemeClr val="bg1"/>
                    </a:solidFill>
                  </a:tcPr>
                </a:tc>
                <a:tc>
                  <a:txBody>
                    <a:bodyPr/>
                    <a:lstStyle/>
                    <a:p>
                      <a:pPr marL="0" indent="0">
                        <a:buNone/>
                      </a:pPr>
                      <a:r>
                        <a:rPr lang="en-US" sz="1200" dirty="0">
                          <a:solidFill>
                            <a:schemeClr val="tx1"/>
                          </a:solidFill>
                        </a:rPr>
                        <a:t>order.domain, payment.domain, audit</a:t>
                      </a:r>
                      <a:endParaRPr lang="en-US" sz="1200" dirty="0"/>
                    </a:p>
                  </a:txBody>
                  <a:tcPr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chemeClr val="bg1"/>
                    </a:solidFill>
                  </a:tcPr>
                </a:tc>
                <a:extLst>
                  <a:ext uri="{0D108BD9-81ED-4DB2-BD59-A6C34878D82A}">
                    <a16:rowId xmlns:a16="http://schemas.microsoft.com/office/drawing/2014/main" val="10001"/>
                  </a:ext>
                </a:extLst>
              </a:tr>
              <a:tr h="393192">
                <a:tc>
                  <a:txBody>
                    <a:bodyPr/>
                    <a:lstStyle/>
                    <a:p>
                      <a:pPr marL="0" indent="0">
                        <a:buNone/>
                      </a:pPr>
                      <a:r>
                        <a:rPr lang="en-US" sz="1100" b="1" dirty="0">
                          <a:solidFill>
                            <a:schemeClr val="tx1"/>
                          </a:solidFill>
                          <a:latin typeface="Courier New" pitchFamily="34" charset="0"/>
                          <a:ea typeface="Courier New" pitchFamily="34" charset="-122"/>
                          <a:cs typeface="Courier New" pitchFamily="34" charset="-120"/>
                        </a:rPr>
                        <a:t>clients.catalogue.published</a:t>
                      </a:r>
                      <a:endParaRPr lang="en-US" sz="1100" dirty="0">
                        <a:latin typeface="Courier New" charset="0"/>
                        <a:ea typeface="Courier New" charset="0"/>
                        <a:cs typeface="Courier New" charset="0"/>
                      </a:endParaRPr>
                    </a:p>
                  </a:txBody>
                  <a:tcPr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chemeClr val="bg1"/>
                    </a:solidFill>
                  </a:tcPr>
                </a:tc>
                <a:tc>
                  <a:txBody>
                    <a:bodyPr/>
                    <a:lstStyle/>
                    <a:p>
                      <a:pPr marL="0" indent="0">
                        <a:buNone/>
                      </a:pPr>
                      <a:r>
                        <a:rPr lang="en-US" sz="1200" dirty="0">
                          <a:solidFill>
                            <a:schemeClr val="tx1"/>
                          </a:solidFill>
                        </a:rPr>
                        <a:t>Clients</a:t>
                      </a:r>
                      <a:endParaRPr lang="en-US" sz="1200" dirty="0"/>
                    </a:p>
                  </a:txBody>
                  <a:tcPr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chemeClr val="bg1"/>
                    </a:solidFill>
                  </a:tcPr>
                </a:tc>
                <a:tc>
                  <a:txBody>
                    <a:bodyPr/>
                    <a:lstStyle/>
                    <a:p>
                      <a:pPr marL="0" indent="0">
                        <a:buNone/>
                      </a:pPr>
                      <a:r>
                        <a:rPr lang="en-US" sz="1200" dirty="0">
                          <a:solidFill>
                            <a:schemeClr val="tx1"/>
                          </a:solidFill>
                        </a:rPr>
                        <a:t>order.domain, payment.domain</a:t>
                      </a:r>
                      <a:endParaRPr lang="en-US" sz="1200" dirty="0"/>
                    </a:p>
                  </a:txBody>
                  <a:tcPr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chemeClr val="bg1"/>
                    </a:solidFill>
                  </a:tcPr>
                </a:tc>
                <a:extLst>
                  <a:ext uri="{0D108BD9-81ED-4DB2-BD59-A6C34878D82A}">
                    <a16:rowId xmlns:a16="http://schemas.microsoft.com/office/drawing/2014/main" val="10002"/>
                  </a:ext>
                </a:extLst>
              </a:tr>
              <a:tr h="393192">
                <a:tc>
                  <a:txBody>
                    <a:bodyPr/>
                    <a:lstStyle/>
                    <a:p>
                      <a:pPr marL="0" indent="0">
                        <a:buNone/>
                      </a:pPr>
                      <a:r>
                        <a:rPr lang="en-US" sz="1100" b="1" dirty="0">
                          <a:solidFill>
                            <a:schemeClr val="tx1"/>
                          </a:solidFill>
                          <a:latin typeface="Courier New" pitchFamily="34" charset="0"/>
                          <a:ea typeface="Courier New" pitchFamily="34" charset="-122"/>
                          <a:cs typeface="Courier New" pitchFamily="34" charset="-120"/>
                        </a:rPr>
                        <a:t>auth.signing-key.published</a:t>
                      </a:r>
                      <a:endParaRPr lang="en-US" sz="1100" dirty="0">
                        <a:latin typeface="Courier New" charset="0"/>
                        <a:ea typeface="Courier New" charset="0"/>
                        <a:cs typeface="Courier New" charset="0"/>
                      </a:endParaRPr>
                    </a:p>
                  </a:txBody>
                  <a:tcPr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chemeClr val="bg1"/>
                    </a:solidFill>
                  </a:tcPr>
                </a:tc>
                <a:tc>
                  <a:txBody>
                    <a:bodyPr/>
                    <a:lstStyle/>
                    <a:p>
                      <a:pPr marL="0" indent="0">
                        <a:buNone/>
                      </a:pPr>
                      <a:r>
                        <a:rPr lang="en-US" sz="1200" dirty="0">
                          <a:solidFill>
                            <a:schemeClr val="tx1"/>
                          </a:solidFill>
                        </a:rPr>
                        <a:t>Clients</a:t>
                      </a:r>
                      <a:endParaRPr lang="en-US" sz="1200" dirty="0"/>
                    </a:p>
                  </a:txBody>
                  <a:tcPr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chemeClr val="bg1"/>
                    </a:solidFill>
                  </a:tcPr>
                </a:tc>
                <a:tc>
                  <a:txBody>
                    <a:bodyPr/>
                    <a:lstStyle/>
                    <a:p>
                      <a:pPr marL="0" indent="0">
                        <a:buNone/>
                      </a:pPr>
                      <a:r>
                        <a:rPr lang="en-US" sz="1200" dirty="0">
                          <a:solidFill>
                            <a:schemeClr val="tx1"/>
                          </a:solidFill>
                        </a:rPr>
                        <a:t>order, payment, machine, delivery</a:t>
                      </a:r>
                      <a:endParaRPr lang="en-US" sz="1200" dirty="0"/>
                    </a:p>
                  </a:txBody>
                  <a:tcPr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chemeClr val="bg1"/>
                    </a:solidFill>
                  </a:tcPr>
                </a:tc>
                <a:extLst>
                  <a:ext uri="{0D108BD9-81ED-4DB2-BD59-A6C34878D82A}">
                    <a16:rowId xmlns:a16="http://schemas.microsoft.com/office/drawing/2014/main" val="10003"/>
                  </a:ext>
                </a:extLst>
              </a:tr>
              <a:tr h="393192">
                <a:tc>
                  <a:txBody>
                    <a:bodyPr/>
                    <a:lstStyle/>
                    <a:p>
                      <a:pPr marL="0" indent="0">
                        <a:buNone/>
                      </a:pPr>
                      <a:r>
                        <a:rPr lang="en-US" sz="1100" b="1" dirty="0">
                          <a:solidFill>
                            <a:schemeClr val="tx1"/>
                          </a:solidFill>
                          <a:latin typeface="Courier New" pitchFamily="34" charset="0"/>
                          <a:ea typeface="Courier New" pitchFamily="34" charset="-122"/>
                          <a:cs typeface="Courier New" pitchFamily="34" charset="-120"/>
                        </a:rPr>
                        <a:t>order.created</a:t>
                      </a:r>
                      <a:endParaRPr lang="en-US" sz="1100" dirty="0">
                        <a:latin typeface="Courier New" charset="0"/>
                        <a:ea typeface="Courier New" charset="0"/>
                        <a:cs typeface="Courier New" charset="0"/>
                      </a:endParaRPr>
                    </a:p>
                  </a:txBody>
                  <a:tcPr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chemeClr val="bg1"/>
                    </a:solidFill>
                  </a:tcPr>
                </a:tc>
                <a:tc>
                  <a:txBody>
                    <a:bodyPr/>
                    <a:lstStyle/>
                    <a:p>
                      <a:pPr marL="0" indent="0">
                        <a:buNone/>
                      </a:pPr>
                      <a:r>
                        <a:rPr lang="en-US" sz="1200" dirty="0">
                          <a:solidFill>
                            <a:schemeClr val="tx1"/>
                          </a:solidFill>
                        </a:rPr>
                        <a:t>Orders</a:t>
                      </a:r>
                      <a:endParaRPr lang="en-US" sz="1200" dirty="0"/>
                    </a:p>
                  </a:txBody>
                  <a:tcPr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chemeClr val="bg1"/>
                    </a:solidFill>
                  </a:tcPr>
                </a:tc>
                <a:tc>
                  <a:txBody>
                    <a:bodyPr/>
                    <a:lstStyle/>
                    <a:p>
                      <a:pPr marL="0" indent="0">
                        <a:buNone/>
                      </a:pPr>
                      <a:r>
                        <a:rPr lang="en-US" sz="1200" dirty="0">
                          <a:solidFill>
                            <a:schemeClr val="tx1"/>
                          </a:solidFill>
                        </a:rPr>
                        <a:t>payment.domain, audit</a:t>
                      </a:r>
                      <a:endParaRPr lang="en-US" sz="1200" dirty="0"/>
                    </a:p>
                  </a:txBody>
                  <a:tcPr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chemeClr val="bg1"/>
                    </a:solidFill>
                  </a:tcPr>
                </a:tc>
                <a:extLst>
                  <a:ext uri="{0D108BD9-81ED-4DB2-BD59-A6C34878D82A}">
                    <a16:rowId xmlns:a16="http://schemas.microsoft.com/office/drawing/2014/main" val="10004"/>
                  </a:ext>
                </a:extLst>
              </a:tr>
              <a:tr h="393192">
                <a:tc>
                  <a:txBody>
                    <a:bodyPr/>
                    <a:lstStyle/>
                    <a:p>
                      <a:pPr marL="0" indent="0">
                        <a:buNone/>
                      </a:pPr>
                      <a:r>
                        <a:rPr lang="en-US" sz="1100" b="1" dirty="0">
                          <a:solidFill>
                            <a:schemeClr val="tx1"/>
                          </a:solidFill>
                          <a:latin typeface="Courier New" pitchFamily="34" charset="0"/>
                          <a:ea typeface="Courier New" pitchFamily="34" charset="-122"/>
                          <a:cs typeface="Courier New" pitchFamily="34" charset="-120"/>
                        </a:rPr>
                        <a:t>payment.approved / rejected</a:t>
                      </a:r>
                      <a:endParaRPr lang="en-US" sz="1100" dirty="0">
                        <a:latin typeface="Courier New" charset="0"/>
                        <a:ea typeface="Courier New" charset="0"/>
                        <a:cs typeface="Courier New" charset="0"/>
                      </a:endParaRPr>
                    </a:p>
                  </a:txBody>
                  <a:tcPr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chemeClr val="bg1"/>
                    </a:solidFill>
                  </a:tcPr>
                </a:tc>
                <a:tc>
                  <a:txBody>
                    <a:bodyPr/>
                    <a:lstStyle/>
                    <a:p>
                      <a:pPr marL="0" indent="0">
                        <a:buNone/>
                      </a:pPr>
                      <a:r>
                        <a:rPr lang="en-US" sz="1200" dirty="0">
                          <a:solidFill>
                            <a:schemeClr val="tx1"/>
                          </a:solidFill>
                        </a:rPr>
                        <a:t>Payments</a:t>
                      </a:r>
                      <a:endParaRPr lang="en-US" sz="1200" dirty="0"/>
                    </a:p>
                  </a:txBody>
                  <a:tcPr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chemeClr val="bg1"/>
                    </a:solidFill>
                  </a:tcPr>
                </a:tc>
                <a:tc>
                  <a:txBody>
                    <a:bodyPr/>
                    <a:lstStyle/>
                    <a:p>
                      <a:pPr marL="0" indent="0">
                        <a:buNone/>
                      </a:pPr>
                      <a:r>
                        <a:rPr lang="en-US" sz="1200" dirty="0">
                          <a:solidFill>
                            <a:schemeClr val="tx1"/>
                          </a:solidFill>
                        </a:rPr>
                        <a:t>order.domain, audit</a:t>
                      </a:r>
                      <a:endParaRPr lang="en-US" sz="1200" dirty="0"/>
                    </a:p>
                  </a:txBody>
                  <a:tcPr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chemeClr val="bg1"/>
                    </a:solidFill>
                  </a:tcPr>
                </a:tc>
                <a:extLst>
                  <a:ext uri="{0D108BD9-81ED-4DB2-BD59-A6C34878D82A}">
                    <a16:rowId xmlns:a16="http://schemas.microsoft.com/office/drawing/2014/main" val="10005"/>
                  </a:ext>
                </a:extLst>
              </a:tr>
              <a:tr h="393192">
                <a:tc>
                  <a:txBody>
                    <a:bodyPr/>
                    <a:lstStyle/>
                    <a:p>
                      <a:pPr marL="0" indent="0">
                        <a:buNone/>
                      </a:pPr>
                      <a:r>
                        <a:rPr lang="en-US" sz="1100" b="1" dirty="0">
                          <a:solidFill>
                            <a:schemeClr val="tx1"/>
                          </a:solidFill>
                          <a:latin typeface="Courier New" pitchFamily="34" charset="0"/>
                          <a:ea typeface="Courier New" pitchFamily="34" charset="-122"/>
                          <a:cs typeface="Courier New" pitchFamily="34" charset="-120"/>
                        </a:rPr>
                        <a:t>order.paid</a:t>
                      </a:r>
                      <a:endParaRPr lang="en-US" sz="1100" dirty="0">
                        <a:latin typeface="Courier New" charset="0"/>
                        <a:ea typeface="Courier New" charset="0"/>
                        <a:cs typeface="Courier New" charset="0"/>
                      </a:endParaRPr>
                    </a:p>
                  </a:txBody>
                  <a:tcPr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chemeClr val="bg1"/>
                    </a:solidFill>
                  </a:tcPr>
                </a:tc>
                <a:tc>
                  <a:txBody>
                    <a:bodyPr/>
                    <a:lstStyle/>
                    <a:p>
                      <a:pPr marL="0" indent="0">
                        <a:buNone/>
                      </a:pPr>
                      <a:r>
                        <a:rPr lang="en-US" sz="1200" dirty="0">
                          <a:solidFill>
                            <a:schemeClr val="tx1"/>
                          </a:solidFill>
                        </a:rPr>
                        <a:t>Orders</a:t>
                      </a:r>
                      <a:endParaRPr lang="en-US" sz="1200" dirty="0"/>
                    </a:p>
                  </a:txBody>
                  <a:tcPr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chemeClr val="bg1"/>
                    </a:solidFill>
                  </a:tcPr>
                </a:tc>
                <a:tc>
                  <a:txBody>
                    <a:bodyPr/>
                    <a:lstStyle/>
                    <a:p>
                      <a:pPr marL="0" indent="0">
                        <a:buNone/>
                      </a:pPr>
                      <a:r>
                        <a:rPr lang="en-US" sz="1200" dirty="0">
                          <a:solidFill>
                            <a:schemeClr val="tx1"/>
                          </a:solidFill>
                        </a:rPr>
                        <a:t>machine.domain, delivery.domain, audit</a:t>
                      </a:r>
                      <a:endParaRPr lang="en-US" sz="1200" dirty="0"/>
                    </a:p>
                  </a:txBody>
                  <a:tcPr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chemeClr val="bg1"/>
                    </a:solidFill>
                  </a:tcPr>
                </a:tc>
                <a:extLst>
                  <a:ext uri="{0D108BD9-81ED-4DB2-BD59-A6C34878D82A}">
                    <a16:rowId xmlns:a16="http://schemas.microsoft.com/office/drawing/2014/main" val="10006"/>
                  </a:ext>
                </a:extLst>
              </a:tr>
              <a:tr h="393192">
                <a:tc>
                  <a:txBody>
                    <a:bodyPr/>
                    <a:lstStyle/>
                    <a:p>
                      <a:pPr marL="0" indent="0">
                        <a:buNone/>
                      </a:pPr>
                      <a:r>
                        <a:rPr lang="en-US" sz="1100" b="1" dirty="0">
                          <a:solidFill>
                            <a:schemeClr val="tx1"/>
                          </a:solidFill>
                          <a:latin typeface="Courier New" pitchFamily="34" charset="0"/>
                          <a:ea typeface="Courier New" pitchFamily="34" charset="-122"/>
                          <a:cs typeface="Courier New" pitchFamily="34" charset="-120"/>
                        </a:rPr>
                        <a:t>piece.manufacturing.started</a:t>
                      </a:r>
                      <a:endParaRPr lang="en-US" sz="1100" dirty="0">
                        <a:latin typeface="Courier New" charset="0"/>
                        <a:ea typeface="Courier New" charset="0"/>
                        <a:cs typeface="Courier New" charset="0"/>
                      </a:endParaRPr>
                    </a:p>
                  </a:txBody>
                  <a:tcPr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chemeClr val="bg1"/>
                    </a:solidFill>
                  </a:tcPr>
                </a:tc>
                <a:tc>
                  <a:txBody>
                    <a:bodyPr/>
                    <a:lstStyle/>
                    <a:p>
                      <a:pPr marL="0" indent="0">
                        <a:buNone/>
                      </a:pPr>
                      <a:r>
                        <a:rPr lang="en-US" sz="1200" dirty="0">
                          <a:solidFill>
                            <a:schemeClr val="tx1"/>
                          </a:solidFill>
                        </a:rPr>
                        <a:t>Machine</a:t>
                      </a:r>
                      <a:endParaRPr lang="en-US" sz="1200" dirty="0"/>
                    </a:p>
                  </a:txBody>
                  <a:tcPr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chemeClr val="bg1"/>
                    </a:solidFill>
                  </a:tcPr>
                </a:tc>
                <a:tc>
                  <a:txBody>
                    <a:bodyPr/>
                    <a:lstStyle/>
                    <a:p>
                      <a:pPr marL="0" indent="0">
                        <a:buNone/>
                      </a:pPr>
                      <a:r>
                        <a:rPr lang="en-US" sz="1200" dirty="0">
                          <a:solidFill>
                            <a:schemeClr val="tx1"/>
                          </a:solidFill>
                        </a:rPr>
                        <a:t>order.domain, audit</a:t>
                      </a:r>
                      <a:endParaRPr lang="en-US" sz="1200" dirty="0"/>
                    </a:p>
                  </a:txBody>
                  <a:tcPr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chemeClr val="bg1"/>
                    </a:solidFill>
                  </a:tcPr>
                </a:tc>
                <a:extLst>
                  <a:ext uri="{0D108BD9-81ED-4DB2-BD59-A6C34878D82A}">
                    <a16:rowId xmlns:a16="http://schemas.microsoft.com/office/drawing/2014/main" val="10007"/>
                  </a:ext>
                </a:extLst>
              </a:tr>
              <a:tr h="393192">
                <a:tc>
                  <a:txBody>
                    <a:bodyPr/>
                    <a:lstStyle/>
                    <a:p>
                      <a:pPr marL="0" indent="0">
                        <a:buNone/>
                      </a:pPr>
                      <a:r>
                        <a:rPr lang="en-US" sz="1100" b="1" dirty="0">
                          <a:solidFill>
                            <a:schemeClr val="tx1"/>
                          </a:solidFill>
                          <a:latin typeface="Courier New" pitchFamily="34" charset="0"/>
                          <a:ea typeface="Courier New" pitchFamily="34" charset="-122"/>
                          <a:cs typeface="Courier New" pitchFamily="34" charset="-120"/>
                        </a:rPr>
                        <a:t>piece.manufactured</a:t>
                      </a:r>
                      <a:endParaRPr lang="en-US" sz="1100" dirty="0">
                        <a:latin typeface="Courier New" charset="0"/>
                        <a:ea typeface="Courier New" charset="0"/>
                        <a:cs typeface="Courier New" charset="0"/>
                      </a:endParaRPr>
                    </a:p>
                  </a:txBody>
                  <a:tcPr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chemeClr val="bg1"/>
                    </a:solidFill>
                  </a:tcPr>
                </a:tc>
                <a:tc>
                  <a:txBody>
                    <a:bodyPr/>
                    <a:lstStyle/>
                    <a:p>
                      <a:pPr marL="0" indent="0">
                        <a:buNone/>
                      </a:pPr>
                      <a:r>
                        <a:rPr lang="en-US" sz="1200" dirty="0">
                          <a:solidFill>
                            <a:schemeClr val="tx1"/>
                          </a:solidFill>
                        </a:rPr>
                        <a:t>Machine</a:t>
                      </a:r>
                      <a:endParaRPr lang="en-US" sz="1200" dirty="0"/>
                    </a:p>
                  </a:txBody>
                  <a:tcPr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chemeClr val="bg1"/>
                    </a:solidFill>
                  </a:tcPr>
                </a:tc>
                <a:tc>
                  <a:txBody>
                    <a:bodyPr/>
                    <a:lstStyle/>
                    <a:p>
                      <a:pPr marL="0" indent="0">
                        <a:buNone/>
                      </a:pPr>
                      <a:r>
                        <a:rPr lang="en-US" sz="1200" dirty="0">
                          <a:solidFill>
                            <a:schemeClr val="tx1"/>
                          </a:solidFill>
                        </a:rPr>
                        <a:t>order.domain, audit</a:t>
                      </a:r>
                      <a:endParaRPr lang="en-US" sz="1200" dirty="0"/>
                    </a:p>
                  </a:txBody>
                  <a:tcPr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chemeClr val="bg1"/>
                    </a:solidFill>
                  </a:tcPr>
                </a:tc>
                <a:extLst>
                  <a:ext uri="{0D108BD9-81ED-4DB2-BD59-A6C34878D82A}">
                    <a16:rowId xmlns:a16="http://schemas.microsoft.com/office/drawing/2014/main" val="10008"/>
                  </a:ext>
                </a:extLst>
              </a:tr>
              <a:tr h="393192">
                <a:tc>
                  <a:txBody>
                    <a:bodyPr/>
                    <a:lstStyle/>
                    <a:p>
                      <a:pPr marL="0" indent="0">
                        <a:buNone/>
                      </a:pPr>
                      <a:r>
                        <a:rPr lang="en-US" sz="1100" b="1" dirty="0">
                          <a:solidFill>
                            <a:schemeClr val="tx1"/>
                          </a:solidFill>
                          <a:latin typeface="Courier New" pitchFamily="34" charset="0"/>
                          <a:ea typeface="Courier New" pitchFamily="34" charset="-122"/>
                          <a:cs typeface="Courier New" pitchFamily="34" charset="-120"/>
                        </a:rPr>
                        <a:t>order.manufactured</a:t>
                      </a:r>
                      <a:endParaRPr lang="en-US" sz="1100" dirty="0">
                        <a:latin typeface="Courier New" charset="0"/>
                        <a:ea typeface="Courier New" charset="0"/>
                        <a:cs typeface="Courier New" charset="0"/>
                      </a:endParaRPr>
                    </a:p>
                  </a:txBody>
                  <a:tcPr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chemeClr val="bg1"/>
                    </a:solidFill>
                  </a:tcPr>
                </a:tc>
                <a:tc>
                  <a:txBody>
                    <a:bodyPr/>
                    <a:lstStyle/>
                    <a:p>
                      <a:pPr marL="0" indent="0">
                        <a:buNone/>
                      </a:pPr>
                      <a:r>
                        <a:rPr lang="en-US" sz="1200" dirty="0">
                          <a:solidFill>
                            <a:schemeClr val="tx1"/>
                          </a:solidFill>
                        </a:rPr>
                        <a:t>Orders</a:t>
                      </a:r>
                      <a:endParaRPr lang="en-US" sz="1200" dirty="0"/>
                    </a:p>
                  </a:txBody>
                  <a:tcPr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chemeClr val="bg1"/>
                    </a:solidFill>
                  </a:tcPr>
                </a:tc>
                <a:tc>
                  <a:txBody>
                    <a:bodyPr/>
                    <a:lstStyle/>
                    <a:p>
                      <a:pPr marL="0" indent="0">
                        <a:buNone/>
                      </a:pPr>
                      <a:r>
                        <a:rPr lang="en-US" sz="1200" dirty="0">
                          <a:solidFill>
                            <a:schemeClr val="tx1"/>
                          </a:solidFill>
                        </a:rPr>
                        <a:t>delivery.domain, audit</a:t>
                      </a:r>
                      <a:endParaRPr lang="en-US" sz="1200" dirty="0"/>
                    </a:p>
                  </a:txBody>
                  <a:tcPr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chemeClr val="bg1"/>
                    </a:solidFill>
                  </a:tcPr>
                </a:tc>
                <a:extLst>
                  <a:ext uri="{0D108BD9-81ED-4DB2-BD59-A6C34878D82A}">
                    <a16:rowId xmlns:a16="http://schemas.microsoft.com/office/drawing/2014/main" val="10009"/>
                  </a:ext>
                </a:extLst>
              </a:tr>
              <a:tr h="393192">
                <a:tc>
                  <a:txBody>
                    <a:bodyPr/>
                    <a:lstStyle/>
                    <a:p>
                      <a:pPr marL="0" indent="0">
                        <a:buNone/>
                      </a:pPr>
                      <a:r>
                        <a:rPr lang="en-US" sz="1100" b="1" dirty="0">
                          <a:solidFill>
                            <a:schemeClr val="tx1"/>
                          </a:solidFill>
                          <a:latin typeface="Courier New" pitchFamily="34" charset="0"/>
                          <a:ea typeface="Courier New" pitchFamily="34" charset="-122"/>
                          <a:cs typeface="Courier New" pitchFamily="34" charset="-120"/>
                        </a:rPr>
                        <a:t>delivery.created / ready / delivered</a:t>
                      </a:r>
                      <a:endParaRPr lang="en-US" sz="1100" dirty="0">
                        <a:latin typeface="Courier New" charset="0"/>
                        <a:ea typeface="Courier New" charset="0"/>
                        <a:cs typeface="Courier New" charset="0"/>
                      </a:endParaRPr>
                    </a:p>
                  </a:txBody>
                  <a:tcPr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chemeClr val="bg1"/>
                    </a:solidFill>
                  </a:tcPr>
                </a:tc>
                <a:tc>
                  <a:txBody>
                    <a:bodyPr/>
                    <a:lstStyle/>
                    <a:p>
                      <a:pPr marL="0" indent="0">
                        <a:buNone/>
                      </a:pPr>
                      <a:r>
                        <a:rPr lang="en-US" sz="1200" dirty="0">
                          <a:solidFill>
                            <a:schemeClr val="tx1"/>
                          </a:solidFill>
                        </a:rPr>
                        <a:t>Deliveries</a:t>
                      </a:r>
                      <a:endParaRPr lang="en-US" sz="1200" dirty="0"/>
                    </a:p>
                  </a:txBody>
                  <a:tcPr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chemeClr val="bg1"/>
                    </a:solidFill>
                  </a:tcPr>
                </a:tc>
                <a:tc>
                  <a:txBody>
                    <a:bodyPr/>
                    <a:lstStyle/>
                    <a:p>
                      <a:pPr marL="0" indent="0">
                        <a:buNone/>
                      </a:pPr>
                      <a:r>
                        <a:rPr lang="en-US" sz="1200" dirty="0">
                          <a:solidFill>
                            <a:schemeClr val="tx1"/>
                          </a:solidFill>
                        </a:rPr>
                        <a:t>order.domain, audit</a:t>
                      </a:r>
                      <a:endParaRPr lang="en-US" sz="1200" dirty="0"/>
                    </a:p>
                  </a:txBody>
                  <a:tcPr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chemeClr val="bg1"/>
                    </a:solidFill>
                  </a:tcPr>
                </a:tc>
                <a:extLst>
                  <a:ext uri="{0D108BD9-81ED-4DB2-BD59-A6C34878D82A}">
                    <a16:rowId xmlns:a16="http://schemas.microsoft.com/office/drawing/2014/main" val="10010"/>
                  </a:ext>
                </a:extLst>
              </a:tr>
            </a:tbl>
          </a:graphicData>
        </a:graphic>
      </p:graphicFrame>
      <p:sp>
        <p:nvSpPr>
          <p:cNvPr id="4" name="Exchange card"/>
          <p:cNvSpPr/>
          <p:nvPr/>
        </p:nvSpPr>
        <p:spPr>
          <a:xfrm>
            <a:off x="8595360" y="1280160"/>
            <a:ext cx="3017520" cy="1325880"/>
          </a:xfrm>
          <a:prstGeom prst="roundRect">
            <a:avLst>
              <a:gd name="adj" fmla="val 8276"/>
            </a:avLst>
          </a:prstGeom>
          <a:solidFill>
            <a:schemeClr val="accent5"/>
          </a:solidFill>
          <a:ln w="12700">
            <a:solidFill>
              <a:schemeClr val="accent5"/>
            </a:solidFill>
            <a:prstDash val="solid"/>
          </a:ln>
        </p:spPr>
        <p:txBody>
          <a:bodyPr/>
          <a:lstStyle/>
          <a:p>
            <a:endParaRPr lang="es-ES"/>
          </a:p>
        </p:txBody>
      </p:sp>
      <p:sp>
        <p:nvSpPr>
          <p:cNvPr id="5" name="Exchange text"/>
          <p:cNvSpPr txBox="1"/>
          <p:nvPr/>
        </p:nvSpPr>
        <p:spPr>
          <a:xfrm>
            <a:off x="8778240" y="1280160"/>
            <a:ext cx="2651760" cy="1325880"/>
          </a:xfrm>
          <a:prstGeom prst="rect">
            <a:avLst/>
          </a:prstGeom>
          <a:noFill/>
          <a:ln/>
        </p:spPr>
        <p:txBody>
          <a:bodyPr wrap="square" rtlCol="0" anchor="ctr"/>
          <a:lstStyle/>
          <a:p>
            <a:pPr marL="0" indent="0">
              <a:buNone/>
            </a:pPr>
            <a:r>
              <a:rPr lang="en-US" sz="2000" b="1" dirty="0">
                <a:solidFill>
                  <a:schemeClr val="bg1"/>
                </a:solidFill>
              </a:rPr>
              <a:t>1 exchange</a:t>
            </a:r>
            <a:endParaRPr lang="en-US" sz="2000" dirty="0"/>
          </a:p>
          <a:p>
            <a:pPr marL="0" indent="0">
              <a:buNone/>
            </a:pPr>
            <a:r>
              <a:rPr lang="en-US" sz="1200" dirty="0">
                <a:solidFill>
                  <a:schemeClr val="bg1"/>
                </a:solidFill>
                <a:latin typeface="Courier New" pitchFamily="34" charset="0"/>
                <a:ea typeface="Courier New" pitchFamily="34" charset="-122"/>
                <a:cs typeface="Courier New" pitchFamily="34" charset="-120"/>
              </a:rPr>
              <a:t>manufacturing.events</a:t>
            </a:r>
            <a:endParaRPr lang="en-US" sz="2000" dirty="0"/>
          </a:p>
          <a:p>
            <a:pPr marL="0" indent="0">
              <a:buNone/>
            </a:pPr>
            <a:r>
              <a:rPr lang="en-US" sz="1300" dirty="0">
                <a:solidFill>
                  <a:schemeClr val="bg1"/>
                </a:solidFill>
              </a:rPr>
              <a:t>topic, durable</a:t>
            </a:r>
            <a:endParaRPr lang="en-US" sz="2000" dirty="0"/>
          </a:p>
        </p:txBody>
      </p:sp>
      <p:sp>
        <p:nvSpPr>
          <p:cNvPr id="6" name="Queues card"/>
          <p:cNvSpPr/>
          <p:nvPr/>
        </p:nvSpPr>
        <p:spPr>
          <a:xfrm>
            <a:off x="8595360" y="2743200"/>
            <a:ext cx="3017520" cy="1463040"/>
          </a:xfrm>
          <a:prstGeom prst="roundRect">
            <a:avLst>
              <a:gd name="adj" fmla="val 7500"/>
            </a:avLst>
          </a:prstGeom>
          <a:solidFill>
            <a:schemeClr val="bg2"/>
          </a:solidFill>
          <a:ln w="12700">
            <a:solidFill>
              <a:schemeClr val="bg2"/>
            </a:solidFill>
            <a:prstDash val="solid"/>
          </a:ln>
        </p:spPr>
        <p:txBody>
          <a:bodyPr/>
          <a:lstStyle/>
          <a:p>
            <a:endParaRPr lang="es-ES"/>
          </a:p>
        </p:txBody>
      </p:sp>
      <p:sp>
        <p:nvSpPr>
          <p:cNvPr id="3" name="Queues text"/>
          <p:cNvSpPr txBox="1"/>
          <p:nvPr/>
        </p:nvSpPr>
        <p:spPr>
          <a:xfrm>
            <a:off x="8778240" y="2743200"/>
            <a:ext cx="2651760" cy="1463040"/>
          </a:xfrm>
          <a:prstGeom prst="rect">
            <a:avLst/>
          </a:prstGeom>
          <a:noFill/>
          <a:ln/>
        </p:spPr>
        <p:txBody>
          <a:bodyPr wrap="square" rtlCol="0" anchor="ctr"/>
          <a:lstStyle/>
          <a:p>
            <a:pPr marL="0" indent="0">
              <a:buNone/>
            </a:pPr>
            <a:r>
              <a:rPr lang="en-US" sz="1800" b="1" dirty="0">
                <a:solidFill>
                  <a:schemeClr val="tx1"/>
                </a:solidFill>
              </a:rPr>
              <a:t>5 durable queues</a:t>
            </a:r>
            <a:endParaRPr lang="en-US" sz="1800" dirty="0"/>
          </a:p>
          <a:p>
            <a:pPr marL="0" indent="0">
              <a:buNone/>
            </a:pPr>
            <a:r>
              <a:rPr lang="en-US" sz="1200" dirty="0">
                <a:solidFill>
                  <a:schemeClr val="tx1"/>
                </a:solidFill>
              </a:rPr>
              <a:t>order, payment, machine, delivery and audit .domain; imported into RabbitMQ at boot</a:t>
            </a:r>
            <a:endParaRPr lang="en-US" sz="1800" dirty="0"/>
          </a:p>
        </p:txBody>
      </p:sp>
      <p:sp>
        <p:nvSpPr>
          <p:cNvPr id="8" name="Envelope card"/>
          <p:cNvSpPr/>
          <p:nvPr/>
        </p:nvSpPr>
        <p:spPr>
          <a:xfrm>
            <a:off x="8595360" y="4343400"/>
            <a:ext cx="3017520" cy="1600200"/>
          </a:xfrm>
          <a:prstGeom prst="roundRect">
            <a:avLst>
              <a:gd name="adj" fmla="val 6857"/>
            </a:avLst>
          </a:prstGeom>
          <a:solidFill>
            <a:schemeClr val="bg2"/>
          </a:solidFill>
          <a:ln w="12700">
            <a:solidFill>
              <a:schemeClr val="bg2"/>
            </a:solidFill>
            <a:prstDash val="solid"/>
          </a:ln>
        </p:spPr>
        <p:txBody>
          <a:bodyPr/>
          <a:lstStyle/>
          <a:p>
            <a:endParaRPr lang="es-ES"/>
          </a:p>
        </p:txBody>
      </p:sp>
      <p:sp>
        <p:nvSpPr>
          <p:cNvPr id="9" name="Envelope text"/>
          <p:cNvSpPr txBox="1"/>
          <p:nvPr/>
        </p:nvSpPr>
        <p:spPr>
          <a:xfrm>
            <a:off x="8778240" y="4343400"/>
            <a:ext cx="2651760" cy="1600200"/>
          </a:xfrm>
          <a:prstGeom prst="rect">
            <a:avLst/>
          </a:prstGeom>
          <a:noFill/>
          <a:ln/>
        </p:spPr>
        <p:txBody>
          <a:bodyPr wrap="square" rtlCol="0" anchor="ctr"/>
          <a:lstStyle/>
          <a:p>
            <a:pPr marL="0" indent="0">
              <a:buNone/>
            </a:pPr>
            <a:r>
              <a:rPr lang="en-US" sz="1500" b="1" dirty="0">
                <a:solidFill>
                  <a:schemeClr val="tx1"/>
                </a:solidFill>
              </a:rPr>
              <a:t>Every fact</a:t>
            </a:r>
            <a:endParaRPr lang="en-US" sz="1500" dirty="0"/>
          </a:p>
          <a:p>
            <a:pPr marL="0" indent="0">
              <a:buNone/>
            </a:pPr>
            <a:r>
              <a:rPr lang="en-US" sz="1000" dirty="0">
                <a:solidFill>
                  <a:schemeClr val="tx1"/>
                </a:solidFill>
                <a:latin typeface="Courier New" pitchFamily="34" charset="0"/>
                <a:ea typeface="Courier New" pitchFamily="34" charset="-122"/>
                <a:cs typeface="Courier New" pitchFamily="34" charset="-120"/>
              </a:rPr>
              <a:t>{event_id, event_type, producer, data}</a:t>
            </a:r>
            <a:endParaRPr lang="en-US" sz="1500" dirty="0"/>
          </a:p>
          <a:p>
            <a:pPr marL="0" indent="0">
              <a:buNone/>
            </a:pPr>
            <a:r>
              <a:rPr lang="en-US" sz="1200" dirty="0">
                <a:solidFill>
                  <a:schemeClr val="tx1"/>
                </a:solidFill>
              </a:rPr>
              <a:t>Persistent, validated with strict Pydantic contracts, deduplicated by event_id</a:t>
            </a:r>
            <a:endParaRPr lang="en-US" sz="1500" dirty="0"/>
          </a:p>
        </p:txBody>
      </p:sp>
      <p:sp>
        <p:nvSpPr>
          <p:cNvPr id="10" name="Audit note"/>
          <p:cNvSpPr txBox="1"/>
          <p:nvPr/>
        </p:nvSpPr>
        <p:spPr>
          <a:xfrm>
            <a:off x="548640" y="5715000"/>
            <a:ext cx="7772400" cy="365760"/>
          </a:xfrm>
          <a:prstGeom prst="rect">
            <a:avLst/>
          </a:prstGeom>
          <a:noFill/>
          <a:ln/>
        </p:spPr>
        <p:txBody>
          <a:bodyPr wrap="square" rtlCol="0" anchor="ctr"/>
          <a:lstStyle/>
          <a:p>
            <a:pPr marL="0" indent="0">
              <a:buNone/>
            </a:pPr>
            <a:r>
              <a:rPr lang="en-US" sz="1200" i="1" dirty="0">
                <a:solidFill>
                  <a:schemeClr val="tx2"/>
                </a:solidFill>
              </a:rPr>
              <a:t>Audit binds client.#, order.#, payment.#, piece.# and delivery.#: 13 fact types in total</a:t>
            </a:r>
            <a:endParaRPr lang="en-US" sz="12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4"/>
                </a:solidFill>
              </a:defRPr>
            </a:lvl1pPr>
          </a:lstStyle>
          <a:p>
            <a:pPr algn="r"/>
            <a:fld id="{F7021451-1387-4CA6-816F-3879F97B5CBC}" type="slidenum">
              <a:rPr lang="en-US" b="0"/>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11064240" cy="822960"/>
          </a:xfrm>
          <a:prstGeom prst="rect">
            <a:avLst/>
          </a:prstGeom>
          <a:noFill/>
          <a:ln/>
        </p:spPr>
        <p:txBody>
          <a:bodyPr wrap="square" rtlCol="0" anchor="ctr"/>
          <a:lstStyle/>
          <a:p>
            <a:pPr marL="0" indent="0" algn="l">
              <a:buNone/>
            </a:pPr>
            <a:r>
              <a:rPr lang="en-US" sz="3000" b="1" dirty="0">
                <a:solidFill>
                  <a:schemeClr val="tx1"/>
                </a:solidFill>
              </a:rPr>
              <a:t>Security measures</a:t>
            </a:r>
            <a:endParaRPr lang="en-US" sz="3000" dirty="0"/>
          </a:p>
        </p:txBody>
      </p:sp>
      <p:sp>
        <p:nvSpPr>
          <p:cNvPr id="3" name="JWT on every API card"/>
          <p:cNvSpPr/>
          <p:nvPr/>
        </p:nvSpPr>
        <p:spPr>
          <a:xfrm>
            <a:off x="548640" y="1280160"/>
            <a:ext cx="3520440" cy="2011680"/>
          </a:xfrm>
          <a:prstGeom prst="roundRect">
            <a:avLst>
              <a:gd name="adj" fmla="val 5455"/>
            </a:avLst>
          </a:prstGeom>
          <a:solidFill>
            <a:schemeClr val="bg2"/>
          </a:solidFill>
          <a:ln w="12700">
            <a:solidFill>
              <a:schemeClr val="bg2"/>
            </a:solidFill>
            <a:prstDash val="solid"/>
          </a:ln>
        </p:spPr>
        <p:txBody>
          <a:bodyPr/>
          <a:lstStyle/>
          <a:p>
            <a:endParaRPr lang="es-ES"/>
          </a:p>
        </p:txBody>
      </p:sp>
      <p:sp>
        <p:nvSpPr>
          <p:cNvPr id="4" name="JWT on every API circle"/>
          <p:cNvSpPr/>
          <p:nvPr/>
        </p:nvSpPr>
        <p:spPr>
          <a:xfrm>
            <a:off x="777240" y="1508760"/>
            <a:ext cx="640080" cy="640080"/>
          </a:xfrm>
          <a:prstGeom prst="ellipse">
            <a:avLst/>
          </a:prstGeom>
          <a:solidFill>
            <a:schemeClr val="accent1"/>
          </a:solidFill>
          <a:ln w="12700">
            <a:solidFill>
              <a:schemeClr val="accent1"/>
            </a:solidFill>
            <a:prstDash val="solid"/>
          </a:ln>
        </p:spPr>
        <p:txBody>
          <a:bodyPr/>
          <a:lstStyle/>
          <a:p>
            <a:endParaRPr lang="es-ES"/>
          </a:p>
        </p:txBody>
      </p:sp>
      <p:pic>
        <p:nvPicPr>
          <p:cNvPr id="5" name="JWT on every API icon" descr="preencoded.png"/>
          <p:cNvPicPr>
            <a:picLocks noChangeAspect="1"/>
          </p:cNvPicPr>
          <p:nvPr/>
        </p:nvPicPr>
        <p:blipFill>
          <a:blip r:embed="rId3"/>
          <a:stretch>
            <a:fillRect/>
          </a:stretch>
        </p:blipFill>
        <p:spPr>
          <a:xfrm>
            <a:off x="937260" y="1668780"/>
            <a:ext cx="320040" cy="320040"/>
          </a:xfrm>
          <a:prstGeom prst="rect">
            <a:avLst/>
          </a:prstGeom>
        </p:spPr>
      </p:pic>
      <p:sp>
        <p:nvSpPr>
          <p:cNvPr id="6" name="JWT on every API title"/>
          <p:cNvSpPr txBox="1"/>
          <p:nvPr/>
        </p:nvSpPr>
        <p:spPr>
          <a:xfrm>
            <a:off x="1554480" y="1508760"/>
            <a:ext cx="2377440" cy="640080"/>
          </a:xfrm>
          <a:prstGeom prst="rect">
            <a:avLst/>
          </a:prstGeom>
          <a:noFill/>
          <a:ln/>
        </p:spPr>
        <p:txBody>
          <a:bodyPr wrap="square" rtlCol="0" anchor="ctr"/>
          <a:lstStyle/>
          <a:p>
            <a:pPr marL="0" indent="0">
              <a:buNone/>
            </a:pPr>
            <a:r>
              <a:rPr lang="en-US" sz="1600" b="1" dirty="0">
                <a:solidFill>
                  <a:schemeClr val="tx1"/>
                </a:solidFill>
              </a:rPr>
              <a:t>JWT on every API</a:t>
            </a:r>
            <a:endParaRPr lang="en-US" sz="1600" dirty="0"/>
          </a:p>
        </p:txBody>
      </p:sp>
      <p:sp>
        <p:nvSpPr>
          <p:cNvPr id="7" name="JWT on every API desc"/>
          <p:cNvSpPr txBox="1"/>
          <p:nvPr/>
        </p:nvSpPr>
        <p:spPr>
          <a:xfrm>
            <a:off x="777240" y="2194560"/>
            <a:ext cx="3063240" cy="1005840"/>
          </a:xfrm>
          <a:prstGeom prst="rect">
            <a:avLst/>
          </a:prstGeom>
          <a:noFill/>
          <a:ln/>
        </p:spPr>
        <p:txBody>
          <a:bodyPr wrap="square" rtlCol="0" anchor="t"/>
          <a:lstStyle/>
          <a:p>
            <a:pPr marL="0" indent="0">
              <a:buNone/>
            </a:pPr>
            <a:r>
              <a:rPr lang="en-US" sz="1300" dirty="0">
                <a:solidFill>
                  <a:schemeClr val="tx2"/>
                </a:solidFill>
              </a:rPr>
              <a:t>RS256 checked by the chassis in all five services: issuer, audience, exp, iat and sub; 401 if missing or invalid</a:t>
            </a:r>
            <a:endParaRPr lang="en-US" sz="1300" dirty="0"/>
          </a:p>
        </p:txBody>
      </p:sp>
      <p:sp>
        <p:nvSpPr>
          <p:cNvPr id="8" name="Refresh sessions card"/>
          <p:cNvSpPr/>
          <p:nvPr/>
        </p:nvSpPr>
        <p:spPr>
          <a:xfrm>
            <a:off x="4315968" y="1280160"/>
            <a:ext cx="3520440" cy="2011680"/>
          </a:xfrm>
          <a:prstGeom prst="roundRect">
            <a:avLst>
              <a:gd name="adj" fmla="val 5455"/>
            </a:avLst>
          </a:prstGeom>
          <a:solidFill>
            <a:schemeClr val="bg2"/>
          </a:solidFill>
          <a:ln w="12700">
            <a:solidFill>
              <a:schemeClr val="bg2"/>
            </a:solidFill>
            <a:prstDash val="solid"/>
          </a:ln>
        </p:spPr>
        <p:txBody>
          <a:bodyPr/>
          <a:lstStyle/>
          <a:p>
            <a:endParaRPr lang="es-ES"/>
          </a:p>
        </p:txBody>
      </p:sp>
      <p:sp>
        <p:nvSpPr>
          <p:cNvPr id="9" name="Refresh sessions circle"/>
          <p:cNvSpPr/>
          <p:nvPr/>
        </p:nvSpPr>
        <p:spPr>
          <a:xfrm>
            <a:off x="4544568" y="1508760"/>
            <a:ext cx="640080" cy="640080"/>
          </a:xfrm>
          <a:prstGeom prst="ellipse">
            <a:avLst/>
          </a:prstGeom>
          <a:solidFill>
            <a:schemeClr val="accent1"/>
          </a:solidFill>
          <a:ln w="12700">
            <a:solidFill>
              <a:schemeClr val="accent1"/>
            </a:solidFill>
            <a:prstDash val="solid"/>
          </a:ln>
        </p:spPr>
        <p:txBody>
          <a:bodyPr/>
          <a:lstStyle/>
          <a:p>
            <a:endParaRPr lang="es-ES"/>
          </a:p>
        </p:txBody>
      </p:sp>
      <p:pic>
        <p:nvPicPr>
          <p:cNvPr id="10" name="Refresh sessions icon" descr="preencoded.png"/>
          <p:cNvPicPr>
            <a:picLocks noChangeAspect="1"/>
          </p:cNvPicPr>
          <p:nvPr/>
        </p:nvPicPr>
        <p:blipFill>
          <a:blip r:embed="rId4"/>
          <a:stretch>
            <a:fillRect/>
          </a:stretch>
        </p:blipFill>
        <p:spPr>
          <a:xfrm>
            <a:off x="4704588" y="1668780"/>
            <a:ext cx="320040" cy="320040"/>
          </a:xfrm>
          <a:prstGeom prst="rect">
            <a:avLst/>
          </a:prstGeom>
        </p:spPr>
      </p:pic>
      <p:sp>
        <p:nvSpPr>
          <p:cNvPr id="11" name="Refresh sessions title"/>
          <p:cNvSpPr txBox="1"/>
          <p:nvPr/>
        </p:nvSpPr>
        <p:spPr>
          <a:xfrm>
            <a:off x="5321808" y="1508760"/>
            <a:ext cx="2377440" cy="640080"/>
          </a:xfrm>
          <a:prstGeom prst="rect">
            <a:avLst/>
          </a:prstGeom>
          <a:noFill/>
          <a:ln/>
        </p:spPr>
        <p:txBody>
          <a:bodyPr wrap="square" rtlCol="0" anchor="ctr"/>
          <a:lstStyle/>
          <a:p>
            <a:pPr marL="0" indent="0">
              <a:buNone/>
            </a:pPr>
            <a:r>
              <a:rPr lang="en-US" sz="1600" b="1" dirty="0">
                <a:solidFill>
                  <a:schemeClr val="tx1"/>
                </a:solidFill>
              </a:rPr>
              <a:t>Refresh sessions</a:t>
            </a:r>
            <a:endParaRPr lang="en-US" sz="1600" dirty="0"/>
          </a:p>
        </p:txBody>
      </p:sp>
      <p:sp>
        <p:nvSpPr>
          <p:cNvPr id="12" name="Refresh sessions desc"/>
          <p:cNvSpPr txBox="1"/>
          <p:nvPr/>
        </p:nvSpPr>
        <p:spPr>
          <a:xfrm>
            <a:off x="4544568" y="2194560"/>
            <a:ext cx="3063240" cy="1005840"/>
          </a:xfrm>
          <a:prstGeom prst="rect">
            <a:avLst/>
          </a:prstGeom>
          <a:noFill/>
          <a:ln/>
        </p:spPr>
        <p:txBody>
          <a:bodyPr wrap="square" rtlCol="0" anchor="t"/>
          <a:lstStyle/>
          <a:p>
            <a:pPr marL="0" indent="0">
              <a:buNone/>
            </a:pPr>
            <a:r>
              <a:rPr lang="en-US" sz="1300" dirty="0">
                <a:solidFill>
                  <a:schemeClr val="tx2"/>
                </a:solidFill>
              </a:rPr>
              <a:t>Opaque tokens stored as SHA-256 hashes; single use and rotated; reuse revokes the session; 7-day limit; logout</a:t>
            </a:r>
            <a:endParaRPr lang="en-US" sz="1300" dirty="0"/>
          </a:p>
        </p:txBody>
      </p:sp>
      <p:sp>
        <p:nvSpPr>
          <p:cNvPr id="13" name="Authorization card"/>
          <p:cNvSpPr/>
          <p:nvPr/>
        </p:nvSpPr>
        <p:spPr>
          <a:xfrm>
            <a:off x="8083296" y="1280160"/>
            <a:ext cx="3520440" cy="2011680"/>
          </a:xfrm>
          <a:prstGeom prst="roundRect">
            <a:avLst>
              <a:gd name="adj" fmla="val 5455"/>
            </a:avLst>
          </a:prstGeom>
          <a:solidFill>
            <a:schemeClr val="bg2"/>
          </a:solidFill>
          <a:ln w="12700">
            <a:solidFill>
              <a:schemeClr val="bg2"/>
            </a:solidFill>
            <a:prstDash val="solid"/>
          </a:ln>
        </p:spPr>
        <p:txBody>
          <a:bodyPr/>
          <a:lstStyle/>
          <a:p>
            <a:endParaRPr lang="es-ES"/>
          </a:p>
        </p:txBody>
      </p:sp>
      <p:sp>
        <p:nvSpPr>
          <p:cNvPr id="14" name="Authorization circle"/>
          <p:cNvSpPr/>
          <p:nvPr/>
        </p:nvSpPr>
        <p:spPr>
          <a:xfrm>
            <a:off x="8311896" y="1508760"/>
            <a:ext cx="640080" cy="640080"/>
          </a:xfrm>
          <a:prstGeom prst="ellipse">
            <a:avLst/>
          </a:prstGeom>
          <a:solidFill>
            <a:schemeClr val="accent1"/>
          </a:solidFill>
          <a:ln w="12700">
            <a:solidFill>
              <a:schemeClr val="accent1"/>
            </a:solidFill>
            <a:prstDash val="solid"/>
          </a:ln>
        </p:spPr>
        <p:txBody>
          <a:bodyPr/>
          <a:lstStyle/>
          <a:p>
            <a:endParaRPr lang="es-ES"/>
          </a:p>
        </p:txBody>
      </p:sp>
      <p:pic>
        <p:nvPicPr>
          <p:cNvPr id="15" name="Authorization icon" descr="preencoded.png"/>
          <p:cNvPicPr>
            <a:picLocks noChangeAspect="1"/>
          </p:cNvPicPr>
          <p:nvPr/>
        </p:nvPicPr>
        <p:blipFill>
          <a:blip r:embed="rId5"/>
          <a:stretch>
            <a:fillRect/>
          </a:stretch>
        </p:blipFill>
        <p:spPr>
          <a:xfrm>
            <a:off x="8471916" y="1668780"/>
            <a:ext cx="320040" cy="320040"/>
          </a:xfrm>
          <a:prstGeom prst="rect">
            <a:avLst/>
          </a:prstGeom>
        </p:spPr>
      </p:pic>
      <p:sp>
        <p:nvSpPr>
          <p:cNvPr id="16" name="Authorization title"/>
          <p:cNvSpPr txBox="1"/>
          <p:nvPr/>
        </p:nvSpPr>
        <p:spPr>
          <a:xfrm>
            <a:off x="9089136" y="1508760"/>
            <a:ext cx="2377440" cy="640080"/>
          </a:xfrm>
          <a:prstGeom prst="rect">
            <a:avLst/>
          </a:prstGeom>
          <a:noFill/>
          <a:ln/>
        </p:spPr>
        <p:txBody>
          <a:bodyPr wrap="square" rtlCol="0" anchor="ctr"/>
          <a:lstStyle/>
          <a:p>
            <a:pPr marL="0" indent="0">
              <a:buNone/>
            </a:pPr>
            <a:r>
              <a:rPr lang="en-US" sz="1600" b="1" dirty="0">
                <a:solidFill>
                  <a:schemeClr val="tx1"/>
                </a:solidFill>
              </a:rPr>
              <a:t>Authorization</a:t>
            </a:r>
            <a:endParaRPr lang="en-US" sz="1600" dirty="0"/>
          </a:p>
        </p:txBody>
      </p:sp>
      <p:sp>
        <p:nvSpPr>
          <p:cNvPr id="17" name="Authorization desc"/>
          <p:cNvSpPr txBox="1"/>
          <p:nvPr/>
        </p:nvSpPr>
        <p:spPr>
          <a:xfrm>
            <a:off x="8311896" y="2194560"/>
            <a:ext cx="3063240" cy="1005840"/>
          </a:xfrm>
          <a:prstGeom prst="rect">
            <a:avLst/>
          </a:prstGeom>
          <a:noFill/>
          <a:ln/>
        </p:spPr>
        <p:txBody>
          <a:bodyPr wrap="square" rtlCol="0" anchor="t"/>
          <a:lstStyle/>
          <a:p>
            <a:pPr marL="0" indent="0">
              <a:buNone/>
            </a:pPr>
            <a:r>
              <a:rPr lang="en-US" sz="1300" dirty="0">
                <a:solidFill>
                  <a:schemeClr val="tx2"/>
                </a:solidFill>
              </a:rPr>
              <a:t>Roles admin and user; a user only creates, reads, orders and pays for their own client (403 otherwise)</a:t>
            </a:r>
            <a:endParaRPr lang="en-US" sz="1300" dirty="0"/>
          </a:p>
        </p:txBody>
      </p:sp>
      <p:sp>
        <p:nvSpPr>
          <p:cNvPr id="18" name="Passwords and keys card"/>
          <p:cNvSpPr/>
          <p:nvPr/>
        </p:nvSpPr>
        <p:spPr>
          <a:xfrm>
            <a:off x="548640" y="3474720"/>
            <a:ext cx="3520440" cy="2011680"/>
          </a:xfrm>
          <a:prstGeom prst="roundRect">
            <a:avLst>
              <a:gd name="adj" fmla="val 5455"/>
            </a:avLst>
          </a:prstGeom>
          <a:solidFill>
            <a:schemeClr val="bg2"/>
          </a:solidFill>
          <a:ln w="12700">
            <a:solidFill>
              <a:schemeClr val="bg2"/>
            </a:solidFill>
            <a:prstDash val="solid"/>
          </a:ln>
        </p:spPr>
        <p:txBody>
          <a:bodyPr/>
          <a:lstStyle/>
          <a:p>
            <a:endParaRPr lang="es-ES"/>
          </a:p>
        </p:txBody>
      </p:sp>
      <p:sp>
        <p:nvSpPr>
          <p:cNvPr id="19" name="Passwords and keys circle"/>
          <p:cNvSpPr/>
          <p:nvPr/>
        </p:nvSpPr>
        <p:spPr>
          <a:xfrm>
            <a:off x="777240" y="3703320"/>
            <a:ext cx="640080" cy="640080"/>
          </a:xfrm>
          <a:prstGeom prst="ellipse">
            <a:avLst/>
          </a:prstGeom>
          <a:solidFill>
            <a:schemeClr val="accent1"/>
          </a:solidFill>
          <a:ln w="12700">
            <a:solidFill>
              <a:schemeClr val="accent1"/>
            </a:solidFill>
            <a:prstDash val="solid"/>
          </a:ln>
        </p:spPr>
        <p:txBody>
          <a:bodyPr/>
          <a:lstStyle/>
          <a:p>
            <a:endParaRPr lang="es-ES"/>
          </a:p>
        </p:txBody>
      </p:sp>
      <p:pic>
        <p:nvPicPr>
          <p:cNvPr id="20" name="Passwords and keys icon" descr="preencoded.png"/>
          <p:cNvPicPr>
            <a:picLocks noChangeAspect="1"/>
          </p:cNvPicPr>
          <p:nvPr/>
        </p:nvPicPr>
        <p:blipFill>
          <a:blip r:embed="rId6"/>
          <a:stretch>
            <a:fillRect/>
          </a:stretch>
        </p:blipFill>
        <p:spPr>
          <a:xfrm>
            <a:off x="937260" y="3863340"/>
            <a:ext cx="320040" cy="320040"/>
          </a:xfrm>
          <a:prstGeom prst="rect">
            <a:avLst/>
          </a:prstGeom>
        </p:spPr>
      </p:pic>
      <p:sp>
        <p:nvSpPr>
          <p:cNvPr id="21" name="Passwords and keys title"/>
          <p:cNvSpPr txBox="1"/>
          <p:nvPr/>
        </p:nvSpPr>
        <p:spPr>
          <a:xfrm>
            <a:off x="1554480" y="3703320"/>
            <a:ext cx="2377440" cy="640080"/>
          </a:xfrm>
          <a:prstGeom prst="rect">
            <a:avLst/>
          </a:prstGeom>
          <a:noFill/>
          <a:ln/>
        </p:spPr>
        <p:txBody>
          <a:bodyPr wrap="square" rtlCol="0" anchor="ctr"/>
          <a:lstStyle/>
          <a:p>
            <a:pPr marL="0" indent="0">
              <a:buNone/>
            </a:pPr>
            <a:r>
              <a:rPr lang="en-US" sz="1600" b="1" dirty="0">
                <a:solidFill>
                  <a:schemeClr val="tx1"/>
                </a:solidFill>
              </a:rPr>
              <a:t>Passwords and keys</a:t>
            </a:r>
            <a:endParaRPr lang="en-US" sz="1600" dirty="0"/>
          </a:p>
        </p:txBody>
      </p:sp>
      <p:sp>
        <p:nvSpPr>
          <p:cNvPr id="22" name="Passwords and keys desc"/>
          <p:cNvSpPr txBox="1"/>
          <p:nvPr/>
        </p:nvSpPr>
        <p:spPr>
          <a:xfrm>
            <a:off x="777240" y="4389120"/>
            <a:ext cx="3063240" cy="1005840"/>
          </a:xfrm>
          <a:prstGeom prst="rect">
            <a:avLst/>
          </a:prstGeom>
          <a:noFill/>
          <a:ln/>
        </p:spPr>
        <p:txBody>
          <a:bodyPr wrap="square" rtlCol="0" anchor="t"/>
          <a:lstStyle/>
          <a:p>
            <a:pPr marL="0" indent="0">
              <a:buNone/>
            </a:pPr>
            <a:r>
              <a:rPr lang="en-US" sz="1300" dirty="0">
                <a:solidFill>
                  <a:schemeClr val="tx2"/>
                </a:solidFill>
              </a:rPr>
              <a:t>bcrypt hashes; public sign-up only as user; the signing key is published as a fact and stored by each service</a:t>
            </a:r>
            <a:endParaRPr lang="en-US" sz="1300" dirty="0"/>
          </a:p>
        </p:txBody>
      </p:sp>
      <p:sp>
        <p:nvSpPr>
          <p:cNvPr id="23" name="Edge and transport card"/>
          <p:cNvSpPr/>
          <p:nvPr/>
        </p:nvSpPr>
        <p:spPr>
          <a:xfrm>
            <a:off x="4315968" y="3474720"/>
            <a:ext cx="3520440" cy="2011680"/>
          </a:xfrm>
          <a:prstGeom prst="roundRect">
            <a:avLst>
              <a:gd name="adj" fmla="val 5455"/>
            </a:avLst>
          </a:prstGeom>
          <a:solidFill>
            <a:schemeClr val="bg2"/>
          </a:solidFill>
          <a:ln w="12700">
            <a:solidFill>
              <a:schemeClr val="bg2"/>
            </a:solidFill>
            <a:prstDash val="solid"/>
          </a:ln>
        </p:spPr>
        <p:txBody>
          <a:bodyPr/>
          <a:lstStyle/>
          <a:p>
            <a:endParaRPr lang="es-ES"/>
          </a:p>
        </p:txBody>
      </p:sp>
      <p:sp>
        <p:nvSpPr>
          <p:cNvPr id="24" name="Edge and transport circle"/>
          <p:cNvSpPr/>
          <p:nvPr/>
        </p:nvSpPr>
        <p:spPr>
          <a:xfrm>
            <a:off x="4544568" y="3703320"/>
            <a:ext cx="640080" cy="640080"/>
          </a:xfrm>
          <a:prstGeom prst="ellipse">
            <a:avLst/>
          </a:prstGeom>
          <a:solidFill>
            <a:schemeClr val="accent5"/>
          </a:solidFill>
          <a:ln w="12700">
            <a:solidFill>
              <a:schemeClr val="accent5"/>
            </a:solidFill>
            <a:prstDash val="solid"/>
          </a:ln>
        </p:spPr>
        <p:txBody>
          <a:bodyPr/>
          <a:lstStyle/>
          <a:p>
            <a:endParaRPr lang="es-ES"/>
          </a:p>
        </p:txBody>
      </p:sp>
      <p:pic>
        <p:nvPicPr>
          <p:cNvPr id="25" name="Edge and transport icon" descr="preencoded.png"/>
          <p:cNvPicPr>
            <a:picLocks noChangeAspect="1"/>
          </p:cNvPicPr>
          <p:nvPr/>
        </p:nvPicPr>
        <p:blipFill>
          <a:blip r:embed="rId7"/>
          <a:stretch>
            <a:fillRect/>
          </a:stretch>
        </p:blipFill>
        <p:spPr>
          <a:xfrm>
            <a:off x="4704588" y="3863340"/>
            <a:ext cx="320040" cy="320040"/>
          </a:xfrm>
          <a:prstGeom prst="rect">
            <a:avLst/>
          </a:prstGeom>
        </p:spPr>
      </p:pic>
      <p:sp>
        <p:nvSpPr>
          <p:cNvPr id="26" name="Edge and transport title"/>
          <p:cNvSpPr txBox="1"/>
          <p:nvPr/>
        </p:nvSpPr>
        <p:spPr>
          <a:xfrm>
            <a:off x="5321808" y="3703320"/>
            <a:ext cx="2377440" cy="640080"/>
          </a:xfrm>
          <a:prstGeom prst="rect">
            <a:avLst/>
          </a:prstGeom>
          <a:noFill/>
          <a:ln/>
        </p:spPr>
        <p:txBody>
          <a:bodyPr wrap="square" rtlCol="0" anchor="ctr"/>
          <a:lstStyle/>
          <a:p>
            <a:pPr marL="0" indent="0">
              <a:buNone/>
            </a:pPr>
            <a:r>
              <a:rPr lang="en-US" sz="1600" b="1" dirty="0">
                <a:solidFill>
                  <a:schemeClr val="tx1"/>
                </a:solidFill>
              </a:rPr>
              <a:t>Edge and transport</a:t>
            </a:r>
            <a:endParaRPr lang="en-US" sz="1600" dirty="0"/>
          </a:p>
        </p:txBody>
      </p:sp>
      <p:sp>
        <p:nvSpPr>
          <p:cNvPr id="27" name="Edge and transport desc"/>
          <p:cNvSpPr txBox="1"/>
          <p:nvPr/>
        </p:nvSpPr>
        <p:spPr>
          <a:xfrm>
            <a:off x="4544568" y="4389120"/>
            <a:ext cx="3063240" cy="1005840"/>
          </a:xfrm>
          <a:prstGeom prst="rect">
            <a:avLst/>
          </a:prstGeom>
          <a:noFill/>
          <a:ln/>
        </p:spPr>
        <p:txBody>
          <a:bodyPr wrap="square" rtlCol="0" anchor="t"/>
          <a:lstStyle/>
          <a:p>
            <a:pPr marL="0" indent="0">
              <a:buNone/>
            </a:pPr>
            <a:r>
              <a:rPr lang="en-US" sz="1300" dirty="0">
                <a:solidFill>
                  <a:schemeClr val="tx2"/>
                </a:solidFill>
              </a:rPr>
              <a:t>HTTPS on :8443 at HAProxy; only whitelisted /api routes, the rest 404; stats behind a password</a:t>
            </a:r>
            <a:endParaRPr lang="en-US" sz="1300" dirty="0"/>
          </a:p>
        </p:txBody>
      </p:sp>
      <p:sp>
        <p:nvSpPr>
          <p:cNvPr id="28" name="Infrastructure and messages card"/>
          <p:cNvSpPr/>
          <p:nvPr/>
        </p:nvSpPr>
        <p:spPr>
          <a:xfrm>
            <a:off x="8083296" y="3474720"/>
            <a:ext cx="3520440" cy="2011680"/>
          </a:xfrm>
          <a:prstGeom prst="roundRect">
            <a:avLst>
              <a:gd name="adj" fmla="val 5455"/>
            </a:avLst>
          </a:prstGeom>
          <a:solidFill>
            <a:schemeClr val="bg2"/>
          </a:solidFill>
          <a:ln w="12700">
            <a:solidFill>
              <a:schemeClr val="bg2"/>
            </a:solidFill>
            <a:prstDash val="solid"/>
          </a:ln>
        </p:spPr>
        <p:txBody>
          <a:bodyPr/>
          <a:lstStyle/>
          <a:p>
            <a:endParaRPr lang="es-ES"/>
          </a:p>
        </p:txBody>
      </p:sp>
      <p:sp>
        <p:nvSpPr>
          <p:cNvPr id="29" name="Infrastructure and messages circle"/>
          <p:cNvSpPr/>
          <p:nvPr/>
        </p:nvSpPr>
        <p:spPr>
          <a:xfrm>
            <a:off x="8311896" y="3703320"/>
            <a:ext cx="640080" cy="640080"/>
          </a:xfrm>
          <a:prstGeom prst="ellipse">
            <a:avLst/>
          </a:prstGeom>
          <a:solidFill>
            <a:schemeClr val="accent5"/>
          </a:solidFill>
          <a:ln w="12700">
            <a:solidFill>
              <a:schemeClr val="accent5"/>
            </a:solidFill>
            <a:prstDash val="solid"/>
          </a:ln>
        </p:spPr>
        <p:txBody>
          <a:bodyPr/>
          <a:lstStyle/>
          <a:p>
            <a:endParaRPr lang="es-ES"/>
          </a:p>
        </p:txBody>
      </p:sp>
      <p:pic>
        <p:nvPicPr>
          <p:cNvPr id="30" name="Infrastructure and messages icon" descr="preencoded.png"/>
          <p:cNvPicPr>
            <a:picLocks noChangeAspect="1"/>
          </p:cNvPicPr>
          <p:nvPr/>
        </p:nvPicPr>
        <p:blipFill>
          <a:blip r:embed="rId8"/>
          <a:stretch>
            <a:fillRect/>
          </a:stretch>
        </p:blipFill>
        <p:spPr>
          <a:xfrm>
            <a:off x="8471916" y="3863340"/>
            <a:ext cx="320040" cy="320040"/>
          </a:xfrm>
          <a:prstGeom prst="rect">
            <a:avLst/>
          </a:prstGeom>
        </p:spPr>
      </p:pic>
      <p:sp>
        <p:nvSpPr>
          <p:cNvPr id="31" name="Infrastructure and messages title"/>
          <p:cNvSpPr txBox="1"/>
          <p:nvPr/>
        </p:nvSpPr>
        <p:spPr>
          <a:xfrm>
            <a:off x="9089136" y="3703320"/>
            <a:ext cx="2377440" cy="640080"/>
          </a:xfrm>
          <a:prstGeom prst="rect">
            <a:avLst/>
          </a:prstGeom>
          <a:noFill/>
          <a:ln/>
        </p:spPr>
        <p:txBody>
          <a:bodyPr wrap="square" rtlCol="0" anchor="ctr"/>
          <a:lstStyle/>
          <a:p>
            <a:pPr marL="0" indent="0">
              <a:buNone/>
            </a:pPr>
            <a:r>
              <a:rPr lang="en-US" sz="1600" b="1" dirty="0">
                <a:solidFill>
                  <a:schemeClr val="tx1"/>
                </a:solidFill>
              </a:rPr>
              <a:t>Infrastructure and messages</a:t>
            </a:r>
            <a:endParaRPr lang="en-US" sz="1600" dirty="0"/>
          </a:p>
        </p:txBody>
      </p:sp>
      <p:sp>
        <p:nvSpPr>
          <p:cNvPr id="32" name="Infrastructure and messages desc"/>
          <p:cNvSpPr txBox="1"/>
          <p:nvPr/>
        </p:nvSpPr>
        <p:spPr>
          <a:xfrm>
            <a:off x="8311896" y="4389120"/>
            <a:ext cx="3063240" cy="1005840"/>
          </a:xfrm>
          <a:prstGeom prst="rect">
            <a:avLst/>
          </a:prstGeom>
          <a:noFill/>
          <a:ln/>
        </p:spPr>
        <p:txBody>
          <a:bodyPr wrap="square" rtlCol="0" anchor="t"/>
          <a:lstStyle/>
          <a:p>
            <a:pPr marL="0" indent="0">
              <a:buNone/>
            </a:pPr>
            <a:r>
              <a:rPr lang="en-US" sz="1300" dirty="0">
                <a:solidFill>
                  <a:schemeClr val="tx2"/>
                </a:solidFill>
              </a:rPr>
              <a:t>RabbitMQ only on 127.0.0.1, MongoDB not exposed; strict contracts reject invalid facts</a:t>
            </a:r>
            <a:endParaRPr lang="en-US" sz="1300" dirty="0"/>
          </a:p>
        </p:txBody>
      </p:sp>
      <p:sp>
        <p:nvSpPr>
          <p:cNvPr id="33" name="Security caveat"/>
          <p:cNvSpPr txBox="1"/>
          <p:nvPr/>
        </p:nvSpPr>
        <p:spPr>
          <a:xfrm>
            <a:off x="548640" y="5715000"/>
            <a:ext cx="11064240" cy="365760"/>
          </a:xfrm>
          <a:prstGeom prst="rect">
            <a:avLst/>
          </a:prstGeom>
          <a:noFill/>
          <a:ln/>
        </p:spPr>
        <p:txBody>
          <a:bodyPr wrap="square" rtlCol="0" anchor="ctr"/>
          <a:lstStyle/>
          <a:p>
            <a:pPr marL="0" indent="0">
              <a:buNone/>
            </a:pPr>
            <a:r>
              <a:rPr lang="en-US" sz="1200" i="1" dirty="0">
                <a:solidFill>
                  <a:schemeClr val="tx2"/>
                </a:solidFill>
              </a:rPr>
              <a:t>Development level: payments and deliveries run as root, service ports stay open and the TLS key is in the repo</a:t>
            </a:r>
            <a:endParaRPr lang="en-US" sz="1200" dirty="0"/>
          </a:p>
        </p:txBody>
      </p:sp>
      <p:sp>
        <p:nvSpPr>
          <p:cNvPr id="34"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4"/>
                </a:solidFill>
              </a:defRPr>
            </a:lvl1pPr>
          </a:lstStyle>
          <a:p>
            <a:pPr algn="r"/>
            <a:fld id="{F7021451-1387-4CA6-816F-3879F97B5CBC}" type="slidenum">
              <a:rPr lang="en-US" b="0"/>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11064240" cy="822960"/>
          </a:xfrm>
          <a:prstGeom prst="rect">
            <a:avLst/>
          </a:prstGeom>
          <a:noFill/>
          <a:ln/>
        </p:spPr>
        <p:txBody>
          <a:bodyPr wrap="square" rtlCol="0" anchor="ctr"/>
          <a:lstStyle/>
          <a:p>
            <a:pPr marL="0" indent="0" algn="l">
              <a:buNone/>
            </a:pPr>
            <a:r>
              <a:rPr lang="en-US" sz="3000" b="1" dirty="0">
                <a:solidFill>
                  <a:schemeClr val="tx1"/>
                </a:solidFill>
              </a:rPr>
              <a:t>Functionalities moved to the microservice chassis</a:t>
            </a:r>
            <a:endParaRPr lang="en-US" sz="3000" dirty="0"/>
          </a:p>
        </p:txBody>
      </p:sp>
      <p:sp>
        <p:nvSpPr>
          <p:cNvPr id="3" name="Chassis summary card"/>
          <p:cNvSpPr/>
          <p:nvPr/>
        </p:nvSpPr>
        <p:spPr>
          <a:xfrm>
            <a:off x="548640" y="1280160"/>
            <a:ext cx="3566160" cy="4663440"/>
          </a:xfrm>
          <a:prstGeom prst="roundRect">
            <a:avLst>
              <a:gd name="adj" fmla="val 3077"/>
            </a:avLst>
          </a:prstGeom>
          <a:solidFill>
            <a:schemeClr val="accent5"/>
          </a:solidFill>
          <a:ln w="12700">
            <a:solidFill>
              <a:schemeClr val="accent5"/>
            </a:solidFill>
            <a:prstDash val="solid"/>
          </a:ln>
        </p:spPr>
        <p:txBody>
          <a:bodyPr/>
          <a:lstStyle/>
          <a:p>
            <a:endParaRPr lang="es-ES"/>
          </a:p>
        </p:txBody>
      </p:sp>
      <p:sp>
        <p:nvSpPr>
          <p:cNvPr id="4" name="Chassis circle"/>
          <p:cNvSpPr/>
          <p:nvPr/>
        </p:nvSpPr>
        <p:spPr>
          <a:xfrm>
            <a:off x="868680" y="1554480"/>
            <a:ext cx="822960" cy="822960"/>
          </a:xfrm>
          <a:prstGeom prst="ellipse">
            <a:avLst/>
          </a:prstGeom>
          <a:solidFill>
            <a:schemeClr val="accent1"/>
          </a:solidFill>
          <a:ln w="12700">
            <a:solidFill>
              <a:schemeClr val="accent1"/>
            </a:solidFill>
            <a:prstDash val="solid"/>
          </a:ln>
        </p:spPr>
        <p:txBody>
          <a:bodyPr/>
          <a:lstStyle/>
          <a:p>
            <a:endParaRPr lang="es-ES"/>
          </a:p>
        </p:txBody>
      </p:sp>
      <p:pic>
        <p:nvPicPr>
          <p:cNvPr id="5" name="Chassis icon" descr="preencoded.png"/>
          <p:cNvPicPr>
            <a:picLocks noChangeAspect="1"/>
          </p:cNvPicPr>
          <p:nvPr/>
        </p:nvPicPr>
        <p:blipFill>
          <a:blip r:embed="rId3"/>
          <a:stretch>
            <a:fillRect/>
          </a:stretch>
        </p:blipFill>
        <p:spPr>
          <a:xfrm>
            <a:off x="1074420" y="1760220"/>
            <a:ext cx="411480" cy="411480"/>
          </a:xfrm>
          <a:prstGeom prst="rect">
            <a:avLst/>
          </a:prstGeom>
        </p:spPr>
      </p:pic>
      <p:sp>
        <p:nvSpPr>
          <p:cNvPr id="6" name="Chassis stat"/>
          <p:cNvSpPr txBox="1"/>
          <p:nvPr/>
        </p:nvSpPr>
        <p:spPr>
          <a:xfrm>
            <a:off x="868680" y="2468880"/>
            <a:ext cx="3017520" cy="1463040"/>
          </a:xfrm>
          <a:prstGeom prst="rect">
            <a:avLst/>
          </a:prstGeom>
          <a:noFill/>
          <a:ln/>
        </p:spPr>
        <p:txBody>
          <a:bodyPr wrap="square" rtlCol="0" anchor="t"/>
          <a:lstStyle/>
          <a:p>
            <a:pPr marL="0" indent="0">
              <a:buNone/>
            </a:pPr>
            <a:r>
              <a:rPr lang="en-US" sz="5400" b="1" dirty="0">
                <a:solidFill>
                  <a:schemeClr val="bg1"/>
                </a:solidFill>
              </a:rPr>
              <a:t>6</a:t>
            </a:r>
            <a:endParaRPr lang="en-US" sz="5400" dirty="0"/>
          </a:p>
          <a:p>
            <a:pPr marL="0" indent="0">
              <a:buNone/>
            </a:pPr>
            <a:r>
              <a:rPr lang="en-US" sz="1500" dirty="0">
                <a:solidFill>
                  <a:schemeClr val="bg1"/>
                </a:solidFill>
              </a:rPr>
              <a:t>consumers: the five services and the event logger</a:t>
            </a:r>
            <a:endParaRPr lang="en-US" sz="5400" dirty="0"/>
          </a:p>
        </p:txBody>
      </p:sp>
      <p:sp>
        <p:nvSpPr>
          <p:cNvPr id="7" name="Chassis install"/>
          <p:cNvSpPr txBox="1"/>
          <p:nvPr/>
        </p:nvSpPr>
        <p:spPr>
          <a:xfrm>
            <a:off x="868680" y="4069080"/>
            <a:ext cx="3017520" cy="1645920"/>
          </a:xfrm>
          <a:prstGeom prst="rect">
            <a:avLst/>
          </a:prstGeom>
          <a:noFill/>
          <a:ln/>
        </p:spPr>
        <p:txBody>
          <a:bodyPr wrap="square" rtlCol="0" anchor="t"/>
          <a:lstStyle/>
          <a:p>
            <a:pPr marL="0" indent="0">
              <a:spcAft>
                <a:spcPts val="600"/>
              </a:spcAft>
              <a:buNone/>
            </a:pPr>
            <a:r>
              <a:rPr lang="en-US" sz="1300" dirty="0">
                <a:solidFill>
                  <a:schemeClr val="bg2"/>
                </a:solidFill>
              </a:rPr>
              <a:t>microservice_chassis 0.5.0</a:t>
            </a:r>
            <a:endParaRPr lang="en-US" sz="1300" dirty="0"/>
          </a:p>
          <a:p>
            <a:pPr marL="0" indent="0">
              <a:spcAft>
                <a:spcPts val="600"/>
              </a:spcAft>
              <a:buNone/>
            </a:pPr>
            <a:r>
              <a:rPr lang="en-US" sz="1300" dirty="0">
                <a:solidFill>
                  <a:schemeClr val="bg2"/>
                </a:solidFill>
              </a:rPr>
              <a:t>Shipped as a tested wheel in vendor/ and pinned with ==0.5.0</a:t>
            </a:r>
            <a:endParaRPr lang="en-US" sz="1300" dirty="0"/>
          </a:p>
          <a:p>
            <a:pPr marL="0" indent="0">
              <a:spcAft>
                <a:spcPts val="600"/>
              </a:spcAft>
              <a:buNone/>
            </a:pPr>
            <a:r>
              <a:rPr lang="en-US" sz="1300" dirty="0">
                <a:solidFill>
                  <a:schemeClr val="bg2"/>
                </a:solidFill>
              </a:rPr>
              <a:t>Imported as my_chassis</a:t>
            </a:r>
            <a:endParaRPr lang="en-US" sz="1300" dirty="0"/>
          </a:p>
        </p:txBody>
      </p:sp>
      <p:graphicFrame>
        <p:nvGraphicFramePr>
          <p:cNvPr id="9" name="Chassis table"/>
          <p:cNvGraphicFramePr>
            <a:graphicFrameLocks noGrp="1"/>
          </p:cNvGraphicFramePr>
          <p:nvPr>
            <p:extLst>
              <p:ext uri="{D42A27DB-BD31-4B8C-83A1-F6EECF244321}">
                <p14:modId xmlns:p14="http://schemas.microsoft.com/office/powerpoint/2010/main" val="1579011935"/>
              </p:ext>
            </p:extLst>
          </p:nvPr>
        </p:nvGraphicFramePr>
        <p:xfrm>
          <a:off x="4389120" y="1280160"/>
          <a:ext cx="7223760" cy="4096512"/>
        </p:xfrm>
        <a:graphic>
          <a:graphicData uri="http://schemas.openxmlformats.org/drawingml/2006/table">
            <a:tbl>
              <a:tblPr/>
              <a:tblGrid>
                <a:gridCol w="1828800">
                  <a:extLst>
                    <a:ext uri="{9D8B030D-6E8A-4147-A177-3AD203B41FA5}">
                      <a16:colId xmlns:a16="http://schemas.microsoft.com/office/drawing/2014/main" val="20000"/>
                    </a:ext>
                  </a:extLst>
                </a:gridCol>
                <a:gridCol w="3520440">
                  <a:extLst>
                    <a:ext uri="{9D8B030D-6E8A-4147-A177-3AD203B41FA5}">
                      <a16:colId xmlns:a16="http://schemas.microsoft.com/office/drawing/2014/main" val="20001"/>
                    </a:ext>
                  </a:extLst>
                </a:gridCol>
                <a:gridCol w="1874520">
                  <a:extLst>
                    <a:ext uri="{9D8B030D-6E8A-4147-A177-3AD203B41FA5}">
                      <a16:colId xmlns:a16="http://schemas.microsoft.com/office/drawing/2014/main" val="20002"/>
                    </a:ext>
                  </a:extLst>
                </a:gridCol>
              </a:tblGrid>
              <a:tr h="585216">
                <a:tc>
                  <a:txBody>
                    <a:bodyPr/>
                    <a:lstStyle/>
                    <a:p>
                      <a:pPr marL="0" indent="0">
                        <a:buNone/>
                      </a:pPr>
                      <a:r>
                        <a:rPr lang="en-US" sz="1300" b="1" dirty="0">
                          <a:solidFill>
                            <a:schemeClr val="bg1"/>
                          </a:solidFill>
                        </a:rPr>
                        <a:t>Functionality</a:t>
                      </a:r>
                      <a:endParaRPr lang="en-US" sz="1300" dirty="0"/>
                    </a:p>
                  </a:txBody>
                  <a:tcPr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chemeClr val="tx1"/>
                    </a:solidFill>
                  </a:tcPr>
                </a:tc>
                <a:tc>
                  <a:txBody>
                    <a:bodyPr/>
                    <a:lstStyle/>
                    <a:p>
                      <a:pPr marL="0" indent="0">
                        <a:buNone/>
                      </a:pPr>
                      <a:r>
                        <a:rPr lang="en-US" sz="1300" b="1" dirty="0">
                          <a:solidFill>
                            <a:schemeClr val="bg1"/>
                          </a:solidFill>
                        </a:rPr>
                        <a:t>What it does</a:t>
                      </a:r>
                      <a:endParaRPr lang="en-US" sz="1300" dirty="0"/>
                    </a:p>
                  </a:txBody>
                  <a:tcPr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chemeClr val="tx1"/>
                    </a:solidFill>
                  </a:tcPr>
                </a:tc>
                <a:tc>
                  <a:txBody>
                    <a:bodyPr/>
                    <a:lstStyle/>
                    <a:p>
                      <a:pPr marL="0" indent="0">
                        <a:buNone/>
                      </a:pPr>
                      <a:r>
                        <a:rPr lang="en-US" sz="1300" b="1" dirty="0">
                          <a:solidFill>
                            <a:schemeClr val="bg1"/>
                          </a:solidFill>
                        </a:rPr>
                        <a:t>Used by</a:t>
                      </a:r>
                      <a:endParaRPr lang="en-US" sz="1300" dirty="0"/>
                    </a:p>
                  </a:txBody>
                  <a:tcPr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chemeClr val="tx1"/>
                    </a:solidFill>
                  </a:tcPr>
                </a:tc>
                <a:extLst>
                  <a:ext uri="{0D108BD9-81ED-4DB2-BD59-A6C34878D82A}">
                    <a16:rowId xmlns:a16="http://schemas.microsoft.com/office/drawing/2014/main" val="10000"/>
                  </a:ext>
                </a:extLst>
              </a:tr>
              <a:tr h="585216">
                <a:tc>
                  <a:txBody>
                    <a:bodyPr/>
                    <a:lstStyle/>
                    <a:p>
                      <a:pPr marL="0" indent="0">
                        <a:buNone/>
                      </a:pPr>
                      <a:r>
                        <a:rPr lang="en-US" sz="1300" dirty="0">
                          <a:solidFill>
                            <a:schemeClr val="tx1"/>
                          </a:solidFill>
                        </a:rPr>
                        <a:t>JWTVerifier</a:t>
                      </a:r>
                      <a:endParaRPr lang="en-US" sz="1300" dirty="0"/>
                    </a:p>
                  </a:txBody>
                  <a:tcPr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chemeClr val="bg1"/>
                    </a:solidFill>
                  </a:tcPr>
                </a:tc>
                <a:tc>
                  <a:txBody>
                    <a:bodyPr/>
                    <a:lstStyle/>
                    <a:p>
                      <a:pPr marL="0" indent="0">
                        <a:buNone/>
                      </a:pPr>
                      <a:r>
                        <a:rPr lang="en-US" sz="1300" dirty="0">
                          <a:solidFill>
                            <a:schemeClr val="tx1"/>
                          </a:solidFill>
                        </a:rPr>
                        <a:t>RS256 verification with cached key refresh</a:t>
                      </a:r>
                      <a:endParaRPr lang="en-US" sz="1300" dirty="0"/>
                    </a:p>
                  </a:txBody>
                  <a:tcPr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chemeClr val="bg1"/>
                    </a:solidFill>
                  </a:tcPr>
                </a:tc>
                <a:tc>
                  <a:txBody>
                    <a:bodyPr/>
                    <a:lstStyle/>
                    <a:p>
                      <a:pPr marL="0" indent="0">
                        <a:buNone/>
                      </a:pPr>
                      <a:r>
                        <a:rPr lang="en-US" sz="1300" dirty="0">
                          <a:solidFill>
                            <a:schemeClr val="tx1"/>
                          </a:solidFill>
                        </a:rPr>
                        <a:t>All five APIs</a:t>
                      </a:r>
                      <a:endParaRPr lang="en-US" sz="1300" dirty="0"/>
                    </a:p>
                  </a:txBody>
                  <a:tcPr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chemeClr val="bg1"/>
                    </a:solidFill>
                  </a:tcPr>
                </a:tc>
                <a:extLst>
                  <a:ext uri="{0D108BD9-81ED-4DB2-BD59-A6C34878D82A}">
                    <a16:rowId xmlns:a16="http://schemas.microsoft.com/office/drawing/2014/main" val="10001"/>
                  </a:ext>
                </a:extLst>
              </a:tr>
              <a:tr h="585216">
                <a:tc>
                  <a:txBody>
                    <a:bodyPr/>
                    <a:lstStyle/>
                    <a:p>
                      <a:pPr marL="0" indent="0">
                        <a:buNone/>
                      </a:pPr>
                      <a:r>
                        <a:rPr lang="en-US" sz="1300" dirty="0">
                          <a:solidFill>
                            <a:schemeClr val="tx1"/>
                          </a:solidFill>
                        </a:rPr>
                        <a:t>Key handling</a:t>
                      </a:r>
                      <a:endParaRPr lang="en-US" sz="1300" dirty="0"/>
                    </a:p>
                  </a:txBody>
                  <a:tcPr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chemeClr val="bg1"/>
                    </a:solidFill>
                  </a:tcPr>
                </a:tc>
                <a:tc>
                  <a:txBody>
                    <a:bodyPr/>
                    <a:lstStyle/>
                    <a:p>
                      <a:pPr marL="0" indent="0">
                        <a:buNone/>
                      </a:pPr>
                      <a:r>
                        <a:rPr lang="en-US" sz="1300" dirty="0">
                          <a:solidFill>
                            <a:schemeClr val="tx1"/>
                          </a:solidFill>
                        </a:rPr>
                        <a:t>Validates and stores the public key received as a fact</a:t>
                      </a:r>
                      <a:endParaRPr lang="en-US" sz="1300" dirty="0"/>
                    </a:p>
                  </a:txBody>
                  <a:tcPr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chemeClr val="bg1"/>
                    </a:solidFill>
                  </a:tcPr>
                </a:tc>
                <a:tc>
                  <a:txBody>
                    <a:bodyPr/>
                    <a:lstStyle/>
                    <a:p>
                      <a:pPr marL="0" indent="0">
                        <a:buNone/>
                      </a:pPr>
                      <a:r>
                        <a:rPr lang="en-US" sz="1300" dirty="0">
                          <a:solidFill>
                            <a:schemeClr val="tx1"/>
                          </a:solidFill>
                        </a:rPr>
                        <a:t>JWT consumers</a:t>
                      </a:r>
                      <a:endParaRPr lang="en-US" sz="1300" dirty="0"/>
                    </a:p>
                  </a:txBody>
                  <a:tcPr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chemeClr val="bg1"/>
                    </a:solidFill>
                  </a:tcPr>
                </a:tc>
                <a:extLst>
                  <a:ext uri="{0D108BD9-81ED-4DB2-BD59-A6C34878D82A}">
                    <a16:rowId xmlns:a16="http://schemas.microsoft.com/office/drawing/2014/main" val="10002"/>
                  </a:ext>
                </a:extLst>
              </a:tr>
              <a:tr h="585216">
                <a:tc>
                  <a:txBody>
                    <a:bodyPr/>
                    <a:lstStyle/>
                    <a:p>
                      <a:pPr marL="0" indent="0">
                        <a:buNone/>
                      </a:pPr>
                      <a:r>
                        <a:rPr lang="en-US" sz="1300" dirty="0">
                          <a:solidFill>
                            <a:schemeClr val="tx1"/>
                          </a:solidFill>
                        </a:rPr>
                        <a:t>EventBus</a:t>
                      </a:r>
                      <a:endParaRPr lang="en-US" sz="1300" dirty="0"/>
                    </a:p>
                  </a:txBody>
                  <a:tcPr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chemeClr val="bg1"/>
                    </a:solidFill>
                  </a:tcPr>
                </a:tc>
                <a:tc>
                  <a:txBody>
                    <a:bodyPr/>
                    <a:lstStyle/>
                    <a:p>
                      <a:pPr marL="0" indent="0">
                        <a:buNone/>
                      </a:pPr>
                      <a:r>
                        <a:rPr lang="en-US" sz="1300" dirty="0">
                          <a:solidFill>
                            <a:schemeClr val="tx1"/>
                          </a:solidFill>
                        </a:rPr>
                        <a:t>Outbox and inbox tables, atomic recording, confirmed publishing, retries</a:t>
                      </a:r>
                      <a:endParaRPr lang="en-US" sz="1300" dirty="0"/>
                    </a:p>
                  </a:txBody>
                  <a:tcPr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chemeClr val="bg1"/>
                    </a:solidFill>
                  </a:tcPr>
                </a:tc>
                <a:tc>
                  <a:txBody>
                    <a:bodyPr/>
                    <a:lstStyle/>
                    <a:p>
                      <a:pPr marL="0" indent="0">
                        <a:buNone/>
                      </a:pPr>
                      <a:r>
                        <a:rPr lang="en-US" sz="1300" dirty="0">
                          <a:solidFill>
                            <a:schemeClr val="tx1"/>
                          </a:solidFill>
                        </a:rPr>
                        <a:t>Five services</a:t>
                      </a:r>
                      <a:endParaRPr lang="en-US" sz="1300" dirty="0"/>
                    </a:p>
                  </a:txBody>
                  <a:tcPr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chemeClr val="bg1"/>
                    </a:solidFill>
                  </a:tcPr>
                </a:tc>
                <a:extLst>
                  <a:ext uri="{0D108BD9-81ED-4DB2-BD59-A6C34878D82A}">
                    <a16:rowId xmlns:a16="http://schemas.microsoft.com/office/drawing/2014/main" val="10003"/>
                  </a:ext>
                </a:extLst>
              </a:tr>
              <a:tr h="585216">
                <a:tc>
                  <a:txBody>
                    <a:bodyPr/>
                    <a:lstStyle/>
                    <a:p>
                      <a:pPr marL="0" indent="0">
                        <a:buNone/>
                      </a:pPr>
                      <a:r>
                        <a:rPr lang="en-US" sz="1300" dirty="0">
                          <a:solidFill>
                            <a:schemeClr val="tx1"/>
                          </a:solidFill>
                        </a:rPr>
                        <a:t>TopicTransport</a:t>
                      </a:r>
                      <a:endParaRPr lang="en-US" sz="1300" dirty="0"/>
                    </a:p>
                  </a:txBody>
                  <a:tcPr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chemeClr val="bg1"/>
                    </a:solidFill>
                  </a:tcPr>
                </a:tc>
                <a:tc>
                  <a:txBody>
                    <a:bodyPr/>
                    <a:lstStyle/>
                    <a:p>
                      <a:pPr marL="0" indent="0">
                        <a:buNone/>
                      </a:pPr>
                      <a:r>
                        <a:rPr lang="en-US" sz="1300" dirty="0">
                          <a:solidFill>
                            <a:schemeClr val="tx1"/>
                          </a:solidFill>
                        </a:rPr>
                        <a:t>Broker connection, exchange and own-queue bindings</a:t>
                      </a:r>
                      <a:endParaRPr lang="en-US" sz="1300" dirty="0"/>
                    </a:p>
                  </a:txBody>
                  <a:tcPr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chemeClr val="bg1"/>
                    </a:solidFill>
                  </a:tcPr>
                </a:tc>
                <a:tc>
                  <a:txBody>
                    <a:bodyPr/>
                    <a:lstStyle/>
                    <a:p>
                      <a:pPr marL="0" indent="0">
                        <a:buNone/>
                      </a:pPr>
                      <a:r>
                        <a:rPr lang="en-US" sz="1300" dirty="0">
                          <a:solidFill>
                            <a:schemeClr val="tx1"/>
                          </a:solidFill>
                        </a:rPr>
                        <a:t>Services, event logger</a:t>
                      </a:r>
                      <a:endParaRPr lang="en-US" sz="1300" dirty="0"/>
                    </a:p>
                  </a:txBody>
                  <a:tcPr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chemeClr val="bg1"/>
                    </a:solidFill>
                  </a:tcPr>
                </a:tc>
                <a:extLst>
                  <a:ext uri="{0D108BD9-81ED-4DB2-BD59-A6C34878D82A}">
                    <a16:rowId xmlns:a16="http://schemas.microsoft.com/office/drawing/2014/main" val="10004"/>
                  </a:ext>
                </a:extLst>
              </a:tr>
              <a:tr h="585216">
                <a:tc>
                  <a:txBody>
                    <a:bodyPr/>
                    <a:lstStyle/>
                    <a:p>
                      <a:pPr marL="0" indent="0">
                        <a:buNone/>
                      </a:pPr>
                      <a:r>
                        <a:rPr lang="en-US" sz="1300" dirty="0">
                          <a:solidFill>
                            <a:schemeClr val="tx1"/>
                          </a:solidFill>
                        </a:rPr>
                        <a:t>create_database</a:t>
                      </a:r>
                      <a:endParaRPr lang="en-US" sz="1300" dirty="0"/>
                    </a:p>
                  </a:txBody>
                  <a:tcPr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chemeClr val="bg1"/>
                    </a:solidFill>
                  </a:tcPr>
                </a:tc>
                <a:tc>
                  <a:txBody>
                    <a:bodyPr/>
                    <a:lstStyle/>
                    <a:p>
                      <a:pPr marL="0" indent="0">
                        <a:buNone/>
                      </a:pPr>
                      <a:r>
                        <a:rPr lang="en-US" sz="1300" dirty="0">
                          <a:solidFill>
                            <a:schemeClr val="tx1"/>
                          </a:solidFill>
                        </a:rPr>
                        <a:t>Engine and session factory per service database</a:t>
                      </a:r>
                      <a:endParaRPr lang="en-US" sz="1300" dirty="0"/>
                    </a:p>
                  </a:txBody>
                  <a:tcPr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chemeClr val="bg1"/>
                    </a:solidFill>
                  </a:tcPr>
                </a:tc>
                <a:tc>
                  <a:txBody>
                    <a:bodyPr/>
                    <a:lstStyle/>
                    <a:p>
                      <a:pPr marL="0" indent="0">
                        <a:buNone/>
                      </a:pPr>
                      <a:r>
                        <a:rPr lang="en-US" sz="1300" dirty="0">
                          <a:solidFill>
                            <a:schemeClr val="tx1"/>
                          </a:solidFill>
                        </a:rPr>
                        <a:t>All databases</a:t>
                      </a:r>
                      <a:endParaRPr lang="en-US" sz="1300" dirty="0"/>
                    </a:p>
                  </a:txBody>
                  <a:tcPr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chemeClr val="bg1"/>
                    </a:solidFill>
                  </a:tcPr>
                </a:tc>
                <a:extLst>
                  <a:ext uri="{0D108BD9-81ED-4DB2-BD59-A6C34878D82A}">
                    <a16:rowId xmlns:a16="http://schemas.microsoft.com/office/drawing/2014/main" val="10005"/>
                  </a:ext>
                </a:extLst>
              </a:tr>
              <a:tr h="585216">
                <a:tc>
                  <a:txBody>
                    <a:bodyPr/>
                    <a:lstStyle/>
                    <a:p>
                      <a:pPr marL="0" indent="0">
                        <a:buNone/>
                      </a:pPr>
                      <a:r>
                        <a:rPr lang="en-US" sz="1300" dirty="0">
                          <a:solidFill>
                            <a:schemeClr val="tx1"/>
                          </a:solidFill>
                        </a:rPr>
                        <a:t>Logging and /health</a:t>
                      </a:r>
                      <a:endParaRPr lang="en-US" sz="1300" dirty="0"/>
                    </a:p>
                  </a:txBody>
                  <a:tcPr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chemeClr val="bg1"/>
                    </a:solidFill>
                  </a:tcPr>
                </a:tc>
                <a:tc>
                  <a:txBody>
                    <a:bodyPr/>
                    <a:lstStyle/>
                    <a:p>
                      <a:pPr marL="0" indent="0">
                        <a:buNone/>
                      </a:pPr>
                      <a:r>
                        <a:rPr lang="en-US" sz="1300" dirty="0">
                          <a:solidFill>
                            <a:schemeClr val="tx1"/>
                          </a:solidFill>
                        </a:rPr>
                        <a:t>Common log format and health endpoint</a:t>
                      </a:r>
                      <a:endParaRPr lang="en-US" sz="1300" dirty="0"/>
                    </a:p>
                  </a:txBody>
                  <a:tcPr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chemeClr val="bg1"/>
                    </a:solidFill>
                  </a:tcPr>
                </a:tc>
                <a:tc>
                  <a:txBody>
                    <a:bodyPr/>
                    <a:lstStyle/>
                    <a:p>
                      <a:pPr marL="0" indent="0">
                        <a:buNone/>
                      </a:pPr>
                      <a:r>
                        <a:rPr lang="en-US" sz="1300" dirty="0">
                          <a:solidFill>
                            <a:schemeClr val="tx1"/>
                          </a:solidFill>
                        </a:rPr>
                        <a:t>Orders, payments, logger</a:t>
                      </a:r>
                      <a:endParaRPr lang="en-US" sz="1300" dirty="0"/>
                    </a:p>
                  </a:txBody>
                  <a:tcPr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chemeClr val="bg1"/>
                    </a:solidFill>
                  </a:tcPr>
                </a:tc>
                <a:extLst>
                  <a:ext uri="{0D108BD9-81ED-4DB2-BD59-A6C34878D82A}">
                    <a16:rowId xmlns:a16="http://schemas.microsoft.com/office/drawing/2014/main" val="10006"/>
                  </a:ext>
                </a:extLst>
              </a:tr>
            </a:tbl>
          </a:graphicData>
        </a:graphic>
      </p:graphicFrame>
      <p:sp>
        <p:nvSpPr>
          <p:cNvPr id="8" name="Chassis scope"/>
          <p:cNvSpPr txBox="1"/>
          <p:nvPr/>
        </p:nvSpPr>
        <p:spPr>
          <a:xfrm>
            <a:off x="4389120" y="5486400"/>
            <a:ext cx="7223760" cy="548640"/>
          </a:xfrm>
          <a:prstGeom prst="rect">
            <a:avLst/>
          </a:prstGeom>
          <a:noFill/>
          <a:ln/>
        </p:spPr>
        <p:txBody>
          <a:bodyPr wrap="square" rtlCol="0" anchor="t"/>
          <a:lstStyle/>
          <a:p>
            <a:pPr marL="0" indent="0">
              <a:buNone/>
            </a:pPr>
            <a:r>
              <a:rPr lang="en-US" sz="1300" i="1" dirty="0">
                <a:solidFill>
                  <a:schemeClr val="tx2"/>
                </a:solidFill>
              </a:rPr>
              <a:t>Stays in each service: models, event contracts, permissions, payment decisions and workflow rules. Refresh sessions stay in Clients.</a:t>
            </a:r>
            <a:endParaRPr lang="en-US" sz="13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4"/>
                </a:solidFill>
              </a:defRPr>
            </a:lvl1pPr>
          </a:lstStyle>
          <a:p>
            <a:pPr algn="r"/>
            <a:fld id="{F7021451-1387-4CA6-816F-3879F97B5CBC}" type="slidenum">
              <a:rPr lang="en-US" b="0"/>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11064240" cy="822960"/>
          </a:xfrm>
          <a:prstGeom prst="rect">
            <a:avLst/>
          </a:prstGeom>
          <a:noFill/>
          <a:ln/>
        </p:spPr>
        <p:txBody>
          <a:bodyPr wrap="square" rtlCol="0" anchor="ctr"/>
          <a:lstStyle/>
          <a:p>
            <a:pPr marL="0" indent="0" algn="l">
              <a:buNone/>
            </a:pPr>
            <a:r>
              <a:rPr lang="en-US" sz="3000" b="1" dirty="0">
                <a:solidFill>
                  <a:schemeClr val="tx1"/>
                </a:solidFill>
              </a:rPr>
              <a:t>Conclusions</a:t>
            </a:r>
            <a:endParaRPr lang="en-US" sz="3000" dirty="0"/>
          </a:p>
        </p:txBody>
      </p:sp>
      <p:sp>
        <p:nvSpPr>
          <p:cNvPr id="3" name="Choreography, not RPC card"/>
          <p:cNvSpPr/>
          <p:nvPr/>
        </p:nvSpPr>
        <p:spPr>
          <a:xfrm>
            <a:off x="548640" y="1280160"/>
            <a:ext cx="5440680" cy="2103120"/>
          </a:xfrm>
          <a:prstGeom prst="roundRect">
            <a:avLst>
              <a:gd name="adj" fmla="val 5217"/>
            </a:avLst>
          </a:prstGeom>
          <a:solidFill>
            <a:schemeClr val="bg2"/>
          </a:solidFill>
          <a:ln w="12700">
            <a:solidFill>
              <a:schemeClr val="bg2"/>
            </a:solidFill>
            <a:prstDash val="solid"/>
          </a:ln>
        </p:spPr>
        <p:txBody>
          <a:bodyPr/>
          <a:lstStyle/>
          <a:p>
            <a:endParaRPr lang="es-ES"/>
          </a:p>
        </p:txBody>
      </p:sp>
      <p:sp>
        <p:nvSpPr>
          <p:cNvPr id="4" name="Choreography, not RPC circle"/>
          <p:cNvSpPr/>
          <p:nvPr/>
        </p:nvSpPr>
        <p:spPr>
          <a:xfrm>
            <a:off x="822960" y="1600200"/>
            <a:ext cx="777240" cy="777240"/>
          </a:xfrm>
          <a:prstGeom prst="ellipse">
            <a:avLst/>
          </a:prstGeom>
          <a:solidFill>
            <a:schemeClr val="accent1"/>
          </a:solidFill>
          <a:ln w="12700">
            <a:solidFill>
              <a:schemeClr val="accent1"/>
            </a:solidFill>
            <a:prstDash val="solid"/>
          </a:ln>
        </p:spPr>
        <p:txBody>
          <a:bodyPr/>
          <a:lstStyle/>
          <a:p>
            <a:endParaRPr lang="es-ES"/>
          </a:p>
        </p:txBody>
      </p:sp>
      <p:pic>
        <p:nvPicPr>
          <p:cNvPr id="5" name="Choreography, not RPC icon" descr="preencoded.png"/>
          <p:cNvPicPr>
            <a:picLocks noChangeAspect="1"/>
          </p:cNvPicPr>
          <p:nvPr/>
        </p:nvPicPr>
        <p:blipFill>
          <a:blip r:embed="rId3"/>
          <a:stretch>
            <a:fillRect/>
          </a:stretch>
        </p:blipFill>
        <p:spPr>
          <a:xfrm>
            <a:off x="1017270" y="1794510"/>
            <a:ext cx="388620" cy="388620"/>
          </a:xfrm>
          <a:prstGeom prst="rect">
            <a:avLst/>
          </a:prstGeom>
        </p:spPr>
      </p:pic>
      <p:sp>
        <p:nvSpPr>
          <p:cNvPr id="6" name="Choreography, not RPC title"/>
          <p:cNvSpPr txBox="1"/>
          <p:nvPr/>
        </p:nvSpPr>
        <p:spPr>
          <a:xfrm>
            <a:off x="1828800" y="1554480"/>
            <a:ext cx="3977640" cy="548640"/>
          </a:xfrm>
          <a:prstGeom prst="rect">
            <a:avLst/>
          </a:prstGeom>
          <a:noFill/>
          <a:ln/>
        </p:spPr>
        <p:txBody>
          <a:bodyPr wrap="square" rtlCol="0" anchor="ctr"/>
          <a:lstStyle/>
          <a:p>
            <a:pPr marL="0" indent="0">
              <a:buNone/>
            </a:pPr>
            <a:r>
              <a:rPr lang="en-US" sz="1800" b="1" dirty="0">
                <a:solidFill>
                  <a:schemeClr val="tx1"/>
                </a:solidFill>
              </a:rPr>
              <a:t>Choreography, not RPC</a:t>
            </a:r>
            <a:endParaRPr lang="en-US" sz="1800" dirty="0"/>
          </a:p>
        </p:txBody>
      </p:sp>
      <p:sp>
        <p:nvSpPr>
          <p:cNvPr id="7" name="Choreography, not RPC desc"/>
          <p:cNvSpPr txBox="1"/>
          <p:nvPr/>
        </p:nvSpPr>
        <p:spPr>
          <a:xfrm>
            <a:off x="1828800" y="2148840"/>
            <a:ext cx="3931920" cy="1097280"/>
          </a:xfrm>
          <a:prstGeom prst="rect">
            <a:avLst/>
          </a:prstGeom>
          <a:noFill/>
          <a:ln/>
        </p:spPr>
        <p:txBody>
          <a:bodyPr wrap="square" rtlCol="0" anchor="t"/>
          <a:lstStyle/>
          <a:p>
            <a:pPr marL="0" indent="0">
              <a:buNone/>
            </a:pPr>
            <a:r>
              <a:rPr lang="en-US" sz="1500" dirty="0">
                <a:solidFill>
                  <a:schemeClr val="tx2"/>
                </a:solidFill>
              </a:rPr>
              <a:t>Services react to 13 fact types; no service calls another, so each keeps working while others are down.</a:t>
            </a:r>
            <a:endParaRPr lang="en-US" sz="1500" dirty="0"/>
          </a:p>
        </p:txBody>
      </p:sp>
      <p:sp>
        <p:nvSpPr>
          <p:cNvPr id="8" name="Consistent under failure card"/>
          <p:cNvSpPr/>
          <p:nvPr/>
        </p:nvSpPr>
        <p:spPr>
          <a:xfrm>
            <a:off x="6172200" y="1280160"/>
            <a:ext cx="5440680" cy="2103120"/>
          </a:xfrm>
          <a:prstGeom prst="roundRect">
            <a:avLst>
              <a:gd name="adj" fmla="val 5217"/>
            </a:avLst>
          </a:prstGeom>
          <a:solidFill>
            <a:schemeClr val="bg2"/>
          </a:solidFill>
          <a:ln w="12700">
            <a:solidFill>
              <a:schemeClr val="bg2"/>
            </a:solidFill>
            <a:prstDash val="solid"/>
          </a:ln>
        </p:spPr>
        <p:txBody>
          <a:bodyPr/>
          <a:lstStyle/>
          <a:p>
            <a:endParaRPr lang="es-ES"/>
          </a:p>
        </p:txBody>
      </p:sp>
      <p:sp>
        <p:nvSpPr>
          <p:cNvPr id="9" name="Consistent under failure circle"/>
          <p:cNvSpPr/>
          <p:nvPr/>
        </p:nvSpPr>
        <p:spPr>
          <a:xfrm>
            <a:off x="6446520" y="1600200"/>
            <a:ext cx="777240" cy="777240"/>
          </a:xfrm>
          <a:prstGeom prst="ellipse">
            <a:avLst/>
          </a:prstGeom>
          <a:solidFill>
            <a:schemeClr val="accent1"/>
          </a:solidFill>
          <a:ln w="12700">
            <a:solidFill>
              <a:schemeClr val="accent1"/>
            </a:solidFill>
            <a:prstDash val="solid"/>
          </a:ln>
        </p:spPr>
        <p:txBody>
          <a:bodyPr/>
          <a:lstStyle/>
          <a:p>
            <a:endParaRPr lang="es-ES"/>
          </a:p>
        </p:txBody>
      </p:sp>
      <p:pic>
        <p:nvPicPr>
          <p:cNvPr id="10" name="Consistent under failure icon" descr="preencoded.png"/>
          <p:cNvPicPr>
            <a:picLocks noChangeAspect="1"/>
          </p:cNvPicPr>
          <p:nvPr/>
        </p:nvPicPr>
        <p:blipFill>
          <a:blip r:embed="rId4"/>
          <a:stretch>
            <a:fillRect/>
          </a:stretch>
        </p:blipFill>
        <p:spPr>
          <a:xfrm>
            <a:off x="6640830" y="1794510"/>
            <a:ext cx="388620" cy="388620"/>
          </a:xfrm>
          <a:prstGeom prst="rect">
            <a:avLst/>
          </a:prstGeom>
        </p:spPr>
      </p:pic>
      <p:sp>
        <p:nvSpPr>
          <p:cNvPr id="11" name="Consistent under failure title"/>
          <p:cNvSpPr txBox="1"/>
          <p:nvPr/>
        </p:nvSpPr>
        <p:spPr>
          <a:xfrm>
            <a:off x="7452360" y="1554480"/>
            <a:ext cx="3977640" cy="548640"/>
          </a:xfrm>
          <a:prstGeom prst="rect">
            <a:avLst/>
          </a:prstGeom>
          <a:noFill/>
          <a:ln/>
        </p:spPr>
        <p:txBody>
          <a:bodyPr wrap="square" rtlCol="0" anchor="ctr"/>
          <a:lstStyle/>
          <a:p>
            <a:pPr marL="0" indent="0">
              <a:buNone/>
            </a:pPr>
            <a:r>
              <a:rPr lang="en-US" sz="1800" b="1" dirty="0">
                <a:solidFill>
                  <a:schemeClr val="tx1"/>
                </a:solidFill>
              </a:rPr>
              <a:t>Consistent under failure</a:t>
            </a:r>
            <a:endParaRPr lang="en-US" sz="1800" dirty="0"/>
          </a:p>
        </p:txBody>
      </p:sp>
      <p:sp>
        <p:nvSpPr>
          <p:cNvPr id="12" name="Consistent under failure desc"/>
          <p:cNvSpPr txBox="1"/>
          <p:nvPr/>
        </p:nvSpPr>
        <p:spPr>
          <a:xfrm>
            <a:off x="7452360" y="2148840"/>
            <a:ext cx="3931920" cy="1097280"/>
          </a:xfrm>
          <a:prstGeom prst="rect">
            <a:avLst/>
          </a:prstGeom>
          <a:noFill/>
          <a:ln/>
        </p:spPr>
        <p:txBody>
          <a:bodyPr wrap="square" rtlCol="0" anchor="t"/>
          <a:lstStyle/>
          <a:p>
            <a:pPr marL="0" indent="0">
              <a:buNone/>
            </a:pPr>
            <a:r>
              <a:rPr lang="en-US" sz="1500" dirty="0">
                <a:solidFill>
                  <a:schemeClr val="tx2"/>
                </a:solidFill>
              </a:rPr>
              <a:t>Transactional outbox and inbox, broker confirms and durable queues: no lost facts, no double charges.</a:t>
            </a:r>
            <a:endParaRPr lang="en-US" sz="1500" dirty="0"/>
          </a:p>
        </p:txBody>
      </p:sp>
      <p:sp>
        <p:nvSpPr>
          <p:cNvPr id="13" name="Secured end to end card"/>
          <p:cNvSpPr/>
          <p:nvPr/>
        </p:nvSpPr>
        <p:spPr>
          <a:xfrm>
            <a:off x="548640" y="3611880"/>
            <a:ext cx="5440680" cy="2103120"/>
          </a:xfrm>
          <a:prstGeom prst="roundRect">
            <a:avLst>
              <a:gd name="adj" fmla="val 5217"/>
            </a:avLst>
          </a:prstGeom>
          <a:solidFill>
            <a:schemeClr val="bg2"/>
          </a:solidFill>
          <a:ln w="12700">
            <a:solidFill>
              <a:schemeClr val="bg2"/>
            </a:solidFill>
            <a:prstDash val="solid"/>
          </a:ln>
        </p:spPr>
        <p:txBody>
          <a:bodyPr/>
          <a:lstStyle/>
          <a:p>
            <a:endParaRPr lang="es-ES"/>
          </a:p>
        </p:txBody>
      </p:sp>
      <p:sp>
        <p:nvSpPr>
          <p:cNvPr id="14" name="Secured end to end circle"/>
          <p:cNvSpPr/>
          <p:nvPr/>
        </p:nvSpPr>
        <p:spPr>
          <a:xfrm>
            <a:off x="822960" y="3931920"/>
            <a:ext cx="777240" cy="777240"/>
          </a:xfrm>
          <a:prstGeom prst="ellipse">
            <a:avLst/>
          </a:prstGeom>
          <a:solidFill>
            <a:schemeClr val="accent1"/>
          </a:solidFill>
          <a:ln w="12700">
            <a:solidFill>
              <a:schemeClr val="accent1"/>
            </a:solidFill>
            <a:prstDash val="solid"/>
          </a:ln>
        </p:spPr>
        <p:txBody>
          <a:bodyPr/>
          <a:lstStyle/>
          <a:p>
            <a:endParaRPr lang="es-ES"/>
          </a:p>
        </p:txBody>
      </p:sp>
      <p:pic>
        <p:nvPicPr>
          <p:cNvPr id="15" name="Secured end to end icon" descr="preencoded.png"/>
          <p:cNvPicPr>
            <a:picLocks noChangeAspect="1"/>
          </p:cNvPicPr>
          <p:nvPr/>
        </p:nvPicPr>
        <p:blipFill>
          <a:blip r:embed="rId5"/>
          <a:stretch>
            <a:fillRect/>
          </a:stretch>
        </p:blipFill>
        <p:spPr>
          <a:xfrm>
            <a:off x="1017270" y="4126230"/>
            <a:ext cx="388620" cy="388620"/>
          </a:xfrm>
          <a:prstGeom prst="rect">
            <a:avLst/>
          </a:prstGeom>
        </p:spPr>
      </p:pic>
      <p:sp>
        <p:nvSpPr>
          <p:cNvPr id="16" name="Secured end to end title"/>
          <p:cNvSpPr txBox="1"/>
          <p:nvPr/>
        </p:nvSpPr>
        <p:spPr>
          <a:xfrm>
            <a:off x="1828800" y="3886200"/>
            <a:ext cx="3977640" cy="548640"/>
          </a:xfrm>
          <a:prstGeom prst="rect">
            <a:avLst/>
          </a:prstGeom>
          <a:noFill/>
          <a:ln/>
        </p:spPr>
        <p:txBody>
          <a:bodyPr wrap="square" rtlCol="0" anchor="ctr"/>
          <a:lstStyle/>
          <a:p>
            <a:pPr marL="0" indent="0">
              <a:buNone/>
            </a:pPr>
            <a:r>
              <a:rPr lang="en-US" sz="1800" b="1" dirty="0">
                <a:solidFill>
                  <a:schemeClr val="tx1"/>
                </a:solidFill>
              </a:rPr>
              <a:t>Secured end to end</a:t>
            </a:r>
            <a:endParaRPr lang="en-US" sz="1800" dirty="0"/>
          </a:p>
        </p:txBody>
      </p:sp>
      <p:sp>
        <p:nvSpPr>
          <p:cNvPr id="17" name="Secured end to end desc"/>
          <p:cNvSpPr txBox="1"/>
          <p:nvPr/>
        </p:nvSpPr>
        <p:spPr>
          <a:xfrm>
            <a:off x="1828800" y="4480560"/>
            <a:ext cx="3931920" cy="1097280"/>
          </a:xfrm>
          <a:prstGeom prst="rect">
            <a:avLst/>
          </a:prstGeom>
          <a:noFill/>
          <a:ln/>
        </p:spPr>
        <p:txBody>
          <a:bodyPr wrap="square" rtlCol="0" anchor="t"/>
          <a:lstStyle/>
          <a:p>
            <a:pPr marL="0" indent="0">
              <a:buNone/>
            </a:pPr>
            <a:r>
              <a:rPr lang="en-US" sz="1500" dirty="0">
                <a:solidFill>
                  <a:schemeClr val="tx2"/>
                </a:solidFill>
              </a:rPr>
              <a:t>JWT on every API, rotating refresh sessions, per-client authorization and an HTTPS gateway.</a:t>
            </a:r>
            <a:endParaRPr lang="en-US" sz="1500" dirty="0"/>
          </a:p>
        </p:txBody>
      </p:sp>
      <p:sp>
        <p:nvSpPr>
          <p:cNvPr id="18" name="Shared and auditable card"/>
          <p:cNvSpPr/>
          <p:nvPr/>
        </p:nvSpPr>
        <p:spPr>
          <a:xfrm>
            <a:off x="6172200" y="3611880"/>
            <a:ext cx="5440680" cy="2103120"/>
          </a:xfrm>
          <a:prstGeom prst="roundRect">
            <a:avLst>
              <a:gd name="adj" fmla="val 5217"/>
            </a:avLst>
          </a:prstGeom>
          <a:solidFill>
            <a:schemeClr val="bg2"/>
          </a:solidFill>
          <a:ln w="12700">
            <a:solidFill>
              <a:schemeClr val="bg2"/>
            </a:solidFill>
            <a:prstDash val="solid"/>
          </a:ln>
        </p:spPr>
        <p:txBody>
          <a:bodyPr/>
          <a:lstStyle/>
          <a:p>
            <a:endParaRPr lang="es-ES"/>
          </a:p>
        </p:txBody>
      </p:sp>
      <p:sp>
        <p:nvSpPr>
          <p:cNvPr id="19" name="Shared and auditable circle"/>
          <p:cNvSpPr/>
          <p:nvPr/>
        </p:nvSpPr>
        <p:spPr>
          <a:xfrm>
            <a:off x="6446520" y="3931920"/>
            <a:ext cx="777240" cy="777240"/>
          </a:xfrm>
          <a:prstGeom prst="ellipse">
            <a:avLst/>
          </a:prstGeom>
          <a:solidFill>
            <a:schemeClr val="accent1"/>
          </a:solidFill>
          <a:ln w="12700">
            <a:solidFill>
              <a:schemeClr val="accent1"/>
            </a:solidFill>
            <a:prstDash val="solid"/>
          </a:ln>
        </p:spPr>
        <p:txBody>
          <a:bodyPr/>
          <a:lstStyle/>
          <a:p>
            <a:endParaRPr lang="es-ES"/>
          </a:p>
        </p:txBody>
      </p:sp>
      <p:pic>
        <p:nvPicPr>
          <p:cNvPr id="20" name="Shared and auditable icon" descr="preencoded.png"/>
          <p:cNvPicPr>
            <a:picLocks noChangeAspect="1"/>
          </p:cNvPicPr>
          <p:nvPr/>
        </p:nvPicPr>
        <p:blipFill>
          <a:blip r:embed="rId6"/>
          <a:stretch>
            <a:fillRect/>
          </a:stretch>
        </p:blipFill>
        <p:spPr>
          <a:xfrm>
            <a:off x="6640830" y="4126230"/>
            <a:ext cx="388620" cy="388620"/>
          </a:xfrm>
          <a:prstGeom prst="rect">
            <a:avLst/>
          </a:prstGeom>
        </p:spPr>
      </p:pic>
      <p:sp>
        <p:nvSpPr>
          <p:cNvPr id="21" name="Shared and auditable title"/>
          <p:cNvSpPr txBox="1"/>
          <p:nvPr/>
        </p:nvSpPr>
        <p:spPr>
          <a:xfrm>
            <a:off x="7452360" y="3886200"/>
            <a:ext cx="3977640" cy="548640"/>
          </a:xfrm>
          <a:prstGeom prst="rect">
            <a:avLst/>
          </a:prstGeom>
          <a:noFill/>
          <a:ln/>
        </p:spPr>
        <p:txBody>
          <a:bodyPr wrap="square" rtlCol="0" anchor="ctr"/>
          <a:lstStyle/>
          <a:p>
            <a:pPr marL="0" indent="0">
              <a:buNone/>
            </a:pPr>
            <a:r>
              <a:rPr lang="en-US" sz="1800" b="1" dirty="0">
                <a:solidFill>
                  <a:schemeClr val="tx1"/>
                </a:solidFill>
              </a:rPr>
              <a:t>Shared and auditable</a:t>
            </a:r>
            <a:endParaRPr lang="en-US" sz="1800" dirty="0"/>
          </a:p>
        </p:txBody>
      </p:sp>
      <p:sp>
        <p:nvSpPr>
          <p:cNvPr id="22" name="Shared and auditable desc"/>
          <p:cNvSpPr txBox="1"/>
          <p:nvPr/>
        </p:nvSpPr>
        <p:spPr>
          <a:xfrm>
            <a:off x="7452360" y="4480560"/>
            <a:ext cx="3931920" cy="1097280"/>
          </a:xfrm>
          <a:prstGeom prst="rect">
            <a:avLst/>
          </a:prstGeom>
          <a:noFill/>
          <a:ln/>
        </p:spPr>
        <p:txBody>
          <a:bodyPr wrap="square" rtlCol="0" anchor="t"/>
          <a:lstStyle/>
          <a:p>
            <a:pPr marL="0" indent="0">
              <a:buNone/>
            </a:pPr>
            <a:r>
              <a:rPr lang="en-US" sz="1500" dirty="0">
                <a:solidFill>
                  <a:schemeClr val="tx2"/>
                </a:solidFill>
              </a:rPr>
              <a:t>The chassis holds the plumbing for all services, and every business fact is archived in MongoDB.</a:t>
            </a:r>
            <a:endParaRPr lang="en-US" sz="15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4"/>
                </a:solidFill>
              </a:defRPr>
            </a:lvl1pPr>
          </a:lstStyle>
          <a:p>
            <a:pPr algn="r"/>
            <a:fld id="{F7021451-1387-4CA6-816F-3879F97B5CBC}" type="slidenum">
              <a:rPr lang="en-US" b="0"/>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11064240" cy="822960"/>
          </a:xfrm>
          <a:prstGeom prst="rect">
            <a:avLst/>
          </a:prstGeom>
          <a:noFill/>
          <a:ln/>
        </p:spPr>
        <p:txBody>
          <a:bodyPr wrap="square" rtlCol="0" anchor="ctr"/>
          <a:lstStyle/>
          <a:p>
            <a:pPr marL="0" indent="0" algn="l">
              <a:buNone/>
            </a:pPr>
            <a:r>
              <a:rPr lang="en-US" sz="3000" b="1" dirty="0">
                <a:solidFill>
                  <a:schemeClr val="bg1"/>
                </a:solidFill>
              </a:rPr>
              <a:t>Future work and improvements</a:t>
            </a:r>
            <a:endParaRPr lang="en-US" sz="3000" dirty="0"/>
          </a:p>
        </p:txBody>
      </p:sp>
      <p:sp>
        <p:nvSpPr>
          <p:cNvPr id="3" name="Security circle"/>
          <p:cNvSpPr/>
          <p:nvPr/>
        </p:nvSpPr>
        <p:spPr>
          <a:xfrm>
            <a:off x="548640" y="1508760"/>
            <a:ext cx="685800" cy="685800"/>
          </a:xfrm>
          <a:prstGeom prst="ellipse">
            <a:avLst/>
          </a:prstGeom>
          <a:solidFill>
            <a:schemeClr val="accent1"/>
          </a:solidFill>
          <a:ln w="12700">
            <a:solidFill>
              <a:schemeClr val="accent1"/>
            </a:solidFill>
            <a:prstDash val="solid"/>
          </a:ln>
        </p:spPr>
        <p:txBody>
          <a:bodyPr/>
          <a:lstStyle/>
          <a:p>
            <a:endParaRPr lang="es-ES"/>
          </a:p>
        </p:txBody>
      </p:sp>
      <p:pic>
        <p:nvPicPr>
          <p:cNvPr id="4" name="Security icon" descr="preencoded.png"/>
          <p:cNvPicPr>
            <a:picLocks noChangeAspect="1"/>
          </p:cNvPicPr>
          <p:nvPr/>
        </p:nvPicPr>
        <p:blipFill>
          <a:blip r:embed="rId3"/>
          <a:stretch>
            <a:fillRect/>
          </a:stretch>
        </p:blipFill>
        <p:spPr>
          <a:xfrm>
            <a:off x="720090" y="1680210"/>
            <a:ext cx="342900" cy="342900"/>
          </a:xfrm>
          <a:prstGeom prst="rect">
            <a:avLst/>
          </a:prstGeom>
        </p:spPr>
      </p:pic>
      <p:sp>
        <p:nvSpPr>
          <p:cNvPr id="5" name="Security title"/>
          <p:cNvSpPr txBox="1"/>
          <p:nvPr/>
        </p:nvSpPr>
        <p:spPr>
          <a:xfrm>
            <a:off x="548640" y="2331720"/>
            <a:ext cx="2606040" cy="457200"/>
          </a:xfrm>
          <a:prstGeom prst="rect">
            <a:avLst/>
          </a:prstGeom>
          <a:noFill/>
          <a:ln/>
        </p:spPr>
        <p:txBody>
          <a:bodyPr wrap="square" rtlCol="0" anchor="ctr"/>
          <a:lstStyle/>
          <a:p>
            <a:pPr marL="0" indent="0">
              <a:buNone/>
            </a:pPr>
            <a:r>
              <a:rPr lang="en-US" sz="1900" b="1" dirty="0">
                <a:solidFill>
                  <a:schemeClr val="bg1"/>
                </a:solidFill>
              </a:rPr>
              <a:t>Security</a:t>
            </a:r>
            <a:endParaRPr lang="en-US" sz="1900" dirty="0"/>
          </a:p>
        </p:txBody>
      </p:sp>
      <p:sp>
        <p:nvSpPr>
          <p:cNvPr id="6" name="Security list"/>
          <p:cNvSpPr txBox="1"/>
          <p:nvPr/>
        </p:nvSpPr>
        <p:spPr>
          <a:xfrm>
            <a:off x="548640" y="2880360"/>
            <a:ext cx="2606040" cy="3291840"/>
          </a:xfrm>
          <a:prstGeom prst="rect">
            <a:avLst/>
          </a:prstGeom>
          <a:noFill/>
          <a:ln/>
        </p:spPr>
        <p:txBody>
          <a:bodyPr wrap="square" rtlCol="0" anchor="t"/>
          <a:lstStyle/>
          <a:p>
            <a:pPr marL="342900" indent="-342900">
              <a:spcAft>
                <a:spcPts val="800"/>
              </a:spcAft>
              <a:buSzPct val="100000"/>
              <a:buChar char="•"/>
            </a:pPr>
            <a:r>
              <a:rPr lang="en-US" sz="1400" dirty="0">
                <a:solidFill>
                  <a:schemeClr val="bg2"/>
                </a:solidFill>
              </a:rPr>
              <a:t>Close direct service ports</a:t>
            </a:r>
            <a:endParaRPr lang="en-US" sz="1400" dirty="0"/>
          </a:p>
          <a:p>
            <a:pPr marL="342900" indent="-342900">
              <a:spcAft>
                <a:spcPts val="800"/>
              </a:spcAft>
              <a:buSzPct val="100000"/>
              <a:buChar char="•"/>
            </a:pPr>
            <a:r>
              <a:rPr lang="en-US" sz="1400" dirty="0">
                <a:solidFill>
                  <a:schemeClr val="bg2"/>
                </a:solidFill>
              </a:rPr>
              <a:t>Move secrets and certificates out of the repository</a:t>
            </a:r>
            <a:endParaRPr lang="en-US" sz="1400" dirty="0"/>
          </a:p>
          <a:p>
            <a:pPr marL="342900" indent="-342900">
              <a:spcAft>
                <a:spcPts val="800"/>
              </a:spcAft>
              <a:buSzPct val="100000"/>
              <a:buChar char="•"/>
            </a:pPr>
            <a:r>
              <a:rPr lang="en-US" sz="1400" dirty="0">
                <a:solidFill>
                  <a:schemeClr val="bg2"/>
                </a:solidFill>
              </a:rPr>
              <a:t>Protect the remaining read routes</a:t>
            </a:r>
            <a:endParaRPr lang="en-US" sz="1400" dirty="0"/>
          </a:p>
        </p:txBody>
      </p:sp>
      <p:sp>
        <p:nvSpPr>
          <p:cNvPr id="7" name="Chassis circle"/>
          <p:cNvSpPr/>
          <p:nvPr/>
        </p:nvSpPr>
        <p:spPr>
          <a:xfrm>
            <a:off x="3383280" y="1508760"/>
            <a:ext cx="685800" cy="685800"/>
          </a:xfrm>
          <a:prstGeom prst="ellipse">
            <a:avLst/>
          </a:prstGeom>
          <a:solidFill>
            <a:schemeClr val="accent1"/>
          </a:solidFill>
          <a:ln w="12700">
            <a:solidFill>
              <a:schemeClr val="accent1"/>
            </a:solidFill>
            <a:prstDash val="solid"/>
          </a:ln>
        </p:spPr>
        <p:txBody>
          <a:bodyPr/>
          <a:lstStyle/>
          <a:p>
            <a:endParaRPr lang="es-ES"/>
          </a:p>
        </p:txBody>
      </p:sp>
      <p:pic>
        <p:nvPicPr>
          <p:cNvPr id="8" name="Chassis icon" descr="preencoded.png"/>
          <p:cNvPicPr>
            <a:picLocks noChangeAspect="1"/>
          </p:cNvPicPr>
          <p:nvPr/>
        </p:nvPicPr>
        <p:blipFill>
          <a:blip r:embed="rId4"/>
          <a:stretch>
            <a:fillRect/>
          </a:stretch>
        </p:blipFill>
        <p:spPr>
          <a:xfrm>
            <a:off x="3554730" y="1680210"/>
            <a:ext cx="342900" cy="342900"/>
          </a:xfrm>
          <a:prstGeom prst="rect">
            <a:avLst/>
          </a:prstGeom>
        </p:spPr>
      </p:pic>
      <p:sp>
        <p:nvSpPr>
          <p:cNvPr id="9" name="Chassis title"/>
          <p:cNvSpPr txBox="1"/>
          <p:nvPr/>
        </p:nvSpPr>
        <p:spPr>
          <a:xfrm>
            <a:off x="3383280" y="2331720"/>
            <a:ext cx="2606040" cy="457200"/>
          </a:xfrm>
          <a:prstGeom prst="rect">
            <a:avLst/>
          </a:prstGeom>
          <a:noFill/>
          <a:ln/>
        </p:spPr>
        <p:txBody>
          <a:bodyPr wrap="square" rtlCol="0" anchor="ctr"/>
          <a:lstStyle/>
          <a:p>
            <a:pPr marL="0" indent="0">
              <a:buNone/>
            </a:pPr>
            <a:r>
              <a:rPr lang="en-US" sz="1900" b="1" dirty="0">
                <a:solidFill>
                  <a:schemeClr val="bg1"/>
                </a:solidFill>
              </a:rPr>
              <a:t>Chassis</a:t>
            </a:r>
            <a:endParaRPr lang="en-US" sz="1900" dirty="0"/>
          </a:p>
        </p:txBody>
      </p:sp>
      <p:sp>
        <p:nvSpPr>
          <p:cNvPr id="10" name="Chassis list"/>
          <p:cNvSpPr txBox="1"/>
          <p:nvPr/>
        </p:nvSpPr>
        <p:spPr>
          <a:xfrm>
            <a:off x="3383280" y="2880360"/>
            <a:ext cx="2606040" cy="3291840"/>
          </a:xfrm>
          <a:prstGeom prst="rect">
            <a:avLst/>
          </a:prstGeom>
          <a:noFill/>
          <a:ln/>
        </p:spPr>
        <p:txBody>
          <a:bodyPr wrap="square" rtlCol="0" anchor="t"/>
          <a:lstStyle/>
          <a:p>
            <a:pPr marL="342900" indent="-342900">
              <a:spcAft>
                <a:spcPts val="800"/>
              </a:spcAft>
              <a:buSzPct val="100000"/>
              <a:buChar char="•"/>
            </a:pPr>
            <a:r>
              <a:rPr lang="en-US" sz="1400" dirty="0">
                <a:solidFill>
                  <a:schemeClr val="bg2"/>
                </a:solidFill>
              </a:rPr>
              <a:t>Publish tagged releases instead of a vendored wheel only</a:t>
            </a:r>
            <a:endParaRPr lang="en-US" sz="1400" dirty="0"/>
          </a:p>
          <a:p>
            <a:pPr marL="342900" indent="-342900">
              <a:spcAft>
                <a:spcPts val="800"/>
              </a:spcAft>
              <a:buSzPct val="100000"/>
              <a:buChar char="•"/>
            </a:pPr>
            <a:r>
              <a:rPr lang="en-US" sz="1400" dirty="0">
                <a:solidFill>
                  <a:schemeClr val="bg2"/>
                </a:solidFill>
              </a:rPr>
              <a:t>Share the consumer contracts as a package</a:t>
            </a:r>
            <a:endParaRPr lang="en-US" sz="1400" dirty="0"/>
          </a:p>
        </p:txBody>
      </p:sp>
      <p:sp>
        <p:nvSpPr>
          <p:cNvPr id="11" name="Messaging circle"/>
          <p:cNvSpPr/>
          <p:nvPr/>
        </p:nvSpPr>
        <p:spPr>
          <a:xfrm>
            <a:off x="6217920" y="1508760"/>
            <a:ext cx="685800" cy="685800"/>
          </a:xfrm>
          <a:prstGeom prst="ellipse">
            <a:avLst/>
          </a:prstGeom>
          <a:solidFill>
            <a:schemeClr val="accent1"/>
          </a:solidFill>
          <a:ln w="12700">
            <a:solidFill>
              <a:schemeClr val="accent1"/>
            </a:solidFill>
            <a:prstDash val="solid"/>
          </a:ln>
        </p:spPr>
        <p:txBody>
          <a:bodyPr/>
          <a:lstStyle/>
          <a:p>
            <a:endParaRPr lang="es-ES"/>
          </a:p>
        </p:txBody>
      </p:sp>
      <p:pic>
        <p:nvPicPr>
          <p:cNvPr id="12" name="Messaging icon" descr="preencoded.png"/>
          <p:cNvPicPr>
            <a:picLocks noChangeAspect="1"/>
          </p:cNvPicPr>
          <p:nvPr/>
        </p:nvPicPr>
        <p:blipFill>
          <a:blip r:embed="rId5"/>
          <a:stretch>
            <a:fillRect/>
          </a:stretch>
        </p:blipFill>
        <p:spPr>
          <a:xfrm>
            <a:off x="6389370" y="1680210"/>
            <a:ext cx="342900" cy="342900"/>
          </a:xfrm>
          <a:prstGeom prst="rect">
            <a:avLst/>
          </a:prstGeom>
        </p:spPr>
      </p:pic>
      <p:sp>
        <p:nvSpPr>
          <p:cNvPr id="13" name="Messaging title"/>
          <p:cNvSpPr txBox="1"/>
          <p:nvPr/>
        </p:nvSpPr>
        <p:spPr>
          <a:xfrm>
            <a:off x="6217920" y="2331720"/>
            <a:ext cx="2606040" cy="457200"/>
          </a:xfrm>
          <a:prstGeom prst="rect">
            <a:avLst/>
          </a:prstGeom>
          <a:noFill/>
          <a:ln/>
        </p:spPr>
        <p:txBody>
          <a:bodyPr wrap="square" rtlCol="0" anchor="ctr"/>
          <a:lstStyle/>
          <a:p>
            <a:pPr marL="0" indent="0">
              <a:buNone/>
            </a:pPr>
            <a:r>
              <a:rPr lang="en-US" sz="1900" b="1" dirty="0">
                <a:solidFill>
                  <a:schemeClr val="bg1"/>
                </a:solidFill>
              </a:rPr>
              <a:t>Messaging</a:t>
            </a:r>
            <a:endParaRPr lang="en-US" sz="1900" dirty="0"/>
          </a:p>
        </p:txBody>
      </p:sp>
      <p:sp>
        <p:nvSpPr>
          <p:cNvPr id="14" name="Messaging list"/>
          <p:cNvSpPr txBox="1"/>
          <p:nvPr/>
        </p:nvSpPr>
        <p:spPr>
          <a:xfrm>
            <a:off x="6217920" y="2880360"/>
            <a:ext cx="2606040" cy="3291840"/>
          </a:xfrm>
          <a:prstGeom prst="rect">
            <a:avLst/>
          </a:prstGeom>
          <a:noFill/>
          <a:ln/>
        </p:spPr>
        <p:txBody>
          <a:bodyPr wrap="square" rtlCol="0" anchor="t"/>
          <a:lstStyle/>
          <a:p>
            <a:pPr marL="342900" indent="-342900">
              <a:spcAft>
                <a:spcPts val="800"/>
              </a:spcAft>
              <a:buSzPct val="100000"/>
              <a:buChar char="•"/>
            </a:pPr>
            <a:r>
              <a:rPr lang="en-US" sz="1400" dirty="0">
                <a:solidFill>
                  <a:schemeClr val="bg2"/>
                </a:solidFill>
              </a:rPr>
              <a:t>Dead-letter queue for rejected facts</a:t>
            </a:r>
            <a:endParaRPr lang="en-US" sz="1400" dirty="0"/>
          </a:p>
          <a:p>
            <a:pPr marL="342900" indent="-342900">
              <a:spcAft>
                <a:spcPts val="800"/>
              </a:spcAft>
              <a:buSzPct val="100000"/>
              <a:buChar char="•"/>
            </a:pPr>
            <a:r>
              <a:rPr lang="en-US" sz="1400" dirty="0">
                <a:solidFill>
                  <a:schemeClr val="bg2"/>
                </a:solidFill>
              </a:rPr>
              <a:t>Publish catalogue and key snapshots only when they change</a:t>
            </a:r>
            <a:endParaRPr lang="en-US" sz="1400" dirty="0"/>
          </a:p>
          <a:p>
            <a:pPr marL="342900" indent="-342900">
              <a:spcAft>
                <a:spcPts val="800"/>
              </a:spcAft>
              <a:buSzPct val="100000"/>
              <a:buChar char="•"/>
            </a:pPr>
            <a:r>
              <a:rPr lang="en-US" sz="1400" dirty="0">
                <a:solidFill>
                  <a:schemeClr val="bg2"/>
                </a:solidFill>
              </a:rPr>
              <a:t>Clean up old outbox and inbox rows</a:t>
            </a:r>
            <a:endParaRPr lang="en-US" sz="1400" dirty="0"/>
          </a:p>
        </p:txBody>
      </p:sp>
      <p:sp>
        <p:nvSpPr>
          <p:cNvPr id="15" name="Operations circle"/>
          <p:cNvSpPr/>
          <p:nvPr/>
        </p:nvSpPr>
        <p:spPr>
          <a:xfrm>
            <a:off x="9052560" y="1508760"/>
            <a:ext cx="685800" cy="685800"/>
          </a:xfrm>
          <a:prstGeom prst="ellipse">
            <a:avLst/>
          </a:prstGeom>
          <a:solidFill>
            <a:schemeClr val="accent1"/>
          </a:solidFill>
          <a:ln w="12700">
            <a:solidFill>
              <a:schemeClr val="accent1"/>
            </a:solidFill>
            <a:prstDash val="solid"/>
          </a:ln>
        </p:spPr>
        <p:txBody>
          <a:bodyPr/>
          <a:lstStyle/>
          <a:p>
            <a:endParaRPr lang="es-ES"/>
          </a:p>
        </p:txBody>
      </p:sp>
      <p:pic>
        <p:nvPicPr>
          <p:cNvPr id="16" name="Operations icon" descr="preencoded.png"/>
          <p:cNvPicPr>
            <a:picLocks noChangeAspect="1"/>
          </p:cNvPicPr>
          <p:nvPr/>
        </p:nvPicPr>
        <p:blipFill>
          <a:blip r:embed="rId6"/>
          <a:stretch>
            <a:fillRect/>
          </a:stretch>
        </p:blipFill>
        <p:spPr>
          <a:xfrm>
            <a:off x="9224010" y="1680210"/>
            <a:ext cx="342900" cy="342900"/>
          </a:xfrm>
          <a:prstGeom prst="rect">
            <a:avLst/>
          </a:prstGeom>
        </p:spPr>
      </p:pic>
      <p:sp>
        <p:nvSpPr>
          <p:cNvPr id="17" name="Operations title"/>
          <p:cNvSpPr txBox="1"/>
          <p:nvPr/>
        </p:nvSpPr>
        <p:spPr>
          <a:xfrm>
            <a:off x="9052560" y="2331720"/>
            <a:ext cx="2606040" cy="457200"/>
          </a:xfrm>
          <a:prstGeom prst="rect">
            <a:avLst/>
          </a:prstGeom>
          <a:noFill/>
          <a:ln/>
        </p:spPr>
        <p:txBody>
          <a:bodyPr wrap="square" rtlCol="0" anchor="ctr"/>
          <a:lstStyle/>
          <a:p>
            <a:pPr marL="0" indent="0">
              <a:buNone/>
            </a:pPr>
            <a:r>
              <a:rPr lang="en-US" sz="1900" b="1" dirty="0">
                <a:solidFill>
                  <a:schemeClr val="bg1"/>
                </a:solidFill>
              </a:rPr>
              <a:t>Operations</a:t>
            </a:r>
            <a:endParaRPr lang="en-US" sz="1900" dirty="0"/>
          </a:p>
        </p:txBody>
      </p:sp>
      <p:sp>
        <p:nvSpPr>
          <p:cNvPr id="18" name="Operations list"/>
          <p:cNvSpPr txBox="1"/>
          <p:nvPr/>
        </p:nvSpPr>
        <p:spPr>
          <a:xfrm>
            <a:off x="9052560" y="2880360"/>
            <a:ext cx="2606040" cy="3291840"/>
          </a:xfrm>
          <a:prstGeom prst="rect">
            <a:avLst/>
          </a:prstGeom>
          <a:noFill/>
          <a:ln/>
        </p:spPr>
        <p:txBody>
          <a:bodyPr wrap="square" rtlCol="0" anchor="t"/>
          <a:lstStyle/>
          <a:p>
            <a:pPr marL="342900" indent="-342900">
              <a:spcAft>
                <a:spcPts val="800"/>
              </a:spcAft>
              <a:buSzPct val="100000"/>
              <a:buChar char="•"/>
            </a:pPr>
            <a:r>
              <a:rPr lang="en-US" sz="1400" dirty="0">
                <a:solidFill>
                  <a:schemeClr val="bg2"/>
                </a:solidFill>
              </a:rPr>
              <a:t>Remove legacy endpoints and flags</a:t>
            </a:r>
            <a:endParaRPr lang="en-US" sz="1400" dirty="0"/>
          </a:p>
          <a:p>
            <a:pPr marL="342900" indent="-342900">
              <a:spcAft>
                <a:spcPts val="800"/>
              </a:spcAft>
              <a:buSzPct val="100000"/>
              <a:buChar char="•"/>
            </a:pPr>
            <a:r>
              <a:rPr lang="en-US" sz="1400" dirty="0">
                <a:solidFill>
                  <a:schemeClr val="bg2"/>
                </a:solidFill>
              </a:rPr>
              <a:t>Restore broader test coverage</a:t>
            </a:r>
            <a:endParaRPr lang="en-US" sz="1400" dirty="0"/>
          </a:p>
          <a:p>
            <a:pPr marL="342900" indent="-342900">
              <a:spcAft>
                <a:spcPts val="800"/>
              </a:spcAft>
              <a:buSzPct val="100000"/>
              <a:buChar char="•"/>
            </a:pPr>
            <a:r>
              <a:rPr lang="en-US" sz="1400" dirty="0">
                <a:solidFill>
                  <a:schemeClr val="bg2"/>
                </a:solidFill>
              </a:rPr>
              <a:t>Monitoring and tests in CI</a:t>
            </a:r>
            <a:endParaRPr lang="en-US" sz="1400" dirty="0"/>
          </a:p>
        </p:txBody>
      </p:sp>
    </p:spTree>
  </p:cSld>
  <p:clrMapOvr>
    <a:masterClrMapping/>
  </p:clrMapOvr>
</p:sld>
</file>

<file path=ppt/theme/theme1.xml><?xml version="1.0" encoding="utf-8"?>
<a:theme xmlns:a="http://schemas.openxmlformats.org/drawingml/2006/main" name="Manufacturing Events">
  <a:themeElements>
    <a:clrScheme name="Manufacturing Events">
      <a:dk1>
        <a:srgbClr val="1F2933"/>
      </a:dk1>
      <a:lt1>
        <a:srgbClr val="FFFFFF"/>
      </a:lt1>
      <a:dk2>
        <a:srgbClr val="52606D"/>
      </a:dk2>
      <a:lt2>
        <a:srgbClr val="F1F3F5"/>
      </a:lt2>
      <a:accent1>
        <a:srgbClr val="F26B1D"/>
      </a:accent1>
      <a:accent2>
        <a:srgbClr val="2A9D8F"/>
      </a:accent2>
      <a:accent3>
        <a:srgbClr val="E9C46A"/>
      </a:accent3>
      <a:accent4>
        <a:srgbClr val="9AA5B1"/>
      </a:accent4>
      <a:accent5>
        <a:srgbClr val="264653"/>
      </a:accent5>
      <a:accent6>
        <a:srgbClr val="D64545"/>
      </a:accent6>
      <a:hlink>
        <a:srgbClr val="F26B1D"/>
      </a:hlink>
      <a:folHlink>
        <a:srgbClr val="52606D"/>
      </a:folHlink>
    </a:clrScheme>
    <a:fontScheme name="Manufacturing Events">
      <a:majorFont>
        <a:latin typeface="Arial"/>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Tema d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0</TotalTime>
  <Words>2278</Words>
  <Application>Microsoft Office PowerPoint</Application>
  <PresentationFormat>Panorámica</PresentationFormat>
  <Paragraphs>344</Paragraphs>
  <Slides>10</Slides>
  <Notes>10</Notes>
  <HiddenSlides>0</HiddenSlides>
  <MMClips>0</MMClips>
  <ScaleCrop>false</ScaleCrop>
  <HeadingPairs>
    <vt:vector size="6" baseType="variant">
      <vt:variant>
        <vt:lpstr>Fuentes usadas</vt:lpstr>
      </vt:variant>
      <vt:variant>
        <vt:i4>3</vt:i4>
      </vt:variant>
      <vt:variant>
        <vt:lpstr>Tema</vt:lpstr>
      </vt:variant>
      <vt:variant>
        <vt:i4>1</vt:i4>
      </vt:variant>
      <vt:variant>
        <vt:lpstr>Títulos de diapositiva</vt:lpstr>
      </vt:variant>
      <vt:variant>
        <vt:i4>10</vt:i4>
      </vt:variant>
    </vt:vector>
  </HeadingPairs>
  <TitlesOfParts>
    <vt:vector size="14" baseType="lpstr">
      <vt:lpstr>Arial</vt:lpstr>
      <vt:lpstr>Calibri</vt:lpstr>
      <vt:lpstr>Courier New</vt:lpstr>
      <vt:lpstr>Manufacturing Events</vt:lpstr>
      <vt:lpstr>From Monolith to Microservices</vt:lpstr>
      <vt:lpstr>Architecture: 9 containers, no internal calls</vt:lpstr>
      <vt:lpstr>Endpoints: Clients, Payments and Machine</vt:lpstr>
      <vt:lpstr>Endpoints: Orders and Deliveries</vt:lpstr>
      <vt:lpstr>Choreography on one topic exchange</vt:lpstr>
      <vt:lpstr>Exchange, queues and topics</vt:lpstr>
      <vt:lpstr>Security measures</vt:lpstr>
      <vt:lpstr>Functionalities moved to the microservice chassis</vt:lpstr>
      <vt:lpstr>Conclusions</vt:lpstr>
      <vt:lpstr>Future work and improvements</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Manufacturing: Microservices, Chassis and RabbitMQ</dc:title>
  <dc:subject>PptxGenJS Presentation</dc:subject>
  <dc:creator>PptxGenJS</dc:creator>
  <cp:lastModifiedBy>Javier Criado Garcia</cp:lastModifiedBy>
  <cp:revision>2</cp:revision>
  <dcterms:created xsi:type="dcterms:W3CDTF">2026-10-27T17:19:32Z</dcterms:created>
  <dcterms:modified xsi:type="dcterms:W3CDTF">2026-10-28T16:10:55Z</dcterms:modified>
</cp:coreProperties>
</file>