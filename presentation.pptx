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0794bda-06db-a787-1c80-81bccec37a24}">
          <p14:sldIdLst>
            <p14:sldId id="256"/>
          </p14:sldIdLst>
        </p14:section>
        <p14:section name="Architecture" id="{29c7721c-0e25-7580-f9d1-0b3fc7a2bcfa}">
          <p14:sldIdLst>
            <p14:sldId id="257"/>
          </p14:sldIdLst>
        </p14:section>
        <p14:section name="Endpoints" id="{fcdffbfa-b254-3070-da7e-825e9c9aef4e}">
          <p14:sldIdLst>
            <p14:sldId id="258"/>
            <p14:sldId id="259"/>
          </p14:sldIdLst>
        </p14:section>
        <p14:section name="Messaging and security" id="{49fc4745-17f4-73de-961c-095f2ad085cb}">
          <p14:sldIdLst>
            <p14:sldId id="260"/>
            <p14:sldId id="261"/>
          </p14:sldIdLst>
        </p14:section>
        <p14:section name="Chassis" id="{bb7c3a9a-c6e3-cdbc-e663-334249f8acf3}">
          <p14:sldIdLst>
            <p14:sldId id="262"/>
          </p14:sldIdLst>
        </p14:section>
        <p14:section name="Closing" id="{8a3d2b88-aeed-b0ca-e794-ec121c30133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ten minutes I'll cover seven points: the general architecture and how many elements it has, the endpoints of each service, the exchange, queues and topics we use, the security measures, what we moved into the microservice chassis, our conclusions,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Seven containers: the HAProxy gateway, RabbitMQ, and five FastAPI microservices. Every external request enters through the gateway, on 8080 or 8443 for HTTPS, and is routed by path. Orders, in orange, orchestrates the flow. Four services keep their own SQLite database; the machine keeps its queue in memory. Services talk through one topic exchange with five durable queues and eight event types. Four of the services share our chassis library. In total there are thirty-three HTTP endpoints, which I'll show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endpoints of three services. Clients exposes authentication: the public key, the login with HTTP Basic that returns a JWT, and registration, plus create, list and get clients. Payments has deposit, charge and balance, and all three need a JWT. The machine has its status, and two manual endpoints to add or remove pieces from its queue; in the normal flow it gets work through RabbitMQ. From outside, everything goes through the gateway, which rewrites the api prefix to each service's own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is the largest API. Creating and listing orders need a token. The rest let you follow an order and its pieces, retry pending steps, and the endpoint the machine uses to recover pieces after a restart. Two of them, the piece and payment updates, are legacy callbacks: that information now arrives as RabbitMQ events, but we kept them for compatibility. Deliveries has the usual create, list, get and delete, plus the status update you use to mark a delivery Sent or Delivered, which then notifies orders through 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 single durable topic exchange, manufacturing.events, and eight topics. Orders publishes order.created; payments answers approved or rejected. Orders then requests the pieces from the machine, which reports each piece's progress. When everything is built, orders tells deliveries it is ready, and deliveries tells orders when it's delivered. The client service broadcasts a key-rotation event to a temporary queue per instance. Each message is persistent JSON with a deterministic id; consumers ack it, reject it if it can never succeed, or requeue it if the failure is temporary.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security: users log in once with HTTP Basic and get a JWT signed with RS256. Orders and payments verify the signature, expiry, issuer and audience. Passwords are stored with bcrypt, and public registration can only create normal users. Authorization is role-based: a normal user can only create orders and move money for their own client. The private key never leaves the client service; when it changes, the other services are told through RabbitMQ. At the edge, HAProxy terminates HTTPS and only lets known routes through. RabbitMQ only listens on localhost, containers run as non-root, and invalid messages are rejected. It's a development-level setup, and I'll come back to the gaps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chassis is a separate library in its own repository, installed from GitHub by four of the five services. We moved into it the infrastructure that was copied in every service: the logging setup, the health endpoint, the per-request database session, and above all the confirmed event publishing, which declares the exchange and queue and waits for RabbitMQ's confirmation. We deliberately kept business logic out, and the chassis never retries: if publishing fails, the service keeps the event pending and retries it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services are decoupled: each owns its data and they talk through events, keeping REST only where an immediate answer is needed. The design stays consistent when things fail, thanks to the outbox, broker confirmations and idempotent consumers, so orders are never lost or charged twice. There is a single, secured entry point with HTTPS and JWT. And the chassis removed the duplicated plumbing from the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we would improve. Security first: protect every route, close the direct service ports so only the gateway is reachable, keep secrets out of the repository, persist the signing key and authenticate calls between services. In the chassis: move JWT verification and the consumer loop into it, pin it to a release, and use it in the machine too. For reliability: have the machine acknowledge only after building, add a dead-letter queue, and make health checks test the database and RabbitMQ. And operationally: remove legacy endpoints, add central monitoring, and run the tests in CI. Thank you,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91840"/>
            <a:ext cx="10698480" cy="91440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accent4"/>
                </a:solidFill>
              </a:rPr>
              <a:t>Manufacturing microservices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371600"/>
          </a:xfrm>
          <a:prstGeom prst="rect">
            <a:avLst/>
          </a:prstGeom>
          <a:noFill/>
          <a:ln/>
        </p:spPr>
        <p:txBody>
          <a:bodyPr wrap="square" rtlCol="0" anchor="b"/>
          <a:lstStyle/>
          <a:p>
            <a:pPr algn="l" indent="0" marL="0">
              <a:buNone/>
            </a:pPr>
            <a:r>
              <a:rPr lang="en-US" sz="4400" b="1" dirty="0">
                <a:solidFill>
                  <a:schemeClr val="bg1"/>
                </a:solidFill>
              </a:rPr>
              <a:t>From Monolith to Microservices</a:t>
            </a:r>
            <a:endParaRPr lang="en-US" sz="4400" dirty="0"/>
          </a:p>
        </p:txBody>
      </p:sp>
      <p:sp>
        <p:nvSpPr>
          <p:cNvPr id="3" name="Text 0"/>
          <p:cNvSpPr/>
          <p:nvPr>
            <p:ph idx="101" type="body" hasCustomPrompt="1"/>
          </p:nvPr>
        </p:nvSpPr>
        <p:spPr>
          <a:xfrm>
            <a:off x="731520" y="3291840"/>
            <a:ext cx="10698480" cy="914400"/>
          </a:xfrm>
          <a:prstGeom prst="rect">
            <a:avLst/>
          </a:prstGeom>
          <a:noFill/>
          <a:ln/>
        </p:spPr>
        <p:txBody>
          <a:bodyPr wrap="square" rtlCol="0" anchor="t"/>
          <a:lstStyle/>
          <a:p>
            <a:pPr indent="0" marL="0">
              <a:buNone/>
            </a:pPr>
            <a:r>
              <a:rPr lang="en-US" sz="2000" dirty="0">
                <a:solidFill>
                  <a:schemeClr val="accent4"/>
                </a:solidFill>
              </a:rPr>
              <a:t>Manufacturing system · architecture, endpoints, messaging, security and chassis</a:t>
            </a:r>
            <a:endParaRPr lang="en-US" sz="2000" dirty="0"/>
          </a:p>
        </p:txBody>
      </p:sp>
      <p:sp>
        <p:nvSpPr>
          <p:cNvPr id="4" name="Clients circle"/>
          <p:cNvSpPr/>
          <p:nvPr/>
        </p:nvSpPr>
        <p:spPr>
          <a:xfrm>
            <a:off x="731520" y="4846320"/>
            <a:ext cx="731520" cy="731520"/>
          </a:xfrm>
          <a:prstGeom prst="ellipse">
            <a:avLst/>
          </a:prstGeom>
          <a:solidFill>
            <a:schemeClr val="tx2"/>
          </a:solidFill>
          <a:ln w="12700">
            <a:solidFill>
              <a:schemeClr val="tx2"/>
            </a:solidFill>
            <a:prstDash val="solid"/>
          </a:ln>
        </p:spPr>
      </p:sp>
      <p:pic>
        <p:nvPicPr>
          <p:cNvPr id="5" name="Clients icon" descr="preencoded.png">    </p:cNvPr>
          <p:cNvPicPr>
            <a:picLocks noChangeAspect="1"/>
          </p:cNvPicPr>
          <p:nvPr/>
        </p:nvPicPr>
        <p:blipFill>
          <a:blip r:embed="rId1"/>
          <a:stretch>
            <a:fillRect/>
          </a:stretch>
        </p:blipFill>
        <p:spPr>
          <a:xfrm>
            <a:off x="914400" y="5029200"/>
            <a:ext cx="365760" cy="365760"/>
          </a:xfrm>
          <a:prstGeom prst="rect">
            <a:avLst/>
          </a:prstGeom>
        </p:spPr>
      </p:pic>
      <p:sp>
        <p:nvSpPr>
          <p:cNvPr id="6" name="Clients label"/>
          <p:cNvSpPr txBox="1"/>
          <p:nvPr/>
        </p:nvSpPr>
        <p:spPr>
          <a:xfrm>
            <a:off x="457200" y="5623560"/>
            <a:ext cx="1280160" cy="320040"/>
          </a:xfrm>
          <a:prstGeom prst="rect">
            <a:avLst/>
          </a:prstGeom>
          <a:noFill/>
          <a:ln/>
        </p:spPr>
        <p:txBody>
          <a:bodyPr wrap="square" rtlCol="0" anchor="ctr"/>
          <a:lstStyle/>
          <a:p>
            <a:pPr algn="ctr" indent="0" marL="0">
              <a:buNone/>
            </a:pPr>
            <a:r>
              <a:rPr lang="en-US" sz="1200" dirty="0">
                <a:solidFill>
                  <a:schemeClr val="accent4"/>
                </a:solidFill>
              </a:rPr>
              <a:t>Clients</a:t>
            </a:r>
            <a:endParaRPr lang="en-US" sz="1200" dirty="0"/>
          </a:p>
        </p:txBody>
      </p:sp>
      <p:sp>
        <p:nvSpPr>
          <p:cNvPr id="7" name="Orders circle"/>
          <p:cNvSpPr/>
          <p:nvPr/>
        </p:nvSpPr>
        <p:spPr>
          <a:xfrm>
            <a:off x="2103120" y="4846320"/>
            <a:ext cx="731520" cy="731520"/>
          </a:xfrm>
          <a:prstGeom prst="ellipse">
            <a:avLst/>
          </a:prstGeom>
          <a:solidFill>
            <a:schemeClr val="accent1"/>
          </a:solidFill>
          <a:ln w="12700">
            <a:solidFill>
              <a:schemeClr val="accent1"/>
            </a:solidFill>
            <a:prstDash val="solid"/>
          </a:ln>
        </p:spPr>
      </p:sp>
      <p:pic>
        <p:nvPicPr>
          <p:cNvPr id="8" name="Orders icon" descr="preencoded.png">    </p:cNvPr>
          <p:cNvPicPr>
            <a:picLocks noChangeAspect="1"/>
          </p:cNvPicPr>
          <p:nvPr/>
        </p:nvPicPr>
        <p:blipFill>
          <a:blip r:embed="rId2"/>
          <a:stretch>
            <a:fillRect/>
          </a:stretch>
        </p:blipFill>
        <p:spPr>
          <a:xfrm>
            <a:off x="2286000" y="5029200"/>
            <a:ext cx="365760" cy="365760"/>
          </a:xfrm>
          <a:prstGeom prst="rect">
            <a:avLst/>
          </a:prstGeom>
        </p:spPr>
      </p:pic>
      <p:sp>
        <p:nvSpPr>
          <p:cNvPr id="9" name="Orders label"/>
          <p:cNvSpPr txBox="1"/>
          <p:nvPr/>
        </p:nvSpPr>
        <p:spPr>
          <a:xfrm>
            <a:off x="1828800" y="5623560"/>
            <a:ext cx="1280160" cy="320040"/>
          </a:xfrm>
          <a:prstGeom prst="rect">
            <a:avLst/>
          </a:prstGeom>
          <a:noFill/>
          <a:ln/>
        </p:spPr>
        <p:txBody>
          <a:bodyPr wrap="square" rtlCol="0" anchor="ctr"/>
          <a:lstStyle/>
          <a:p>
            <a:pPr algn="ctr" indent="0" marL="0">
              <a:buNone/>
            </a:pPr>
            <a:r>
              <a:rPr lang="en-US" sz="1200" dirty="0">
                <a:solidFill>
                  <a:schemeClr val="accent4"/>
                </a:solidFill>
              </a:rPr>
              <a:t>Orders</a:t>
            </a:r>
            <a:endParaRPr lang="en-US" sz="1200" dirty="0"/>
          </a:p>
        </p:txBody>
      </p:sp>
      <p:sp>
        <p:nvSpPr>
          <p:cNvPr id="10" name="Payments circle"/>
          <p:cNvSpPr/>
          <p:nvPr/>
        </p:nvSpPr>
        <p:spPr>
          <a:xfrm>
            <a:off x="3474720" y="4846320"/>
            <a:ext cx="731520" cy="731520"/>
          </a:xfrm>
          <a:prstGeom prst="ellipse">
            <a:avLst/>
          </a:prstGeom>
          <a:solidFill>
            <a:schemeClr val="tx2"/>
          </a:solidFill>
          <a:ln w="12700">
            <a:solidFill>
              <a:schemeClr val="tx2"/>
            </a:solidFill>
            <a:prstDash val="solid"/>
          </a:ln>
        </p:spPr>
      </p:sp>
      <p:pic>
        <p:nvPicPr>
          <p:cNvPr id="11" name="Payments icon" descr="preencoded.png">    </p:cNvPr>
          <p:cNvPicPr>
            <a:picLocks noChangeAspect="1"/>
          </p:cNvPicPr>
          <p:nvPr/>
        </p:nvPicPr>
        <p:blipFill>
          <a:blip r:embed="rId3"/>
          <a:stretch>
            <a:fillRect/>
          </a:stretch>
        </p:blipFill>
        <p:spPr>
          <a:xfrm>
            <a:off x="3657600" y="5029200"/>
            <a:ext cx="365760" cy="365760"/>
          </a:xfrm>
          <a:prstGeom prst="rect">
            <a:avLst/>
          </a:prstGeom>
        </p:spPr>
      </p:pic>
      <p:sp>
        <p:nvSpPr>
          <p:cNvPr id="12" name="Payments label"/>
          <p:cNvSpPr txBox="1"/>
          <p:nvPr/>
        </p:nvSpPr>
        <p:spPr>
          <a:xfrm>
            <a:off x="3200400" y="5623560"/>
            <a:ext cx="1280160" cy="320040"/>
          </a:xfrm>
          <a:prstGeom prst="rect">
            <a:avLst/>
          </a:prstGeom>
          <a:noFill/>
          <a:ln/>
        </p:spPr>
        <p:txBody>
          <a:bodyPr wrap="square" rtlCol="0" anchor="ctr"/>
          <a:lstStyle/>
          <a:p>
            <a:pPr algn="ctr" indent="0" marL="0">
              <a:buNone/>
            </a:pPr>
            <a:r>
              <a:rPr lang="en-US" sz="1200" dirty="0">
                <a:solidFill>
                  <a:schemeClr val="accent4"/>
                </a:solidFill>
              </a:rPr>
              <a:t>Payments</a:t>
            </a:r>
            <a:endParaRPr lang="en-US" sz="1200" dirty="0"/>
          </a:p>
        </p:txBody>
      </p:sp>
      <p:sp>
        <p:nvSpPr>
          <p:cNvPr id="13" name="Machine circle"/>
          <p:cNvSpPr/>
          <p:nvPr/>
        </p:nvSpPr>
        <p:spPr>
          <a:xfrm>
            <a:off x="4846320" y="4846320"/>
            <a:ext cx="731520" cy="731520"/>
          </a:xfrm>
          <a:prstGeom prst="ellipse">
            <a:avLst/>
          </a:prstGeom>
          <a:solidFill>
            <a:schemeClr val="tx2"/>
          </a:solidFill>
          <a:ln w="12700">
            <a:solidFill>
              <a:schemeClr val="tx2"/>
            </a:solidFill>
            <a:prstDash val="solid"/>
          </a:ln>
        </p:spPr>
      </p:sp>
      <p:pic>
        <p:nvPicPr>
          <p:cNvPr id="14" name="Machine icon" descr="preencoded.png">    </p:cNvPr>
          <p:cNvPicPr>
            <a:picLocks noChangeAspect="1"/>
          </p:cNvPicPr>
          <p:nvPr/>
        </p:nvPicPr>
        <p:blipFill>
          <a:blip r:embed="rId4"/>
          <a:stretch>
            <a:fillRect/>
          </a:stretch>
        </p:blipFill>
        <p:spPr>
          <a:xfrm>
            <a:off x="5029200" y="5029200"/>
            <a:ext cx="365760" cy="365760"/>
          </a:xfrm>
          <a:prstGeom prst="rect">
            <a:avLst/>
          </a:prstGeom>
        </p:spPr>
      </p:pic>
      <p:sp>
        <p:nvSpPr>
          <p:cNvPr id="15" name="Machine label"/>
          <p:cNvSpPr txBox="1"/>
          <p:nvPr/>
        </p:nvSpPr>
        <p:spPr>
          <a:xfrm>
            <a:off x="4572000" y="5623560"/>
            <a:ext cx="1280160" cy="320040"/>
          </a:xfrm>
          <a:prstGeom prst="rect">
            <a:avLst/>
          </a:prstGeom>
          <a:noFill/>
          <a:ln/>
        </p:spPr>
        <p:txBody>
          <a:bodyPr wrap="square" rtlCol="0" anchor="ctr"/>
          <a:lstStyle/>
          <a:p>
            <a:pPr algn="ctr" indent="0" marL="0">
              <a:buNone/>
            </a:pPr>
            <a:r>
              <a:rPr lang="en-US" sz="1200" dirty="0">
                <a:solidFill>
                  <a:schemeClr val="accent4"/>
                </a:solidFill>
              </a:rPr>
              <a:t>Machine</a:t>
            </a:r>
            <a:endParaRPr lang="en-US" sz="1200" dirty="0"/>
          </a:p>
        </p:txBody>
      </p:sp>
      <p:sp>
        <p:nvSpPr>
          <p:cNvPr id="16" name="Deliveries circle"/>
          <p:cNvSpPr/>
          <p:nvPr/>
        </p:nvSpPr>
        <p:spPr>
          <a:xfrm>
            <a:off x="6217920" y="4846320"/>
            <a:ext cx="731520" cy="731520"/>
          </a:xfrm>
          <a:prstGeom prst="ellipse">
            <a:avLst/>
          </a:prstGeom>
          <a:solidFill>
            <a:schemeClr val="tx2"/>
          </a:solidFill>
          <a:ln w="12700">
            <a:solidFill>
              <a:schemeClr val="tx2"/>
            </a:solidFill>
            <a:prstDash val="solid"/>
          </a:ln>
        </p:spPr>
      </p:sp>
      <p:pic>
        <p:nvPicPr>
          <p:cNvPr id="17" name="Deliveries icon" descr="preencoded.png">    </p:cNvPr>
          <p:cNvPicPr>
            <a:picLocks noChangeAspect="1"/>
          </p:cNvPicPr>
          <p:nvPr/>
        </p:nvPicPr>
        <p:blipFill>
          <a:blip r:embed="rId5"/>
          <a:stretch>
            <a:fillRect/>
          </a:stretch>
        </p:blipFill>
        <p:spPr>
          <a:xfrm>
            <a:off x="6400800" y="5029200"/>
            <a:ext cx="365760" cy="365760"/>
          </a:xfrm>
          <a:prstGeom prst="rect">
            <a:avLst/>
          </a:prstGeom>
        </p:spPr>
      </p:pic>
      <p:sp>
        <p:nvSpPr>
          <p:cNvPr id="18" name="Deliveries label"/>
          <p:cNvSpPr txBox="1"/>
          <p:nvPr/>
        </p:nvSpPr>
        <p:spPr>
          <a:xfrm>
            <a:off x="5943600" y="5623560"/>
            <a:ext cx="1280160" cy="320040"/>
          </a:xfrm>
          <a:prstGeom prst="rect">
            <a:avLst/>
          </a:prstGeom>
          <a:noFill/>
          <a:ln/>
        </p:spPr>
        <p:txBody>
          <a:bodyPr wrap="square" rtlCol="0" anchor="ctr"/>
          <a:lstStyle/>
          <a:p>
            <a:pPr algn="ctr" indent="0" marL="0">
              <a:buNone/>
            </a:pPr>
            <a:r>
              <a:rPr lang="en-US" sz="1200" dirty="0">
                <a:solidFill>
                  <a:schemeClr val="accent4"/>
                </a:solidFill>
              </a:rPr>
              <a:t>Deliveries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General architecture: 7 containers, 1 exchange, 5 queues</a:t>
            </a:r>
            <a:endParaRPr lang="en-US" sz="3000" dirty="0"/>
          </a:p>
        </p:txBody>
      </p:sp>
      <p:sp>
        <p:nvSpPr>
          <p:cNvPr id="3" name="Gateway box"/>
          <p:cNvSpPr/>
          <p:nvPr/>
        </p:nvSpPr>
        <p:spPr>
          <a:xfrm>
            <a:off x="2898648" y="1280160"/>
            <a:ext cx="3657600" cy="566928"/>
          </a:xfrm>
          <a:prstGeom prst="roundRect">
            <a:avLst>
              <a:gd name="adj" fmla="val 19355"/>
            </a:avLst>
          </a:prstGeom>
          <a:solidFill>
            <a:schemeClr val="tx1"/>
          </a:solidFill>
          <a:ln w="12700">
            <a:solidFill>
              <a:schemeClr val="tx1"/>
            </a:solidFill>
            <a:prstDash val="solid"/>
          </a:ln>
        </p:spPr>
      </p:sp>
      <p:sp>
        <p:nvSpPr>
          <p:cNvPr id="4" name="Gateway label"/>
          <p:cNvSpPr txBox="1"/>
          <p:nvPr/>
        </p:nvSpPr>
        <p:spPr>
          <a:xfrm>
            <a:off x="2898648" y="1280160"/>
            <a:ext cx="3657600" cy="566928"/>
          </a:xfrm>
          <a:prstGeom prst="rect">
            <a:avLst/>
          </a:prstGeom>
          <a:noFill/>
          <a:ln/>
        </p:spPr>
        <p:txBody>
          <a:bodyPr wrap="square" rtlCol="0" anchor="ctr"/>
          <a:lstStyle/>
          <a:p>
            <a:pPr algn="ctr" indent="0" marL="0">
              <a:buNone/>
            </a:pPr>
            <a:r>
              <a:rPr lang="en-US" sz="1400" b="1" dirty="0">
                <a:solidFill>
                  <a:schemeClr val="bg1"/>
                </a:solidFill>
              </a:rPr>
              <a:t>API Gateway · HAProxy :8080 / :8443</a:t>
            </a:r>
            <a:endParaRPr lang="en-US" sz="1400" dirty="0"/>
          </a:p>
        </p:txBody>
      </p:sp>
      <p:sp>
        <p:nvSpPr>
          <p:cNvPr id="5" name="Clients box"/>
          <p:cNvSpPr/>
          <p:nvPr/>
        </p:nvSpPr>
        <p:spPr>
          <a:xfrm>
            <a:off x="537667" y="2331720"/>
            <a:ext cx="1600200" cy="1051560"/>
          </a:xfrm>
          <a:prstGeom prst="roundRect">
            <a:avLst>
              <a:gd name="adj" fmla="val 10435"/>
            </a:avLst>
          </a:prstGeom>
          <a:solidFill>
            <a:schemeClr val="bg2"/>
          </a:solidFill>
          <a:ln w="12700">
            <a:solidFill>
              <a:schemeClr val="bg2"/>
            </a:solidFill>
            <a:prstDash val="solid"/>
          </a:ln>
        </p:spPr>
      </p:sp>
      <p:sp>
        <p:nvSpPr>
          <p:cNvPr id="6" name="Clients label"/>
          <p:cNvSpPr txBox="1"/>
          <p:nvPr/>
        </p:nvSpPr>
        <p:spPr>
          <a:xfrm>
            <a:off x="537667" y="2331720"/>
            <a:ext cx="1600200" cy="1051560"/>
          </a:xfrm>
          <a:prstGeom prst="rect">
            <a:avLst/>
          </a:prstGeom>
          <a:noFill/>
          <a:ln/>
        </p:spPr>
        <p:txBody>
          <a:bodyPr wrap="square" rtlCol="0" anchor="ctr"/>
          <a:lstStyle/>
          <a:p>
            <a:pPr algn="ctr" indent="0" marL="0">
              <a:buNone/>
            </a:pPr>
            <a:r>
              <a:rPr lang="en-US" sz="1500" b="1" dirty="0">
                <a:solidFill>
                  <a:schemeClr val="tx1"/>
                </a:solidFill>
              </a:rPr>
              <a:t>Clients</a:t>
            </a:r>
            <a:endParaRPr lang="en-US" sz="1500" dirty="0"/>
          </a:p>
          <a:p>
            <a:pPr algn="ctr" indent="0" marL="0">
              <a:buNone/>
            </a:pPr>
            <a:r>
              <a:rPr lang="en-US" sz="1200" dirty="0">
                <a:solidFill>
                  <a:schemeClr val="tx1"/>
                </a:solidFill>
              </a:rPr>
              <a:t>client.db</a:t>
            </a:r>
            <a:endParaRPr lang="en-US" sz="1500" dirty="0"/>
          </a:p>
        </p:txBody>
      </p:sp>
      <p:sp>
        <p:nvSpPr>
          <p:cNvPr id="7" name="route 0"/>
          <p:cNvSpPr/>
          <p:nvPr/>
        </p:nvSpPr>
        <p:spPr>
          <a:xfrm flipH="1">
            <a:off x="1337767" y="1847088"/>
            <a:ext cx="3389681" cy="484632"/>
          </a:xfrm>
          <a:prstGeom prst="line">
            <a:avLst/>
          </a:prstGeom>
          <a:noFill/>
          <a:ln w="15875">
            <a:solidFill>
              <a:schemeClr val="accent4"/>
            </a:solidFill>
            <a:prstDash val="solid"/>
            <a:tailEnd type="triangle"/>
          </a:ln>
        </p:spPr>
      </p:sp>
      <p:sp>
        <p:nvSpPr>
          <p:cNvPr id="8" name="bus link 0"/>
          <p:cNvSpPr/>
          <p:nvPr/>
        </p:nvSpPr>
        <p:spPr>
          <a:xfrm>
            <a:off x="1337767" y="3383280"/>
            <a:ext cx="0" cy="502920"/>
          </a:xfrm>
          <a:prstGeom prst="line">
            <a:avLst/>
          </a:prstGeom>
          <a:noFill/>
          <a:ln w="19050">
            <a:solidFill>
              <a:schemeClr val="accent4"/>
            </a:solidFill>
            <a:prstDash val="solid"/>
            <a:tailEnd type="triangle"/>
          </a:ln>
        </p:spPr>
      </p:sp>
      <p:sp>
        <p:nvSpPr>
          <p:cNvPr id="9" name="Payments box"/>
          <p:cNvSpPr/>
          <p:nvPr/>
        </p:nvSpPr>
        <p:spPr>
          <a:xfrm>
            <a:off x="2285086" y="2331720"/>
            <a:ext cx="1600200" cy="1051560"/>
          </a:xfrm>
          <a:prstGeom prst="roundRect">
            <a:avLst>
              <a:gd name="adj" fmla="val 10435"/>
            </a:avLst>
          </a:prstGeom>
          <a:solidFill>
            <a:schemeClr val="bg2"/>
          </a:solidFill>
          <a:ln w="12700">
            <a:solidFill>
              <a:schemeClr val="bg2"/>
            </a:solidFill>
            <a:prstDash val="solid"/>
          </a:ln>
        </p:spPr>
      </p:sp>
      <p:sp>
        <p:nvSpPr>
          <p:cNvPr id="10" name="Payments label"/>
          <p:cNvSpPr txBox="1"/>
          <p:nvPr/>
        </p:nvSpPr>
        <p:spPr>
          <a:xfrm>
            <a:off x="2285086" y="2331720"/>
            <a:ext cx="1600200" cy="1051560"/>
          </a:xfrm>
          <a:prstGeom prst="rect">
            <a:avLst/>
          </a:prstGeom>
          <a:noFill/>
          <a:ln/>
        </p:spPr>
        <p:txBody>
          <a:bodyPr wrap="square" rtlCol="0" anchor="ctr"/>
          <a:lstStyle/>
          <a:p>
            <a:pPr algn="ctr" indent="0" marL="0">
              <a:buNone/>
            </a:pPr>
            <a:r>
              <a:rPr lang="en-US" sz="1500" b="1" dirty="0">
                <a:solidFill>
                  <a:schemeClr val="tx1"/>
                </a:solidFill>
              </a:rPr>
              <a:t>Payments</a:t>
            </a:r>
            <a:endParaRPr lang="en-US" sz="1500" dirty="0"/>
          </a:p>
          <a:p>
            <a:pPr algn="ctr" indent="0" marL="0">
              <a:buNone/>
            </a:pPr>
            <a:r>
              <a:rPr lang="en-US" sz="1200" dirty="0">
                <a:solidFill>
                  <a:schemeClr val="tx1"/>
                </a:solidFill>
              </a:rPr>
              <a:t>payment.db</a:t>
            </a:r>
            <a:endParaRPr lang="en-US" sz="1500" dirty="0"/>
          </a:p>
        </p:txBody>
      </p:sp>
      <p:sp>
        <p:nvSpPr>
          <p:cNvPr id="11" name="route 1"/>
          <p:cNvSpPr/>
          <p:nvPr/>
        </p:nvSpPr>
        <p:spPr>
          <a:xfrm flipH="1">
            <a:off x="3085186" y="1847088"/>
            <a:ext cx="1642262" cy="484632"/>
          </a:xfrm>
          <a:prstGeom prst="line">
            <a:avLst/>
          </a:prstGeom>
          <a:noFill/>
          <a:ln w="15875">
            <a:solidFill>
              <a:schemeClr val="accent4"/>
            </a:solidFill>
            <a:prstDash val="solid"/>
            <a:tailEnd type="triangle"/>
          </a:ln>
        </p:spPr>
      </p:sp>
      <p:sp>
        <p:nvSpPr>
          <p:cNvPr id="12" name="bus link 1"/>
          <p:cNvSpPr/>
          <p:nvPr/>
        </p:nvSpPr>
        <p:spPr>
          <a:xfrm>
            <a:off x="3085186" y="3383280"/>
            <a:ext cx="0" cy="502920"/>
          </a:xfrm>
          <a:prstGeom prst="line">
            <a:avLst/>
          </a:prstGeom>
          <a:noFill/>
          <a:ln w="19050">
            <a:solidFill>
              <a:schemeClr val="accent4"/>
            </a:solidFill>
            <a:prstDash val="solid"/>
            <a:headEnd type="triangle"/>
            <a:tailEnd type="triangle"/>
          </a:ln>
        </p:spPr>
      </p:sp>
      <p:sp>
        <p:nvSpPr>
          <p:cNvPr id="13" name="Orders box"/>
          <p:cNvSpPr/>
          <p:nvPr/>
        </p:nvSpPr>
        <p:spPr>
          <a:xfrm>
            <a:off x="4032504" y="2331720"/>
            <a:ext cx="1600200" cy="1051560"/>
          </a:xfrm>
          <a:prstGeom prst="roundRect">
            <a:avLst>
              <a:gd name="adj" fmla="val 10435"/>
            </a:avLst>
          </a:prstGeom>
          <a:solidFill>
            <a:schemeClr val="accent1"/>
          </a:solidFill>
          <a:ln w="12700">
            <a:solidFill>
              <a:schemeClr val="accent1"/>
            </a:solidFill>
            <a:prstDash val="solid"/>
          </a:ln>
        </p:spPr>
      </p:sp>
      <p:sp>
        <p:nvSpPr>
          <p:cNvPr id="14" name="Orders label"/>
          <p:cNvSpPr txBox="1"/>
          <p:nvPr/>
        </p:nvSpPr>
        <p:spPr>
          <a:xfrm>
            <a:off x="4032504" y="2331720"/>
            <a:ext cx="1600200" cy="1051560"/>
          </a:xfrm>
          <a:prstGeom prst="rect">
            <a:avLst/>
          </a:prstGeom>
          <a:noFill/>
          <a:ln/>
        </p:spPr>
        <p:txBody>
          <a:bodyPr wrap="square" rtlCol="0" anchor="ctr"/>
          <a:lstStyle/>
          <a:p>
            <a:pPr algn="ctr" indent="0" marL="0">
              <a:buNone/>
            </a:pPr>
            <a:r>
              <a:rPr lang="en-US" sz="1500" b="1" dirty="0">
                <a:solidFill>
                  <a:schemeClr val="bg1"/>
                </a:solidFill>
              </a:rPr>
              <a:t>Orders</a:t>
            </a:r>
            <a:endParaRPr lang="en-US" sz="1500" dirty="0"/>
          </a:p>
          <a:p>
            <a:pPr algn="ctr" indent="0" marL="0">
              <a:buNone/>
            </a:pPr>
            <a:r>
              <a:rPr lang="en-US" sz="1200" dirty="0">
                <a:solidFill>
                  <a:schemeClr val="bg1"/>
                </a:solidFill>
              </a:rPr>
              <a:t>orders.db</a:t>
            </a:r>
            <a:endParaRPr lang="en-US" sz="1500" dirty="0"/>
          </a:p>
        </p:txBody>
      </p:sp>
      <p:sp>
        <p:nvSpPr>
          <p:cNvPr id="15" name="route 2"/>
          <p:cNvSpPr/>
          <p:nvPr/>
        </p:nvSpPr>
        <p:spPr>
          <a:xfrm>
            <a:off x="4727448" y="1847088"/>
            <a:ext cx="105156" cy="484632"/>
          </a:xfrm>
          <a:prstGeom prst="line">
            <a:avLst/>
          </a:prstGeom>
          <a:noFill/>
          <a:ln w="15875">
            <a:solidFill>
              <a:schemeClr val="accent4"/>
            </a:solidFill>
            <a:prstDash val="solid"/>
            <a:tailEnd type="triangle"/>
          </a:ln>
        </p:spPr>
      </p:sp>
      <p:sp>
        <p:nvSpPr>
          <p:cNvPr id="16" name="bus link 2"/>
          <p:cNvSpPr/>
          <p:nvPr/>
        </p:nvSpPr>
        <p:spPr>
          <a:xfrm>
            <a:off x="4832604" y="3383280"/>
            <a:ext cx="0" cy="502920"/>
          </a:xfrm>
          <a:prstGeom prst="line">
            <a:avLst/>
          </a:prstGeom>
          <a:noFill/>
          <a:ln w="19050">
            <a:solidFill>
              <a:schemeClr val="accent4"/>
            </a:solidFill>
            <a:prstDash val="solid"/>
            <a:headEnd type="triangle"/>
            <a:tailEnd type="triangle"/>
          </a:ln>
        </p:spPr>
      </p:sp>
      <p:sp>
        <p:nvSpPr>
          <p:cNvPr id="17" name="Machine box"/>
          <p:cNvSpPr/>
          <p:nvPr/>
        </p:nvSpPr>
        <p:spPr>
          <a:xfrm>
            <a:off x="5779922" y="2331720"/>
            <a:ext cx="1600200" cy="1051560"/>
          </a:xfrm>
          <a:prstGeom prst="roundRect">
            <a:avLst>
              <a:gd name="adj" fmla="val 10435"/>
            </a:avLst>
          </a:prstGeom>
          <a:solidFill>
            <a:schemeClr val="bg2"/>
          </a:solidFill>
          <a:ln w="12700">
            <a:solidFill>
              <a:schemeClr val="bg2"/>
            </a:solidFill>
            <a:prstDash val="solid"/>
          </a:ln>
        </p:spPr>
      </p:sp>
      <p:sp>
        <p:nvSpPr>
          <p:cNvPr id="18" name="Machine label"/>
          <p:cNvSpPr txBox="1"/>
          <p:nvPr/>
        </p:nvSpPr>
        <p:spPr>
          <a:xfrm>
            <a:off x="5779922" y="2331720"/>
            <a:ext cx="1600200" cy="1051560"/>
          </a:xfrm>
          <a:prstGeom prst="rect">
            <a:avLst/>
          </a:prstGeom>
          <a:noFill/>
          <a:ln/>
        </p:spPr>
        <p:txBody>
          <a:bodyPr wrap="square" rtlCol="0" anchor="ctr"/>
          <a:lstStyle/>
          <a:p>
            <a:pPr algn="ctr" indent="0" marL="0">
              <a:buNone/>
            </a:pPr>
            <a:r>
              <a:rPr lang="en-US" sz="1500" b="1" dirty="0">
                <a:solidFill>
                  <a:schemeClr val="tx1"/>
                </a:solidFill>
              </a:rPr>
              <a:t>Machine</a:t>
            </a:r>
            <a:endParaRPr lang="en-US" sz="1500" dirty="0"/>
          </a:p>
          <a:p>
            <a:pPr algn="ctr" indent="0" marL="0">
              <a:buNone/>
            </a:pPr>
            <a:r>
              <a:rPr lang="en-US" sz="1200" dirty="0">
                <a:solidFill>
                  <a:schemeClr val="tx1"/>
                </a:solidFill>
              </a:rPr>
              <a:t>in memory</a:t>
            </a:r>
            <a:endParaRPr lang="en-US" sz="1500" dirty="0"/>
          </a:p>
        </p:txBody>
      </p:sp>
      <p:sp>
        <p:nvSpPr>
          <p:cNvPr id="19" name="route 3"/>
          <p:cNvSpPr/>
          <p:nvPr/>
        </p:nvSpPr>
        <p:spPr>
          <a:xfrm>
            <a:off x="4727448" y="1847088"/>
            <a:ext cx="1852574" cy="484632"/>
          </a:xfrm>
          <a:prstGeom prst="line">
            <a:avLst/>
          </a:prstGeom>
          <a:noFill/>
          <a:ln w="15875">
            <a:solidFill>
              <a:schemeClr val="accent4"/>
            </a:solidFill>
            <a:prstDash val="solid"/>
            <a:tailEnd type="triangle"/>
          </a:ln>
        </p:spPr>
      </p:sp>
      <p:sp>
        <p:nvSpPr>
          <p:cNvPr id="20" name="bus link 3"/>
          <p:cNvSpPr/>
          <p:nvPr/>
        </p:nvSpPr>
        <p:spPr>
          <a:xfrm>
            <a:off x="6580022" y="3383280"/>
            <a:ext cx="0" cy="502920"/>
          </a:xfrm>
          <a:prstGeom prst="line">
            <a:avLst/>
          </a:prstGeom>
          <a:noFill/>
          <a:ln w="19050">
            <a:solidFill>
              <a:schemeClr val="accent4"/>
            </a:solidFill>
            <a:prstDash val="solid"/>
            <a:headEnd type="triangle"/>
            <a:tailEnd type="triangle"/>
          </a:ln>
        </p:spPr>
      </p:sp>
      <p:sp>
        <p:nvSpPr>
          <p:cNvPr id="21" name="Deliveries box"/>
          <p:cNvSpPr/>
          <p:nvPr/>
        </p:nvSpPr>
        <p:spPr>
          <a:xfrm>
            <a:off x="7527341" y="2331720"/>
            <a:ext cx="1600200" cy="1051560"/>
          </a:xfrm>
          <a:prstGeom prst="roundRect">
            <a:avLst>
              <a:gd name="adj" fmla="val 10435"/>
            </a:avLst>
          </a:prstGeom>
          <a:solidFill>
            <a:schemeClr val="bg2"/>
          </a:solidFill>
          <a:ln w="12700">
            <a:solidFill>
              <a:schemeClr val="bg2"/>
            </a:solidFill>
            <a:prstDash val="solid"/>
          </a:ln>
        </p:spPr>
      </p:sp>
      <p:sp>
        <p:nvSpPr>
          <p:cNvPr id="22" name="Deliveries label"/>
          <p:cNvSpPr txBox="1"/>
          <p:nvPr/>
        </p:nvSpPr>
        <p:spPr>
          <a:xfrm>
            <a:off x="7527341" y="2331720"/>
            <a:ext cx="1600200" cy="1051560"/>
          </a:xfrm>
          <a:prstGeom prst="rect">
            <a:avLst/>
          </a:prstGeom>
          <a:noFill/>
          <a:ln/>
        </p:spPr>
        <p:txBody>
          <a:bodyPr wrap="square" rtlCol="0" anchor="ctr"/>
          <a:lstStyle/>
          <a:p>
            <a:pPr algn="ctr" indent="0" marL="0">
              <a:buNone/>
            </a:pPr>
            <a:r>
              <a:rPr lang="en-US" sz="1500" b="1" dirty="0">
                <a:solidFill>
                  <a:schemeClr val="tx1"/>
                </a:solidFill>
              </a:rPr>
              <a:t>Deliveries</a:t>
            </a:r>
            <a:endParaRPr lang="en-US" sz="1500" dirty="0"/>
          </a:p>
          <a:p>
            <a:pPr algn="ctr" indent="0" marL="0">
              <a:buNone/>
            </a:pPr>
            <a:r>
              <a:rPr lang="en-US" sz="1200" dirty="0">
                <a:solidFill>
                  <a:schemeClr val="tx1"/>
                </a:solidFill>
              </a:rPr>
              <a:t>delivery.db</a:t>
            </a:r>
            <a:endParaRPr lang="en-US" sz="1500" dirty="0"/>
          </a:p>
        </p:txBody>
      </p:sp>
      <p:sp>
        <p:nvSpPr>
          <p:cNvPr id="23" name="route 4"/>
          <p:cNvSpPr/>
          <p:nvPr/>
        </p:nvSpPr>
        <p:spPr>
          <a:xfrm>
            <a:off x="4727448" y="1847088"/>
            <a:ext cx="3599993" cy="484632"/>
          </a:xfrm>
          <a:prstGeom prst="line">
            <a:avLst/>
          </a:prstGeom>
          <a:noFill/>
          <a:ln w="15875">
            <a:solidFill>
              <a:schemeClr val="accent4"/>
            </a:solidFill>
            <a:prstDash val="solid"/>
            <a:tailEnd type="triangle"/>
          </a:ln>
        </p:spPr>
      </p:sp>
      <p:sp>
        <p:nvSpPr>
          <p:cNvPr id="24" name="bus link 4"/>
          <p:cNvSpPr/>
          <p:nvPr/>
        </p:nvSpPr>
        <p:spPr>
          <a:xfrm>
            <a:off x="8327441" y="3383280"/>
            <a:ext cx="0" cy="502920"/>
          </a:xfrm>
          <a:prstGeom prst="line">
            <a:avLst/>
          </a:prstGeom>
          <a:noFill/>
          <a:ln w="19050">
            <a:solidFill>
              <a:schemeClr val="accent4"/>
            </a:solidFill>
            <a:prstDash val="solid"/>
            <a:headEnd type="triangle"/>
            <a:tailEnd type="triangle"/>
          </a:ln>
        </p:spPr>
      </p:sp>
      <p:sp>
        <p:nvSpPr>
          <p:cNvPr id="25" name="RabbitMQ bar"/>
          <p:cNvSpPr/>
          <p:nvPr/>
        </p:nvSpPr>
        <p:spPr>
          <a:xfrm>
            <a:off x="539496" y="3886200"/>
            <a:ext cx="8375904" cy="868680"/>
          </a:xfrm>
          <a:prstGeom prst="roundRect">
            <a:avLst>
              <a:gd name="adj" fmla="val 12632"/>
            </a:avLst>
          </a:prstGeom>
          <a:solidFill>
            <a:schemeClr val="accent5"/>
          </a:solidFill>
          <a:ln w="12700">
            <a:solidFill>
              <a:schemeClr val="accent5"/>
            </a:solidFill>
            <a:prstDash val="solid"/>
          </a:ln>
        </p:spPr>
      </p:sp>
      <p:sp>
        <p:nvSpPr>
          <p:cNvPr id="26" name="RabbitMQ label"/>
          <p:cNvSpPr txBox="1"/>
          <p:nvPr/>
        </p:nvSpPr>
        <p:spPr>
          <a:xfrm>
            <a:off x="539496" y="3886200"/>
            <a:ext cx="8375904" cy="868680"/>
          </a:xfrm>
          <a:prstGeom prst="rect">
            <a:avLst/>
          </a:prstGeom>
          <a:noFill/>
          <a:ln/>
        </p:spPr>
        <p:txBody>
          <a:bodyPr wrap="square" rtlCol="0" anchor="ctr"/>
          <a:lstStyle/>
          <a:p>
            <a:pPr algn="ctr" indent="0" marL="0">
              <a:buNone/>
            </a:pPr>
            <a:r>
              <a:rPr lang="en-US" sz="1500" b="1" dirty="0">
                <a:solidFill>
                  <a:schemeClr val="bg1"/>
                </a:solidFill>
              </a:rPr>
              <a:t>RabbitMQ · topic exchange manufacturing.events</a:t>
            </a:r>
            <a:endParaRPr lang="en-US" sz="1500" dirty="0"/>
          </a:p>
          <a:p>
            <a:pPr algn="ctr" indent="0" marL="0">
              <a:buNone/>
            </a:pPr>
            <a:r>
              <a:rPr lang="en-US" sz="1200" dirty="0">
                <a:solidFill>
                  <a:schemeClr val="bg1"/>
                </a:solidFill>
              </a:rPr>
              <a:t>5 durable queues · 8 routing keys</a:t>
            </a:r>
            <a:endParaRPr lang="en-US" sz="1500" dirty="0"/>
          </a:p>
        </p:txBody>
      </p:sp>
      <p:sp>
        <p:nvSpPr>
          <p:cNvPr id="27" name="Chassis bar"/>
          <p:cNvSpPr/>
          <p:nvPr/>
        </p:nvSpPr>
        <p:spPr>
          <a:xfrm>
            <a:off x="539496" y="5029200"/>
            <a:ext cx="8375904" cy="731520"/>
          </a:xfrm>
          <a:prstGeom prst="roundRect">
            <a:avLst>
              <a:gd name="adj" fmla="val 15000"/>
            </a:avLst>
          </a:prstGeom>
          <a:solidFill>
            <a:schemeClr val="bg2"/>
          </a:solidFill>
          <a:ln w="12700">
            <a:solidFill>
              <a:schemeClr val="bg2"/>
            </a:solidFill>
            <a:prstDash val="solid"/>
          </a:ln>
        </p:spPr>
      </p:sp>
      <p:sp>
        <p:nvSpPr>
          <p:cNvPr id="28" name="Chassis note"/>
          <p:cNvSpPr txBox="1"/>
          <p:nvPr/>
        </p:nvSpPr>
        <p:spPr>
          <a:xfrm>
            <a:off x="731520" y="5029200"/>
            <a:ext cx="8046720" cy="731520"/>
          </a:xfrm>
          <a:prstGeom prst="rect">
            <a:avLst/>
          </a:prstGeom>
          <a:noFill/>
          <a:ln/>
        </p:spPr>
        <p:txBody>
          <a:bodyPr wrap="square" rtlCol="0" anchor="ctr"/>
          <a:lstStyle/>
          <a:p>
            <a:pPr indent="0" marL="0">
              <a:buNone/>
            </a:pPr>
            <a:r>
              <a:rPr lang="en-US" sz="1300" b="1" dirty="0">
                <a:solidFill>
                  <a:schemeClr val="tx1"/>
                </a:solidFill>
              </a:rPr>
              <a:t>Shared library: </a:t>
            </a:r>
            <a:pPr indent="0" marL="0">
              <a:buNone/>
            </a:pPr>
            <a:r>
              <a:rPr lang="en-US" sz="1300" dirty="0">
                <a:solidFill>
                  <a:schemeClr val="tx1"/>
                </a:solidFill>
              </a:rPr>
              <a:t>microservice_chassis, installed from GitHub by clients, orders, payments and deliveries</a:t>
            </a:r>
            <a:endParaRPr lang="en-US" sz="1300" dirty="0"/>
          </a:p>
        </p:txBody>
      </p:sp>
      <p:sp>
        <p:nvSpPr>
          <p:cNvPr id="29" name="Count microservices"/>
          <p:cNvSpPr txBox="1"/>
          <p:nvPr/>
        </p:nvSpPr>
        <p:spPr>
          <a:xfrm>
            <a:off x="9189720" y="1280160"/>
            <a:ext cx="2468880" cy="777240"/>
          </a:xfrm>
          <a:prstGeom prst="rect">
            <a:avLst/>
          </a:prstGeom>
          <a:noFill/>
          <a:ln/>
        </p:spPr>
        <p:txBody>
          <a:bodyPr wrap="square" rtlCol="0" anchor="ctr"/>
          <a:lstStyle/>
          <a:p>
            <a:pPr indent="0" marL="0">
              <a:buNone/>
            </a:pPr>
            <a:r>
              <a:rPr lang="en-US" sz="3000" b="1" dirty="0">
                <a:solidFill>
                  <a:schemeClr val="accent1"/>
                </a:solidFill>
              </a:rPr>
              <a:t>5</a:t>
            </a:r>
            <a:pPr indent="0" marL="0">
              <a:buNone/>
            </a:pPr>
            <a:r>
              <a:rPr lang="en-US" sz="1400" dirty="0">
                <a:solidFill>
                  <a:schemeClr val="tx1"/>
                </a:solidFill>
              </a:rPr>
              <a:t>  microservices</a:t>
            </a:r>
            <a:endParaRPr lang="en-US" sz="3000" dirty="0"/>
          </a:p>
        </p:txBody>
      </p:sp>
      <p:sp>
        <p:nvSpPr>
          <p:cNvPr id="30" name="Count containers"/>
          <p:cNvSpPr txBox="1"/>
          <p:nvPr/>
        </p:nvSpPr>
        <p:spPr>
          <a:xfrm>
            <a:off x="9189720" y="2176272"/>
            <a:ext cx="2468880" cy="777240"/>
          </a:xfrm>
          <a:prstGeom prst="rect">
            <a:avLst/>
          </a:prstGeom>
          <a:noFill/>
          <a:ln/>
        </p:spPr>
        <p:txBody>
          <a:bodyPr wrap="square" rtlCol="0" anchor="ctr"/>
          <a:lstStyle/>
          <a:p>
            <a:pPr indent="0" marL="0">
              <a:buNone/>
            </a:pPr>
            <a:r>
              <a:rPr lang="en-US" sz="3000" b="1" dirty="0">
                <a:solidFill>
                  <a:schemeClr val="accent1"/>
                </a:solidFill>
              </a:rPr>
              <a:t>7</a:t>
            </a:r>
            <a:pPr indent="0" marL="0">
              <a:buNone/>
            </a:pPr>
            <a:r>
              <a:rPr lang="en-US" sz="1400" dirty="0">
                <a:solidFill>
                  <a:schemeClr val="tx1"/>
                </a:solidFill>
              </a:rPr>
              <a:t>  containers</a:t>
            </a:r>
            <a:endParaRPr lang="en-US" sz="3000" dirty="0"/>
          </a:p>
        </p:txBody>
      </p:sp>
      <p:sp>
        <p:nvSpPr>
          <p:cNvPr id="31" name="Count SQLite databases"/>
          <p:cNvSpPr txBox="1"/>
          <p:nvPr/>
        </p:nvSpPr>
        <p:spPr>
          <a:xfrm>
            <a:off x="9189720" y="3072384"/>
            <a:ext cx="2468880" cy="777240"/>
          </a:xfrm>
          <a:prstGeom prst="rect">
            <a:avLst/>
          </a:prstGeom>
          <a:noFill/>
          <a:ln/>
        </p:spPr>
        <p:txBody>
          <a:bodyPr wrap="square" rtlCol="0" anchor="ctr"/>
          <a:lstStyle/>
          <a:p>
            <a:pPr indent="0" marL="0">
              <a:buNone/>
            </a:pPr>
            <a:r>
              <a:rPr lang="en-US" sz="3000" b="1" dirty="0">
                <a:solidFill>
                  <a:schemeClr val="accent1"/>
                </a:solidFill>
              </a:rPr>
              <a:t>4</a:t>
            </a:r>
            <a:pPr indent="0" marL="0">
              <a:buNone/>
            </a:pPr>
            <a:r>
              <a:rPr lang="en-US" sz="1400" dirty="0">
                <a:solidFill>
                  <a:schemeClr val="tx1"/>
                </a:solidFill>
              </a:rPr>
              <a:t>  SQLite databases</a:t>
            </a:r>
            <a:endParaRPr lang="en-US" sz="3000" dirty="0"/>
          </a:p>
        </p:txBody>
      </p:sp>
      <p:sp>
        <p:nvSpPr>
          <p:cNvPr id="32" name="Count event types"/>
          <p:cNvSpPr txBox="1"/>
          <p:nvPr/>
        </p:nvSpPr>
        <p:spPr>
          <a:xfrm>
            <a:off x="9189720" y="3968496"/>
            <a:ext cx="2468880" cy="777240"/>
          </a:xfrm>
          <a:prstGeom prst="rect">
            <a:avLst/>
          </a:prstGeom>
          <a:noFill/>
          <a:ln/>
        </p:spPr>
        <p:txBody>
          <a:bodyPr wrap="square" rtlCol="0" anchor="ctr"/>
          <a:lstStyle/>
          <a:p>
            <a:pPr indent="0" marL="0">
              <a:buNone/>
            </a:pPr>
            <a:r>
              <a:rPr lang="en-US" sz="3000" b="1" dirty="0">
                <a:solidFill>
                  <a:schemeClr val="accent1"/>
                </a:solidFill>
              </a:rPr>
              <a:t>8</a:t>
            </a:r>
            <a:pPr indent="0" marL="0">
              <a:buNone/>
            </a:pPr>
            <a:r>
              <a:rPr lang="en-US" sz="1400" dirty="0">
                <a:solidFill>
                  <a:schemeClr val="tx1"/>
                </a:solidFill>
              </a:rPr>
              <a:t>  event types</a:t>
            </a:r>
            <a:endParaRPr lang="en-US" sz="3000" dirty="0"/>
          </a:p>
        </p:txBody>
      </p:sp>
      <p:sp>
        <p:nvSpPr>
          <p:cNvPr id="33" name="Count HTTP endpoints"/>
          <p:cNvSpPr txBox="1"/>
          <p:nvPr/>
        </p:nvSpPr>
        <p:spPr>
          <a:xfrm>
            <a:off x="9189720" y="4864608"/>
            <a:ext cx="2468880" cy="777240"/>
          </a:xfrm>
          <a:prstGeom prst="rect">
            <a:avLst/>
          </a:prstGeom>
          <a:noFill/>
          <a:ln/>
        </p:spPr>
        <p:txBody>
          <a:bodyPr wrap="square" rtlCol="0" anchor="ctr"/>
          <a:lstStyle/>
          <a:p>
            <a:pPr indent="0" marL="0">
              <a:buNone/>
            </a:pPr>
            <a:r>
              <a:rPr lang="en-US" sz="3000" b="1" dirty="0">
                <a:solidFill>
                  <a:schemeClr val="accent1"/>
                </a:solidFill>
              </a:rPr>
              <a:t>33</a:t>
            </a:r>
            <a:pPr indent="0" marL="0">
              <a:buNone/>
            </a:pPr>
            <a:r>
              <a:rPr lang="en-US" sz="1400" dirty="0">
                <a:solidFill>
                  <a:schemeClr val="tx1"/>
                </a:solidFill>
              </a:rPr>
              <a:t>  HTTP endpoints</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Endpoints: Clients, Payments and Machine</a:t>
            </a:r>
            <a:endParaRPr lang="en-US" sz="3000" dirty="0"/>
          </a:p>
        </p:txBody>
      </p:sp>
      <p:sp>
        <p:nvSpPr>
          <p:cNvPr id="3" name="Clients circle"/>
          <p:cNvSpPr/>
          <p:nvPr/>
        </p:nvSpPr>
        <p:spPr>
          <a:xfrm>
            <a:off x="548640" y="1280160"/>
            <a:ext cx="502920" cy="502920"/>
          </a:xfrm>
          <a:prstGeom prst="ellipse">
            <a:avLst/>
          </a:prstGeom>
          <a:solidFill>
            <a:schemeClr val="accent5"/>
          </a:solidFill>
          <a:ln w="12700">
            <a:solidFill>
              <a:schemeClr val="accent5"/>
            </a:solidFill>
            <a:prstDash val="solid"/>
          </a:ln>
        </p:spPr>
      </p:sp>
      <p:pic>
        <p:nvPicPr>
          <p:cNvPr id="4" name="Clients icon" descr="preencoded.png">    </p:cNvPr>
          <p:cNvPicPr>
            <a:picLocks noChangeAspect="1"/>
          </p:cNvPicPr>
          <p:nvPr/>
        </p:nvPicPr>
        <p:blipFill>
          <a:blip r:embed="rId1"/>
          <a:stretch>
            <a:fillRect/>
          </a:stretch>
        </p:blipFill>
        <p:spPr>
          <a:xfrm>
            <a:off x="674370" y="1405890"/>
            <a:ext cx="251460" cy="251460"/>
          </a:xfrm>
          <a:prstGeom prst="rect">
            <a:avLst/>
          </a:prstGeom>
        </p:spPr>
      </p:pic>
      <p:sp>
        <p:nvSpPr>
          <p:cNvPr id="5" name="Clients header"/>
          <p:cNvSpPr txBox="1"/>
          <p:nvPr/>
        </p:nvSpPr>
        <p:spPr>
          <a:xfrm>
            <a:off x="1188720" y="1280160"/>
            <a:ext cx="5120640" cy="502920"/>
          </a:xfrm>
          <a:prstGeom prst="rect">
            <a:avLst/>
          </a:prstGeom>
          <a:noFill/>
          <a:ln/>
        </p:spPr>
        <p:txBody>
          <a:bodyPr wrap="square" rtlCol="0" anchor="ctr"/>
          <a:lstStyle/>
          <a:p>
            <a:pPr indent="0" marL="0">
              <a:buNone/>
            </a:pPr>
            <a:r>
              <a:rPr lang="en-US" sz="1700" b="1" dirty="0">
                <a:solidFill>
                  <a:schemeClr val="tx1"/>
                </a:solidFill>
              </a:rPr>
              <a:t>Clients</a:t>
            </a:r>
            <a:pPr indent="0" marL="0">
              <a:buNone/>
            </a:pPr>
            <a:r>
              <a:rPr lang="en-US" sz="1200" dirty="0">
                <a:solidFill>
                  <a:schemeClr val="tx2"/>
                </a:solidFill>
              </a:rPr>
              <a:t>   :13005 · /api/clients, /api/auth</a:t>
            </a:r>
            <a:endParaRPr lang="en-US" sz="1700" dirty="0"/>
          </a:p>
        </p:txBody>
      </p:sp>
      <p:graphicFrame>
        <p:nvGraphicFramePr>
          <p:cNvPr id="4" name="Clients endpoints"/>
          <p:cNvGraphicFramePr>
            <a:graphicFrameLocks noGrp="1"/>
          </p:cNvGraphicFramePr>
          <p:nvPr>
            <p:extLst>
              <p:ext uri="{D42A27DB-BD31-4B8C-83A1-F6EECF244321}">
                <p14:modId xmlns:p14="http://schemas.microsoft.com/office/powerpoint/2010/main" val="1579011935"/>
              </p:ext>
            </p:extLst>
          </p:nvPr>
        </p:nvGraphicFramePr>
        <p:xfrm>
          <a:off x="548640" y="1920240"/>
          <a:ext cx="5577840" cy="914400"/>
        </p:xfrm>
        <a:graphic>
          <a:graphicData uri="http://schemas.openxmlformats.org/drawingml/2006/table">
            <a:tbl>
              <a:tblPr/>
              <a:tblGrid>
                <a:gridCol w="731520"/>
                <a:gridCol w="2240280"/>
                <a:gridCol w="1965960"/>
                <a:gridCol w="640080"/>
              </a:tblGrid>
              <a:tr h="283464">
                <a:tc>
                  <a:txBody>
                    <a:bodyPr/>
                    <a:lstStyle/>
                    <a:p>
                      <a:pPr indent="0" marL="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/auth/public-key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Public key to verify tokens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/auth/token</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 in, returns a 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5"/>
                          </a:solidFill>
                        </a:rPr>
                        <a:t>Basic</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/auth/register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Register a user (role user)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/clients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Create a client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/clients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List clients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/clients/{id}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Get a client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7" name="Payments circle"/>
          <p:cNvSpPr/>
          <p:nvPr/>
        </p:nvSpPr>
        <p:spPr>
          <a:xfrm>
            <a:off x="6400800" y="1280160"/>
            <a:ext cx="502920" cy="502920"/>
          </a:xfrm>
          <a:prstGeom prst="ellipse">
            <a:avLst/>
          </a:prstGeom>
          <a:solidFill>
            <a:schemeClr val="accent5"/>
          </a:solidFill>
          <a:ln w="12700">
            <a:solidFill>
              <a:schemeClr val="accent5"/>
            </a:solidFill>
            <a:prstDash val="solid"/>
          </a:ln>
        </p:spPr>
      </p:sp>
      <p:pic>
        <p:nvPicPr>
          <p:cNvPr id="8" name="Payments icon" descr="preencoded.png">    </p:cNvPr>
          <p:cNvPicPr>
            <a:picLocks noChangeAspect="1"/>
          </p:cNvPicPr>
          <p:nvPr/>
        </p:nvPicPr>
        <p:blipFill>
          <a:blip r:embed="rId2"/>
          <a:stretch>
            <a:fillRect/>
          </a:stretch>
        </p:blipFill>
        <p:spPr>
          <a:xfrm>
            <a:off x="6526530" y="1405890"/>
            <a:ext cx="251460" cy="251460"/>
          </a:xfrm>
          <a:prstGeom prst="rect">
            <a:avLst/>
          </a:prstGeom>
        </p:spPr>
      </p:pic>
      <p:sp>
        <p:nvSpPr>
          <p:cNvPr id="9" name="Payments header"/>
          <p:cNvSpPr txBox="1"/>
          <p:nvPr/>
        </p:nvSpPr>
        <p:spPr>
          <a:xfrm>
            <a:off x="7040880" y="1280160"/>
            <a:ext cx="4572000" cy="502920"/>
          </a:xfrm>
          <a:prstGeom prst="rect">
            <a:avLst/>
          </a:prstGeom>
          <a:noFill/>
          <a:ln/>
        </p:spPr>
        <p:txBody>
          <a:bodyPr wrap="square" rtlCol="0" anchor="ctr"/>
          <a:lstStyle/>
          <a:p>
            <a:pPr indent="0" marL="0">
              <a:buNone/>
            </a:pPr>
            <a:r>
              <a:rPr lang="en-US" sz="1700" b="1" dirty="0">
                <a:solidFill>
                  <a:schemeClr val="tx1"/>
                </a:solidFill>
              </a:rPr>
              <a:t>Payments</a:t>
            </a:r>
            <a:pPr indent="0" marL="0">
              <a:buNone/>
            </a:pPr>
            <a:r>
              <a:rPr lang="en-US" sz="1200" dirty="0">
                <a:solidFill>
                  <a:schemeClr val="tx2"/>
                </a:solidFill>
              </a:rPr>
              <a:t>   :13006 · /api/payments</a:t>
            </a:r>
            <a:endParaRPr lang="en-US" sz="1700" dirty="0"/>
          </a:p>
        </p:txBody>
      </p:sp>
      <p:graphicFrame>
        <p:nvGraphicFramePr>
          <p:cNvPr id="7" name="Payments endpoints"/>
          <p:cNvGraphicFramePr>
            <a:graphicFrameLocks noGrp="1"/>
          </p:cNvGraphicFramePr>
          <p:nvPr>
            <p:extLst>
              <p:ext uri="{D42A27DB-BD31-4B8C-83A1-F6EECF244321}">
                <p14:modId xmlns:p14="http://schemas.microsoft.com/office/powerpoint/2010/main" val="1579011935"/>
              </p:ext>
            </p:extLst>
          </p:nvPr>
        </p:nvGraphicFramePr>
        <p:xfrm>
          <a:off x="6400800" y="1920240"/>
          <a:ext cx="5212080" cy="914400"/>
        </p:xfrm>
        <a:graphic>
          <a:graphicData uri="http://schemas.openxmlformats.org/drawingml/2006/table">
            <a:tbl>
              <a:tblPr/>
              <a:tblGrid>
                <a:gridCol w="658368"/>
                <a:gridCol w="2606040"/>
                <a:gridCol w="1307592"/>
                <a:gridCol w="640080"/>
              </a:tblGrid>
              <a:tr h="283464">
                <a:tc>
                  <a:txBody>
                    <a:bodyPr/>
                    <a:lstStyle/>
                    <a:p>
                      <a:pPr indent="0" marL="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/payment/{client_id}/deposit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Add balance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/payment/{client_id}/charge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Charge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/payment/{client_id}/balance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Check balance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check</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/health</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Health (chassis)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11" name="Machine circle"/>
          <p:cNvSpPr/>
          <p:nvPr/>
        </p:nvSpPr>
        <p:spPr>
          <a:xfrm>
            <a:off x="548640" y="4251960"/>
            <a:ext cx="502920" cy="502920"/>
          </a:xfrm>
          <a:prstGeom prst="ellipse">
            <a:avLst/>
          </a:prstGeom>
          <a:solidFill>
            <a:schemeClr val="accent5"/>
          </a:solidFill>
          <a:ln w="12700">
            <a:solidFill>
              <a:schemeClr val="accent5"/>
            </a:solidFill>
            <a:prstDash val="solid"/>
          </a:ln>
        </p:spPr>
      </p:sp>
      <p:pic>
        <p:nvPicPr>
          <p:cNvPr id="12" name="Machine icon" descr="preencoded.png">    </p:cNvPr>
          <p:cNvPicPr>
            <a:picLocks noChangeAspect="1"/>
          </p:cNvPicPr>
          <p:nvPr/>
        </p:nvPicPr>
        <p:blipFill>
          <a:blip r:embed="rId3"/>
          <a:stretch>
            <a:fillRect/>
          </a:stretch>
        </p:blipFill>
        <p:spPr>
          <a:xfrm>
            <a:off x="674370" y="4377690"/>
            <a:ext cx="251460" cy="251460"/>
          </a:xfrm>
          <a:prstGeom prst="rect">
            <a:avLst/>
          </a:prstGeom>
        </p:spPr>
      </p:pic>
      <p:sp>
        <p:nvSpPr>
          <p:cNvPr id="13" name="Machine header"/>
          <p:cNvSpPr txBox="1"/>
          <p:nvPr/>
        </p:nvSpPr>
        <p:spPr>
          <a:xfrm>
            <a:off x="1188720" y="4251960"/>
            <a:ext cx="5120640" cy="502920"/>
          </a:xfrm>
          <a:prstGeom prst="rect">
            <a:avLst/>
          </a:prstGeom>
          <a:noFill/>
          <a:ln/>
        </p:spPr>
        <p:txBody>
          <a:bodyPr wrap="square" rtlCol="0" anchor="ctr"/>
          <a:lstStyle/>
          <a:p>
            <a:pPr indent="0" marL="0">
              <a:buNone/>
            </a:pPr>
            <a:r>
              <a:rPr lang="en-US" sz="1700" b="1" dirty="0">
                <a:solidFill>
                  <a:schemeClr val="tx1"/>
                </a:solidFill>
              </a:rPr>
              <a:t>Machine</a:t>
            </a:r>
            <a:pPr indent="0" marL="0">
              <a:buNone/>
            </a:pPr>
            <a:r>
              <a:rPr lang="en-US" sz="1200" dirty="0">
                <a:solidFill>
                  <a:schemeClr val="tx2"/>
                </a:solidFill>
              </a:rPr>
              <a:t>   :13002 · /api/machine</a:t>
            </a:r>
            <a:endParaRPr lang="en-US" sz="1700" dirty="0"/>
          </a:p>
        </p:txBody>
      </p:sp>
      <p:graphicFrame>
        <p:nvGraphicFramePr>
          <p:cNvPr id="10" name="Machine endpoints"/>
          <p:cNvGraphicFramePr>
            <a:graphicFrameLocks noGrp="1"/>
          </p:cNvGraphicFramePr>
          <p:nvPr>
            <p:extLst>
              <p:ext uri="{D42A27DB-BD31-4B8C-83A1-F6EECF244321}">
                <p14:modId xmlns:p14="http://schemas.microsoft.com/office/powerpoint/2010/main" val="1579011935"/>
              </p:ext>
            </p:extLst>
          </p:nvPr>
        </p:nvGraphicFramePr>
        <p:xfrm>
          <a:off x="548640" y="4892040"/>
          <a:ext cx="5577840" cy="914400"/>
        </p:xfrm>
        <a:graphic>
          <a:graphicData uri="http://schemas.openxmlformats.org/drawingml/2006/table">
            <a:tbl>
              <a:tblPr/>
              <a:tblGrid>
                <a:gridCol w="731520"/>
                <a:gridCol w="2240280"/>
                <a:gridCol w="1965960"/>
                <a:gridCol w="640080"/>
              </a:tblGrid>
              <a:tr h="283464">
                <a:tc>
                  <a:txBody>
                    <a:bodyPr/>
                    <a:lstStyle/>
                    <a:p>
                      <a:pPr indent="0" marL="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/machine/status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Status and current queue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/machine/queue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Enqueue pieces by hand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/machine/queue/{piece_id}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Remove a queued piece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15" name="Gateway note card"/>
          <p:cNvSpPr/>
          <p:nvPr/>
        </p:nvSpPr>
        <p:spPr>
          <a:xfrm>
            <a:off x="6400800" y="4251960"/>
            <a:ext cx="5212080" cy="1783080"/>
          </a:xfrm>
          <a:prstGeom prst="roundRect">
            <a:avLst>
              <a:gd name="adj" fmla="val 6154"/>
            </a:avLst>
          </a:prstGeom>
          <a:solidFill>
            <a:schemeClr val="bg2"/>
          </a:solidFill>
          <a:ln w="12700">
            <a:solidFill>
              <a:schemeClr val="bg2"/>
            </a:solidFill>
            <a:prstDash val="solid"/>
          </a:ln>
        </p:spPr>
      </p:sp>
      <p:sp>
        <p:nvSpPr>
          <p:cNvPr id="16" name="Gateway note"/>
          <p:cNvSpPr txBox="1"/>
          <p:nvPr/>
        </p:nvSpPr>
        <p:spPr>
          <a:xfrm>
            <a:off x="6629400" y="4343400"/>
            <a:ext cx="4754880" cy="1600200"/>
          </a:xfrm>
          <a:prstGeom prst="rect">
            <a:avLst/>
          </a:prstGeom>
          <a:noFill/>
          <a:ln/>
        </p:spPr>
        <p:txBody>
          <a:bodyPr wrap="square" rtlCol="0" anchor="ctr"/>
          <a:lstStyle/>
          <a:p>
            <a:pPr indent="0" marL="0">
              <a:buNone/>
            </a:pPr>
            <a:r>
              <a:rPr lang="en-US" sz="1500" b="1" dirty="0">
                <a:solidFill>
                  <a:schemeClr val="tx1"/>
                </a:solidFill>
              </a:rPr>
              <a:t>Through the gateway</a:t>
            </a:r>
            <a:endParaRPr lang="en-US" sz="1500" dirty="0"/>
          </a:p>
          <a:p>
            <a:pPr indent="0" marL="0">
              <a:buNone/>
            </a:pPr>
            <a:r>
              <a:rPr lang="en-US" sz="1300" dirty="0">
                <a:solidFill>
                  <a:schemeClr val="tx1"/>
                </a:solidFill>
              </a:rPr>
              <a:t>Clients use http://localhost:8080/api/... ; HAProxy rewrites the prefix to the service path, e.g. /api/payments/1/balance → /payment/1/balance. Unknown routes return 404.</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Endpoints: Orders and Deliveries</a:t>
            </a:r>
            <a:endParaRPr lang="en-US" sz="3000" dirty="0"/>
          </a:p>
        </p:txBody>
      </p:sp>
      <p:sp>
        <p:nvSpPr>
          <p:cNvPr id="3" name="Orders circle"/>
          <p:cNvSpPr/>
          <p:nvPr/>
        </p:nvSpPr>
        <p:spPr>
          <a:xfrm>
            <a:off x="548640" y="1280160"/>
            <a:ext cx="502920" cy="502920"/>
          </a:xfrm>
          <a:prstGeom prst="ellipse">
            <a:avLst/>
          </a:prstGeom>
          <a:solidFill>
            <a:schemeClr val="accent1"/>
          </a:solidFill>
          <a:ln w="12700">
            <a:solidFill>
              <a:schemeClr val="accent1"/>
            </a:solidFill>
            <a:prstDash val="solid"/>
          </a:ln>
        </p:spPr>
      </p:sp>
      <p:pic>
        <p:nvPicPr>
          <p:cNvPr id="4" name="Orders icon" descr="preencoded.png">    </p:cNvPr>
          <p:cNvPicPr>
            <a:picLocks noChangeAspect="1"/>
          </p:cNvPicPr>
          <p:nvPr/>
        </p:nvPicPr>
        <p:blipFill>
          <a:blip r:embed="rId1"/>
          <a:stretch>
            <a:fillRect/>
          </a:stretch>
        </p:blipFill>
        <p:spPr>
          <a:xfrm>
            <a:off x="674370" y="1405890"/>
            <a:ext cx="251460" cy="251460"/>
          </a:xfrm>
          <a:prstGeom prst="rect">
            <a:avLst/>
          </a:prstGeom>
        </p:spPr>
      </p:pic>
      <p:sp>
        <p:nvSpPr>
          <p:cNvPr id="5" name="Orders header"/>
          <p:cNvSpPr txBox="1"/>
          <p:nvPr/>
        </p:nvSpPr>
        <p:spPr>
          <a:xfrm>
            <a:off x="1188720" y="1280160"/>
            <a:ext cx="5669280" cy="502920"/>
          </a:xfrm>
          <a:prstGeom prst="rect">
            <a:avLst/>
          </a:prstGeom>
          <a:noFill/>
          <a:ln/>
        </p:spPr>
        <p:txBody>
          <a:bodyPr wrap="square" rtlCol="0" anchor="ctr"/>
          <a:lstStyle/>
          <a:p>
            <a:pPr indent="0" marL="0">
              <a:buNone/>
            </a:pPr>
            <a:r>
              <a:rPr lang="en-US" sz="1700" b="1" dirty="0">
                <a:solidFill>
                  <a:schemeClr val="tx1"/>
                </a:solidFill>
              </a:rPr>
              <a:t>Orders</a:t>
            </a:r>
            <a:pPr indent="0" marL="0">
              <a:buNone/>
            </a:pPr>
            <a:r>
              <a:rPr lang="en-US" sz="1200" dirty="0">
                <a:solidFill>
                  <a:schemeClr val="tx2"/>
                </a:solidFill>
              </a:rPr>
              <a:t>   :13001 · /api/orders, /api/pieces</a:t>
            </a:r>
            <a:endParaRPr lang="en-US" sz="1700" dirty="0"/>
          </a:p>
        </p:txBody>
      </p:sp>
      <p:graphicFrame>
        <p:nvGraphicFramePr>
          <p:cNvPr id="5" name="Orders endpoints"/>
          <p:cNvGraphicFramePr>
            <a:graphicFrameLocks noGrp="1"/>
          </p:cNvGraphicFramePr>
          <p:nvPr>
            <p:extLst>
              <p:ext uri="{D42A27DB-BD31-4B8C-83A1-F6EECF244321}">
                <p14:modId xmlns:p14="http://schemas.microsoft.com/office/powerpoint/2010/main" val="1579011935"/>
              </p:ext>
            </p:extLst>
          </p:nvPr>
        </p:nvGraphicFramePr>
        <p:xfrm>
          <a:off x="548640" y="1920240"/>
          <a:ext cx="6309360" cy="914400"/>
        </p:xfrm>
        <a:graphic>
          <a:graphicData uri="http://schemas.openxmlformats.org/drawingml/2006/table">
            <a:tbl>
              <a:tblPr/>
              <a:tblGrid>
                <a:gridCol w="731520"/>
                <a:gridCol w="2240280"/>
                <a:gridCol w="2697480"/>
                <a:gridCol w="640080"/>
              </a:tblGrid>
              <a:tr h="283464">
                <a:tc>
                  <a:txBody>
                    <a:bodyPr/>
                    <a:lstStyle/>
                    <a:p>
                      <a:pPr indent="0" marL="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Create an order (202)</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List orders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JWT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Get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/order/{id}/pieces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Pieces of an order</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/order/{id}/retry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Retry pending steps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Mark Finished or Delivered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/order/{id}/payment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Payment result (legacy)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/order/{id}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Delete; 409 for workflow orders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/piece</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List pieces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/piece/{id}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Get a piece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/piece/by-status/{status}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Machine recovery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/piece/{id}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Piece status (legacy)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/health</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Health (chassis)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7" name="Deliveries circle"/>
          <p:cNvSpPr/>
          <p:nvPr/>
        </p:nvSpPr>
        <p:spPr>
          <a:xfrm>
            <a:off x="7132320" y="1280160"/>
            <a:ext cx="502920" cy="502920"/>
          </a:xfrm>
          <a:prstGeom prst="ellipse">
            <a:avLst/>
          </a:prstGeom>
          <a:solidFill>
            <a:schemeClr val="accent5"/>
          </a:solidFill>
          <a:ln w="12700">
            <a:solidFill>
              <a:schemeClr val="accent5"/>
            </a:solidFill>
            <a:prstDash val="solid"/>
          </a:ln>
        </p:spPr>
      </p:sp>
      <p:pic>
        <p:nvPicPr>
          <p:cNvPr id="8" name="Deliveries icon" descr="preencoded.png">    </p:cNvPr>
          <p:cNvPicPr>
            <a:picLocks noChangeAspect="1"/>
          </p:cNvPicPr>
          <p:nvPr/>
        </p:nvPicPr>
        <p:blipFill>
          <a:blip r:embed="rId2"/>
          <a:stretch>
            <a:fillRect/>
          </a:stretch>
        </p:blipFill>
        <p:spPr>
          <a:xfrm>
            <a:off x="7258050" y="1405890"/>
            <a:ext cx="251460" cy="251460"/>
          </a:xfrm>
          <a:prstGeom prst="rect">
            <a:avLst/>
          </a:prstGeom>
        </p:spPr>
      </p:pic>
      <p:sp>
        <p:nvSpPr>
          <p:cNvPr id="9" name="Deliveries header"/>
          <p:cNvSpPr txBox="1"/>
          <p:nvPr/>
        </p:nvSpPr>
        <p:spPr>
          <a:xfrm>
            <a:off x="7772400" y="1280160"/>
            <a:ext cx="3840480" cy="502920"/>
          </a:xfrm>
          <a:prstGeom prst="rect">
            <a:avLst/>
          </a:prstGeom>
          <a:noFill/>
          <a:ln/>
        </p:spPr>
        <p:txBody>
          <a:bodyPr wrap="square" rtlCol="0" anchor="ctr"/>
          <a:lstStyle/>
          <a:p>
            <a:pPr indent="0" marL="0">
              <a:buNone/>
            </a:pPr>
            <a:r>
              <a:rPr lang="en-US" sz="1700" b="1" dirty="0">
                <a:solidFill>
                  <a:schemeClr val="tx1"/>
                </a:solidFill>
              </a:rPr>
              <a:t>Deliveries</a:t>
            </a:r>
            <a:pPr indent="0" marL="0">
              <a:buNone/>
            </a:pPr>
            <a:r>
              <a:rPr lang="en-US" sz="1200" dirty="0">
                <a:solidFill>
                  <a:schemeClr val="tx2"/>
                </a:solidFill>
              </a:rPr>
              <a:t>   :13004 · prefix /deliveries</a:t>
            </a:r>
            <a:endParaRPr lang="en-US" sz="1700" dirty="0"/>
          </a:p>
        </p:txBody>
      </p:sp>
      <p:graphicFrame>
        <p:nvGraphicFramePr>
          <p:cNvPr id="9" name="Deliveries endpoints"/>
          <p:cNvGraphicFramePr>
            <a:graphicFrameLocks noGrp="1"/>
          </p:cNvGraphicFramePr>
          <p:nvPr>
            <p:extLst>
              <p:ext uri="{D42A27DB-BD31-4B8C-83A1-F6EECF244321}">
                <p14:modId xmlns:p14="http://schemas.microsoft.com/office/powerpoint/2010/main" val="1579011935"/>
              </p:ext>
            </p:extLst>
          </p:nvPr>
        </p:nvGraphicFramePr>
        <p:xfrm>
          <a:off x="7132320" y="1920240"/>
          <a:ext cx="4480560" cy="914400"/>
        </p:xfrm>
        <a:graphic>
          <a:graphicData uri="http://schemas.openxmlformats.org/drawingml/2006/table">
            <a:tbl>
              <a:tblPr/>
              <a:tblGrid>
                <a:gridCol w="685800"/>
                <a:gridCol w="1920240"/>
                <a:gridCol w="1325880"/>
                <a:gridCol w="548640"/>
              </a:tblGrid>
              <a:tr h="283464">
                <a:tc>
                  <a:txBody>
                    <a:bodyPr/>
                    <a:lstStyle/>
                    <a:p>
                      <a:pPr indent="0" marL="0">
                        <a:buNone/>
                      </a:pPr>
                      <a:r>
                        <a:rPr lang="en-US" sz="1200" b="1" dirty="0">
                          <a:solidFill>
                            <a:schemeClr val="bg1"/>
                          </a:solidFill>
                        </a:rPr>
                        <a:t>Method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Path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Purpose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Auth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283464">
                <a:tc>
                  <a:txBody>
                    <a:bodyPr/>
                    <a:lstStyle/>
                    <a:p>
                      <a:pPr indent="0" marL="0">
                        <a:buNone/>
                      </a:pPr>
                      <a:r>
                        <a:rPr lang="en-US" sz="1200" b="1" dirty="0">
                          <a:solidFill>
                            <a:schemeClr val="accent1"/>
                          </a:solidFill>
                        </a:rPr>
                        <a:t>POST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/delivery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Create (by orders)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/delivery</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List deliveries</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/delivery/{id}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Get a delivery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5"/>
                          </a:solidFill>
                        </a:rPr>
                        <a:t>PATCH</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/delivery/{id}/status</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Sent or Delivered</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6"/>
                          </a:solidFill>
                        </a:rPr>
                        <a:t>DELETE</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/delivery/{id}</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Delete a delivery</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283464">
                <a:tc>
                  <a:txBody>
                    <a:bodyPr/>
                    <a:lstStyle/>
                    <a:p>
                      <a:pPr indent="0" marL="0">
                        <a:buNone/>
                      </a:pPr>
                      <a:r>
                        <a:rPr lang="en-US" sz="1200" b="1" dirty="0">
                          <a:solidFill>
                            <a:schemeClr val="accent2"/>
                          </a:solidFill>
                        </a:rPr>
                        <a:t>GET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check</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4"/>
                          </a:solidFill>
                        </a:rPr>
                        <a:t>—</a:t>
                      </a:r>
                      <a:endParaRPr lang="en-US" sz="1200" dirty="0"/>
                    </a:p>
                  </a:txBody>
                  <a:tcPr marL="54864" marR="54864" marT="27432" marB="27432"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11" name="Endpoint note card"/>
          <p:cNvSpPr/>
          <p:nvPr/>
        </p:nvSpPr>
        <p:spPr>
          <a:xfrm>
            <a:off x="7132320" y="4160520"/>
            <a:ext cx="4480560" cy="1783080"/>
          </a:xfrm>
          <a:prstGeom prst="roundRect">
            <a:avLst>
              <a:gd name="adj" fmla="val 6154"/>
            </a:avLst>
          </a:prstGeom>
          <a:solidFill>
            <a:schemeClr val="bg2"/>
          </a:solidFill>
          <a:ln w="12700">
            <a:solidFill>
              <a:schemeClr val="bg2"/>
            </a:solidFill>
            <a:prstDash val="solid"/>
          </a:ln>
        </p:spPr>
      </p:sp>
      <p:sp>
        <p:nvSpPr>
          <p:cNvPr id="12" name="Legacy note"/>
          <p:cNvSpPr txBox="1"/>
          <p:nvPr/>
        </p:nvSpPr>
        <p:spPr>
          <a:xfrm>
            <a:off x="7360920" y="4251960"/>
            <a:ext cx="4023360" cy="1600200"/>
          </a:xfrm>
          <a:prstGeom prst="rect">
            <a:avLst/>
          </a:prstGeom>
          <a:noFill/>
          <a:ln/>
        </p:spPr>
        <p:txBody>
          <a:bodyPr wrap="square" rtlCol="0" anchor="ctr"/>
          <a:lstStyle/>
          <a:p>
            <a:pPr indent="0" marL="0">
              <a:buNone/>
            </a:pPr>
            <a:r>
              <a:rPr lang="en-US" sz="1500" b="1" dirty="0">
                <a:solidFill>
                  <a:schemeClr val="tx1"/>
                </a:solidFill>
              </a:rPr>
              <a:t>Legacy callbacks</a:t>
            </a:r>
            <a:endParaRPr lang="en-US" sz="1500" dirty="0"/>
          </a:p>
          <a:p>
            <a:pPr indent="0" marL="0">
              <a:buNone/>
            </a:pPr>
            <a:r>
              <a:rPr lang="en-US" sz="1300" dirty="0">
                <a:solidFill>
                  <a:schemeClr val="tx1"/>
                </a:solidFill>
              </a:rPr>
              <a:t>PATCH /piece/{id} and PATCH /order/{id}/payment are kept for compatibility: piece and payment updates now arrive as RabbitMQ events.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Exchange, queues and topics</a:t>
            </a:r>
            <a:endParaRPr lang="en-US" sz="3000" dirty="0"/>
          </a:p>
        </p:txBody>
      </p:sp>
      <p:graphicFrame>
        <p:nvGraphicFramePr>
          <p:cNvPr id="6" name="Events table"/>
          <p:cNvGraphicFramePr>
            <a:graphicFrameLocks noGrp="1"/>
          </p:cNvGraphicFramePr>
          <p:nvPr>
            <p:extLst>
              <p:ext uri="{D42A27DB-BD31-4B8C-83A1-F6EECF244321}">
                <p14:modId xmlns:p14="http://schemas.microsoft.com/office/powerpoint/2010/main" val="1579011935"/>
              </p:ext>
            </p:extLst>
          </p:nvPr>
        </p:nvGraphicFramePr>
        <p:xfrm>
          <a:off x="548640" y="1280160"/>
          <a:ext cx="7772400" cy="914400"/>
        </p:xfrm>
        <a:graphic>
          <a:graphicData uri="http://schemas.openxmlformats.org/drawingml/2006/table">
            <a:tbl>
              <a:tblPr/>
              <a:tblGrid>
                <a:gridCol w="2514600"/>
                <a:gridCol w="1188720"/>
                <a:gridCol w="2788920"/>
                <a:gridCol w="1280160"/>
              </a:tblGrid>
              <a:tr h="457200">
                <a:tc>
                  <a:txBody>
                    <a:bodyPr/>
                    <a:lstStyle/>
                    <a:p>
                      <a:pPr indent="0" marL="0">
                        <a:buNone/>
                      </a:pPr>
                      <a:r>
                        <a:rPr lang="en-US" sz="1300" b="1" dirty="0">
                          <a:solidFill>
                            <a:schemeClr val="bg1"/>
                          </a:solidFill>
                        </a:rPr>
                        <a:t>Topic (routing key)</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Publisher</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Queue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Consumer</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order.created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payment.events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payment.approved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order.payment.events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payment.rejected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order.payment.events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machine.pieces.requested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machine.events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Machine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piece.status.update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Machine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order.events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order.delivery.ready</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delivery.events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Deliveries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delivery.status.update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Deliveries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order.events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client.cert.updated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Clients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exclusive queue per instance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 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4" name="Exchange card"/>
          <p:cNvSpPr/>
          <p:nvPr/>
        </p:nvSpPr>
        <p:spPr>
          <a:xfrm>
            <a:off x="8595360" y="1280160"/>
            <a:ext cx="3017520" cy="1371600"/>
          </a:xfrm>
          <a:prstGeom prst="roundRect">
            <a:avLst>
              <a:gd name="adj" fmla="val 8000"/>
            </a:avLst>
          </a:prstGeom>
          <a:solidFill>
            <a:schemeClr val="accent5"/>
          </a:solidFill>
          <a:ln w="12700">
            <a:solidFill>
              <a:schemeClr val="accent5"/>
            </a:solidFill>
            <a:prstDash val="solid"/>
          </a:ln>
        </p:spPr>
      </p:sp>
      <p:sp>
        <p:nvSpPr>
          <p:cNvPr id="5" name="Exchange text"/>
          <p:cNvSpPr txBox="1"/>
          <p:nvPr/>
        </p:nvSpPr>
        <p:spPr>
          <a:xfrm>
            <a:off x="8778240" y="1280160"/>
            <a:ext cx="2651760" cy="1371600"/>
          </a:xfrm>
          <a:prstGeom prst="rect">
            <a:avLst/>
          </a:prstGeom>
          <a:noFill/>
          <a:ln/>
        </p:spPr>
        <p:txBody>
          <a:bodyPr wrap="square" rtlCol="0" anchor="ctr"/>
          <a:lstStyle/>
          <a:p>
            <a:pPr indent="0" marL="0">
              <a:buNone/>
            </a:pPr>
            <a:r>
              <a:rPr lang="en-US" sz="2000" b="1" dirty="0">
                <a:solidFill>
                  <a:schemeClr val="bg1"/>
                </a:solidFill>
              </a:rPr>
              <a:t>1 exchange</a:t>
            </a:r>
            <a:endParaRPr lang="en-US" sz="2000" dirty="0"/>
          </a:p>
          <a:p>
            <a:pPr indent="0" marL="0">
              <a:buNone/>
            </a:pPr>
            <a:r>
              <a:rPr lang="en-US" sz="1200" dirty="0">
                <a:solidFill>
                  <a:schemeClr val="bg1"/>
                </a:solidFill>
                <a:latin typeface="Courier New" pitchFamily="34" charset="0"/>
                <a:ea typeface="Courier New" pitchFamily="34" charset="-122"/>
                <a:cs typeface="Courier New" pitchFamily="34" charset="-120"/>
              </a:rPr>
              <a:t>manufacturing.events</a:t>
            </a:r>
            <a:endParaRPr lang="en-US" sz="2000" dirty="0"/>
          </a:p>
          <a:p>
            <a:pPr indent="0" marL="0">
              <a:buNone/>
            </a:pPr>
            <a:r>
              <a:rPr lang="en-US" sz="1300" dirty="0">
                <a:solidFill>
                  <a:schemeClr val="bg1"/>
                </a:solidFill>
              </a:rPr>
              <a:t>type topic, durable</a:t>
            </a:r>
            <a:endParaRPr lang="en-US" sz="2000" dirty="0"/>
          </a:p>
        </p:txBody>
      </p:sp>
      <p:sp>
        <p:nvSpPr>
          <p:cNvPr id="6" name="Queues card"/>
          <p:cNvSpPr/>
          <p:nvPr/>
        </p:nvSpPr>
        <p:spPr>
          <a:xfrm>
            <a:off x="8595360" y="2834640"/>
            <a:ext cx="3017520" cy="1371600"/>
          </a:xfrm>
          <a:prstGeom prst="roundRect">
            <a:avLst>
              <a:gd name="adj" fmla="val 8000"/>
            </a:avLst>
          </a:prstGeom>
          <a:solidFill>
            <a:schemeClr val="bg2"/>
          </a:solidFill>
          <a:ln w="12700">
            <a:solidFill>
              <a:schemeClr val="bg2"/>
            </a:solidFill>
            <a:prstDash val="solid"/>
          </a:ln>
        </p:spPr>
      </p:sp>
      <p:sp>
        <p:nvSpPr>
          <p:cNvPr id="7" name="Queues text"/>
          <p:cNvSpPr txBox="1"/>
          <p:nvPr/>
        </p:nvSpPr>
        <p:spPr>
          <a:xfrm>
            <a:off x="8778240" y="2834640"/>
            <a:ext cx="2651760" cy="1371600"/>
          </a:xfrm>
          <a:prstGeom prst="rect">
            <a:avLst/>
          </a:prstGeom>
          <a:noFill/>
          <a:ln/>
        </p:spPr>
        <p:txBody>
          <a:bodyPr wrap="square" rtlCol="0" anchor="ctr"/>
          <a:lstStyle/>
          <a:p>
            <a:pPr indent="0" marL="0">
              <a:buNone/>
            </a:pPr>
            <a:r>
              <a:rPr lang="en-US" sz="1800" b="1" dirty="0">
                <a:solidFill>
                  <a:schemeClr val="tx1"/>
                </a:solidFill>
              </a:rPr>
              <a:t>5 durable queues</a:t>
            </a:r>
            <a:endParaRPr lang="en-US" sz="1800" dirty="0"/>
          </a:p>
          <a:p>
            <a:pPr indent="0" marL="0">
              <a:buNone/>
            </a:pPr>
            <a:r>
              <a:rPr lang="en-US" sz="1200" dirty="0">
                <a:solidFill>
                  <a:schemeClr val="tx1"/>
                </a:solidFill>
              </a:rPr>
              <a:t>+ 1 temporary exclusive queue per orders/payments instance for key rotation</a:t>
            </a:r>
            <a:endParaRPr lang="en-US" sz="1800" dirty="0"/>
          </a:p>
        </p:txBody>
      </p:sp>
      <p:sp>
        <p:nvSpPr>
          <p:cNvPr id="8" name="Consumer card"/>
          <p:cNvSpPr/>
          <p:nvPr/>
        </p:nvSpPr>
        <p:spPr>
          <a:xfrm>
            <a:off x="8595360" y="4389120"/>
            <a:ext cx="3017520" cy="1554480"/>
          </a:xfrm>
          <a:prstGeom prst="roundRect">
            <a:avLst>
              <a:gd name="adj" fmla="val 7059"/>
            </a:avLst>
          </a:prstGeom>
          <a:solidFill>
            <a:schemeClr val="bg2"/>
          </a:solidFill>
          <a:ln w="12700">
            <a:solidFill>
              <a:schemeClr val="bg2"/>
            </a:solidFill>
            <a:prstDash val="solid"/>
          </a:ln>
        </p:spPr>
      </p:sp>
      <p:sp>
        <p:nvSpPr>
          <p:cNvPr id="9" name="Consumer text"/>
          <p:cNvSpPr txBox="1"/>
          <p:nvPr/>
        </p:nvSpPr>
        <p:spPr>
          <a:xfrm>
            <a:off x="8778240" y="4389120"/>
            <a:ext cx="2651760" cy="1554480"/>
          </a:xfrm>
          <a:prstGeom prst="rect">
            <a:avLst/>
          </a:prstGeom>
          <a:noFill/>
          <a:ln/>
        </p:spPr>
        <p:txBody>
          <a:bodyPr wrap="square" rtlCol="0" anchor="ctr"/>
          <a:lstStyle/>
          <a:p>
            <a:pPr indent="0" marL="0">
              <a:buNone/>
            </a:pPr>
            <a:r>
              <a:rPr lang="en-US" sz="1500" b="1" dirty="0">
                <a:solidFill>
                  <a:schemeClr val="tx1"/>
                </a:solidFill>
              </a:rPr>
              <a:t>Consumers answer</a:t>
            </a:r>
            <a:endParaRPr lang="en-US" sz="1500" dirty="0"/>
          </a:p>
          <a:p>
            <a:pPr indent="0" marL="0">
              <a:buNone/>
            </a:pPr>
            <a:r>
              <a:rPr lang="en-US" sz="1200" dirty="0">
                <a:solidFill>
                  <a:schemeClr val="tx1"/>
                </a:solidFill>
              </a:rPr>
              <a:t>ack: processed</a:t>
            </a:r>
            <a:endParaRPr lang="en-US" sz="1500" dirty="0"/>
          </a:p>
          <a:p>
            <a:pPr indent="0" marL="0">
              <a:buNone/>
            </a:pPr>
            <a:r>
              <a:rPr lang="en-US" sz="1200" dirty="0">
                <a:solidFill>
                  <a:schemeClr val="tx1"/>
                </a:solidFill>
              </a:rPr>
              <a:t>reject: invalid, never retried</a:t>
            </a:r>
            <a:endParaRPr lang="en-US" sz="1500" dirty="0"/>
          </a:p>
          <a:p>
            <a:pPr indent="0" marL="0">
              <a:buNone/>
            </a:pPr>
            <a:r>
              <a:rPr lang="en-US" sz="1200" dirty="0">
                <a:solidFill>
                  <a:schemeClr val="tx1"/>
                </a:solidFill>
              </a:rPr>
              <a:t>nack: transient, retried in 5 s</a:t>
            </a:r>
            <a:endParaRPr lang="en-US" sz="1500" dirty="0"/>
          </a:p>
        </p:txBody>
      </p:sp>
      <p:sp>
        <p:nvSpPr>
          <p:cNvPr id="10" name="Message note"/>
          <p:cNvSpPr txBox="1"/>
          <p:nvPr/>
        </p:nvSpPr>
        <p:spPr>
          <a:xfrm>
            <a:off x="548640" y="5623560"/>
            <a:ext cx="7772400" cy="365760"/>
          </a:xfrm>
          <a:prstGeom prst="rect">
            <a:avLst/>
          </a:prstGeom>
          <a:noFill/>
          <a:ln/>
        </p:spPr>
        <p:txBody>
          <a:bodyPr wrap="square" rtlCol="0" anchor="ctr"/>
          <a:lstStyle/>
          <a:p>
            <a:pPr indent="0" marL="0">
              <a:buNone/>
            </a:pPr>
            <a:r>
              <a:rPr lang="en-US" sz="1200" i="1" dirty="0">
                <a:solidFill>
                  <a:schemeClr val="tx2"/>
                </a:solidFill>
              </a:rPr>
              <a:t>All persistent JSON, type = routing key, deterministic message_id, validated with Pydantic</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Security measures</a:t>
            </a:r>
            <a:endParaRPr lang="en-US" sz="3000" dirty="0"/>
          </a:p>
        </p:txBody>
      </p:sp>
      <p:sp>
        <p:nvSpPr>
          <p:cNvPr id="3" name="JWT authentication card"/>
          <p:cNvSpPr/>
          <p:nvPr/>
        </p:nvSpPr>
        <p:spPr>
          <a:xfrm>
            <a:off x="548640" y="1280160"/>
            <a:ext cx="3520440" cy="2011680"/>
          </a:xfrm>
          <a:prstGeom prst="roundRect">
            <a:avLst>
              <a:gd name="adj" fmla="val 5455"/>
            </a:avLst>
          </a:prstGeom>
          <a:solidFill>
            <a:schemeClr val="bg2"/>
          </a:solidFill>
          <a:ln w="12700">
            <a:solidFill>
              <a:schemeClr val="bg2"/>
            </a:solidFill>
            <a:prstDash val="solid"/>
          </a:ln>
        </p:spPr>
      </p:sp>
      <p:sp>
        <p:nvSpPr>
          <p:cNvPr id="4" name="JWT authentication circle"/>
          <p:cNvSpPr/>
          <p:nvPr/>
        </p:nvSpPr>
        <p:spPr>
          <a:xfrm>
            <a:off x="777240" y="1508760"/>
            <a:ext cx="640080" cy="640080"/>
          </a:xfrm>
          <a:prstGeom prst="ellipse">
            <a:avLst/>
          </a:prstGeom>
          <a:solidFill>
            <a:schemeClr val="accent1"/>
          </a:solidFill>
          <a:ln w="12700">
            <a:solidFill>
              <a:schemeClr val="accent1"/>
            </a:solidFill>
            <a:prstDash val="solid"/>
          </a:ln>
        </p:spPr>
      </p:sp>
      <p:pic>
        <p:nvPicPr>
          <p:cNvPr id="5" name="JWT authentication icon" descr="preencoded.png">    </p:cNvPr>
          <p:cNvPicPr>
            <a:picLocks noChangeAspect="1"/>
          </p:cNvPicPr>
          <p:nvPr/>
        </p:nvPicPr>
        <p:blipFill>
          <a:blip r:embed="rId1"/>
          <a:stretch>
            <a:fillRect/>
          </a:stretch>
        </p:blipFill>
        <p:spPr>
          <a:xfrm>
            <a:off x="937260" y="1668780"/>
            <a:ext cx="320040" cy="320040"/>
          </a:xfrm>
          <a:prstGeom prst="rect">
            <a:avLst/>
          </a:prstGeom>
        </p:spPr>
      </p:pic>
      <p:sp>
        <p:nvSpPr>
          <p:cNvPr id="6" name="JWT authentication title"/>
          <p:cNvSpPr txBox="1"/>
          <p:nvPr/>
        </p:nvSpPr>
        <p:spPr>
          <a:xfrm>
            <a:off x="1554480" y="1508760"/>
            <a:ext cx="2377440" cy="640080"/>
          </a:xfrm>
          <a:prstGeom prst="rect">
            <a:avLst/>
          </a:prstGeom>
          <a:noFill/>
          <a:ln/>
        </p:spPr>
        <p:txBody>
          <a:bodyPr wrap="square" rtlCol="0" anchor="ctr"/>
          <a:lstStyle/>
          <a:p>
            <a:pPr indent="0" marL="0">
              <a:buNone/>
            </a:pPr>
            <a:r>
              <a:rPr lang="en-US" sz="1600" b="1" dirty="0">
                <a:solidFill>
                  <a:schemeClr val="tx1"/>
                </a:solidFill>
              </a:rPr>
              <a:t>JWT authentication</a:t>
            </a:r>
            <a:endParaRPr lang="en-US" sz="1600" dirty="0"/>
          </a:p>
        </p:txBody>
      </p:sp>
      <p:sp>
        <p:nvSpPr>
          <p:cNvPr id="7" name="JWT authentication desc"/>
          <p:cNvSpPr txBox="1"/>
          <p:nvPr/>
        </p:nvSpPr>
        <p:spPr>
          <a:xfrm>
            <a:off x="777240" y="2240280"/>
            <a:ext cx="3063240" cy="960120"/>
          </a:xfrm>
          <a:prstGeom prst="rect">
            <a:avLst/>
          </a:prstGeom>
          <a:noFill/>
          <a:ln/>
        </p:spPr>
        <p:txBody>
          <a:bodyPr wrap="square" rtlCol="0" anchor="t"/>
          <a:lstStyle/>
          <a:p>
            <a:pPr indent="0" marL="0">
              <a:buNone/>
            </a:pPr>
            <a:r>
              <a:rPr lang="en-US" sz="1400" dirty="0">
                <a:solidFill>
                  <a:schemeClr val="tx2"/>
                </a:solidFill>
              </a:rPr>
              <a:t>RS256 tokens, 1-hour expiry; issuer, audience and required claims are checked</a:t>
            </a:r>
            <a:endParaRPr lang="en-US" sz="1400" dirty="0"/>
          </a:p>
        </p:txBody>
      </p:sp>
      <p:sp>
        <p:nvSpPr>
          <p:cNvPr id="8" name="Passwords card"/>
          <p:cNvSpPr/>
          <p:nvPr/>
        </p:nvSpPr>
        <p:spPr>
          <a:xfrm>
            <a:off x="4315968" y="1280160"/>
            <a:ext cx="3520440" cy="2011680"/>
          </a:xfrm>
          <a:prstGeom prst="roundRect">
            <a:avLst>
              <a:gd name="adj" fmla="val 5455"/>
            </a:avLst>
          </a:prstGeom>
          <a:solidFill>
            <a:schemeClr val="bg2"/>
          </a:solidFill>
          <a:ln w="12700">
            <a:solidFill>
              <a:schemeClr val="bg2"/>
            </a:solidFill>
            <a:prstDash val="solid"/>
          </a:ln>
        </p:spPr>
      </p:sp>
      <p:sp>
        <p:nvSpPr>
          <p:cNvPr id="9" name="Passwords circle"/>
          <p:cNvSpPr/>
          <p:nvPr/>
        </p:nvSpPr>
        <p:spPr>
          <a:xfrm>
            <a:off x="4544568" y="1508760"/>
            <a:ext cx="640080" cy="640080"/>
          </a:xfrm>
          <a:prstGeom prst="ellipse">
            <a:avLst/>
          </a:prstGeom>
          <a:solidFill>
            <a:schemeClr val="accent1"/>
          </a:solidFill>
          <a:ln w="12700">
            <a:solidFill>
              <a:schemeClr val="accent1"/>
            </a:solidFill>
            <a:prstDash val="solid"/>
          </a:ln>
        </p:spPr>
      </p:sp>
      <p:pic>
        <p:nvPicPr>
          <p:cNvPr id="10" name="Passwords icon" descr="preencoded.png">    </p:cNvPr>
          <p:cNvPicPr>
            <a:picLocks noChangeAspect="1"/>
          </p:cNvPicPr>
          <p:nvPr/>
        </p:nvPicPr>
        <p:blipFill>
          <a:blip r:embed="rId2"/>
          <a:stretch>
            <a:fillRect/>
          </a:stretch>
        </p:blipFill>
        <p:spPr>
          <a:xfrm>
            <a:off x="4704588" y="1668780"/>
            <a:ext cx="320040" cy="320040"/>
          </a:xfrm>
          <a:prstGeom prst="rect">
            <a:avLst/>
          </a:prstGeom>
        </p:spPr>
      </p:pic>
      <p:sp>
        <p:nvSpPr>
          <p:cNvPr id="11" name="Passwords title"/>
          <p:cNvSpPr txBox="1"/>
          <p:nvPr/>
        </p:nvSpPr>
        <p:spPr>
          <a:xfrm>
            <a:off x="5321808" y="1508760"/>
            <a:ext cx="2377440" cy="640080"/>
          </a:xfrm>
          <a:prstGeom prst="rect">
            <a:avLst/>
          </a:prstGeom>
          <a:noFill/>
          <a:ln/>
        </p:spPr>
        <p:txBody>
          <a:bodyPr wrap="square" rtlCol="0" anchor="ctr"/>
          <a:lstStyle/>
          <a:p>
            <a:pPr indent="0" marL="0">
              <a:buNone/>
            </a:pPr>
            <a:r>
              <a:rPr lang="en-US" sz="1600" b="1" dirty="0">
                <a:solidFill>
                  <a:schemeClr val="tx1"/>
                </a:solidFill>
              </a:rPr>
              <a:t>Passwords</a:t>
            </a:r>
            <a:endParaRPr lang="en-US" sz="1600" dirty="0"/>
          </a:p>
        </p:txBody>
      </p:sp>
      <p:sp>
        <p:nvSpPr>
          <p:cNvPr id="12" name="Passwords desc"/>
          <p:cNvSpPr txBox="1"/>
          <p:nvPr/>
        </p:nvSpPr>
        <p:spPr>
          <a:xfrm>
            <a:off x="4544568" y="2240280"/>
            <a:ext cx="3063240" cy="960120"/>
          </a:xfrm>
          <a:prstGeom prst="rect">
            <a:avLst/>
          </a:prstGeom>
          <a:noFill/>
          <a:ln/>
        </p:spPr>
        <p:txBody>
          <a:bodyPr wrap="square" rtlCol="0" anchor="t"/>
          <a:lstStyle/>
          <a:p>
            <a:pPr indent="0" marL="0">
              <a:buNone/>
            </a:pPr>
            <a:r>
              <a:rPr lang="en-US" sz="1400" dirty="0">
                <a:solidFill>
                  <a:schemeClr val="tx2"/>
                </a:solidFill>
              </a:rPr>
              <a:t>Stored as bcrypt hashes; login with HTTP Basic only to get the token</a:t>
            </a:r>
            <a:endParaRPr lang="en-US" sz="1400" dirty="0"/>
          </a:p>
        </p:txBody>
      </p:sp>
      <p:sp>
        <p:nvSpPr>
          <p:cNvPr id="13" name="Authorization card"/>
          <p:cNvSpPr/>
          <p:nvPr/>
        </p:nvSpPr>
        <p:spPr>
          <a:xfrm>
            <a:off x="8083296" y="1280160"/>
            <a:ext cx="3520440" cy="2011680"/>
          </a:xfrm>
          <a:prstGeom prst="roundRect">
            <a:avLst>
              <a:gd name="adj" fmla="val 5455"/>
            </a:avLst>
          </a:prstGeom>
          <a:solidFill>
            <a:schemeClr val="bg2"/>
          </a:solidFill>
          <a:ln w="12700">
            <a:solidFill>
              <a:schemeClr val="bg2"/>
            </a:solidFill>
            <a:prstDash val="solid"/>
          </a:ln>
        </p:spPr>
      </p:sp>
      <p:sp>
        <p:nvSpPr>
          <p:cNvPr id="14" name="Authorization circle"/>
          <p:cNvSpPr/>
          <p:nvPr/>
        </p:nvSpPr>
        <p:spPr>
          <a:xfrm>
            <a:off x="8311896" y="1508760"/>
            <a:ext cx="640080" cy="640080"/>
          </a:xfrm>
          <a:prstGeom prst="ellipse">
            <a:avLst/>
          </a:prstGeom>
          <a:solidFill>
            <a:schemeClr val="accent1"/>
          </a:solidFill>
          <a:ln w="12700">
            <a:solidFill>
              <a:schemeClr val="accent1"/>
            </a:solidFill>
            <a:prstDash val="solid"/>
          </a:ln>
        </p:spPr>
      </p:sp>
      <p:pic>
        <p:nvPicPr>
          <p:cNvPr id="15" name="Authorization icon" descr="preencoded.png">    </p:cNvPr>
          <p:cNvPicPr>
            <a:picLocks noChangeAspect="1"/>
          </p:cNvPicPr>
          <p:nvPr/>
        </p:nvPicPr>
        <p:blipFill>
          <a:blip r:embed="rId3"/>
          <a:stretch>
            <a:fillRect/>
          </a:stretch>
        </p:blipFill>
        <p:spPr>
          <a:xfrm>
            <a:off x="8471916" y="1668780"/>
            <a:ext cx="320040" cy="320040"/>
          </a:xfrm>
          <a:prstGeom prst="rect">
            <a:avLst/>
          </a:prstGeom>
        </p:spPr>
      </p:pic>
      <p:sp>
        <p:nvSpPr>
          <p:cNvPr id="16" name="Authorization title"/>
          <p:cNvSpPr txBox="1"/>
          <p:nvPr/>
        </p:nvSpPr>
        <p:spPr>
          <a:xfrm>
            <a:off x="9089136" y="1508760"/>
            <a:ext cx="2377440" cy="640080"/>
          </a:xfrm>
          <a:prstGeom prst="rect">
            <a:avLst/>
          </a:prstGeom>
          <a:noFill/>
          <a:ln/>
        </p:spPr>
        <p:txBody>
          <a:bodyPr wrap="square" rtlCol="0" anchor="ctr"/>
          <a:lstStyle/>
          <a:p>
            <a:pPr indent="0" marL="0">
              <a:buNone/>
            </a:pPr>
            <a:r>
              <a:rPr lang="en-US" sz="1600" b="1" dirty="0">
                <a:solidFill>
                  <a:schemeClr val="tx1"/>
                </a:solidFill>
              </a:rPr>
              <a:t>Authorization</a:t>
            </a:r>
            <a:endParaRPr lang="en-US" sz="1600" dirty="0"/>
          </a:p>
        </p:txBody>
      </p:sp>
      <p:sp>
        <p:nvSpPr>
          <p:cNvPr id="17" name="Authorization desc"/>
          <p:cNvSpPr txBox="1"/>
          <p:nvPr/>
        </p:nvSpPr>
        <p:spPr>
          <a:xfrm>
            <a:off x="8311896" y="2240280"/>
            <a:ext cx="3063240" cy="960120"/>
          </a:xfrm>
          <a:prstGeom prst="rect">
            <a:avLst/>
          </a:prstGeom>
          <a:noFill/>
          <a:ln/>
        </p:spPr>
        <p:txBody>
          <a:bodyPr wrap="square" rtlCol="0" anchor="t"/>
          <a:lstStyle/>
          <a:p>
            <a:pPr indent="0" marL="0">
              <a:buNone/>
            </a:pPr>
            <a:r>
              <a:rPr lang="en-US" sz="1400" dirty="0">
                <a:solidFill>
                  <a:schemeClr val="tx2"/>
                </a:solidFill>
              </a:rPr>
              <a:t>Roles admin and user; a user can only order and pay for their own client_id (403)</a:t>
            </a:r>
            <a:endParaRPr lang="en-US" sz="1400" dirty="0"/>
          </a:p>
        </p:txBody>
      </p:sp>
      <p:sp>
        <p:nvSpPr>
          <p:cNvPr id="18" name="Key management card"/>
          <p:cNvSpPr/>
          <p:nvPr/>
        </p:nvSpPr>
        <p:spPr>
          <a:xfrm>
            <a:off x="548640" y="3474720"/>
            <a:ext cx="3520440" cy="2011680"/>
          </a:xfrm>
          <a:prstGeom prst="roundRect">
            <a:avLst>
              <a:gd name="adj" fmla="val 5455"/>
            </a:avLst>
          </a:prstGeom>
          <a:solidFill>
            <a:schemeClr val="bg2"/>
          </a:solidFill>
          <a:ln w="12700">
            <a:solidFill>
              <a:schemeClr val="bg2"/>
            </a:solidFill>
            <a:prstDash val="solid"/>
          </a:ln>
        </p:spPr>
      </p:sp>
      <p:sp>
        <p:nvSpPr>
          <p:cNvPr id="19" name="Key management circle"/>
          <p:cNvSpPr/>
          <p:nvPr/>
        </p:nvSpPr>
        <p:spPr>
          <a:xfrm>
            <a:off x="777240" y="3703320"/>
            <a:ext cx="640080" cy="640080"/>
          </a:xfrm>
          <a:prstGeom prst="ellipse">
            <a:avLst/>
          </a:prstGeom>
          <a:solidFill>
            <a:schemeClr val="accent1"/>
          </a:solidFill>
          <a:ln w="12700">
            <a:solidFill>
              <a:schemeClr val="accent1"/>
            </a:solidFill>
            <a:prstDash val="solid"/>
          </a:ln>
        </p:spPr>
      </p:sp>
      <p:pic>
        <p:nvPicPr>
          <p:cNvPr id="20" name="Key management icon" descr="preencoded.png">    </p:cNvPr>
          <p:cNvPicPr>
            <a:picLocks noChangeAspect="1"/>
          </p:cNvPicPr>
          <p:nvPr/>
        </p:nvPicPr>
        <p:blipFill>
          <a:blip r:embed="rId4"/>
          <a:stretch>
            <a:fillRect/>
          </a:stretch>
        </p:blipFill>
        <p:spPr>
          <a:xfrm>
            <a:off x="937260" y="3863340"/>
            <a:ext cx="320040" cy="320040"/>
          </a:xfrm>
          <a:prstGeom prst="rect">
            <a:avLst/>
          </a:prstGeom>
        </p:spPr>
      </p:pic>
      <p:sp>
        <p:nvSpPr>
          <p:cNvPr id="21" name="Key management title"/>
          <p:cNvSpPr txBox="1"/>
          <p:nvPr/>
        </p:nvSpPr>
        <p:spPr>
          <a:xfrm>
            <a:off x="1554480" y="3703320"/>
            <a:ext cx="2377440" cy="640080"/>
          </a:xfrm>
          <a:prstGeom prst="rect">
            <a:avLst/>
          </a:prstGeom>
          <a:noFill/>
          <a:ln/>
        </p:spPr>
        <p:txBody>
          <a:bodyPr wrap="square" rtlCol="0" anchor="ctr"/>
          <a:lstStyle/>
          <a:p>
            <a:pPr indent="0" marL="0">
              <a:buNone/>
            </a:pPr>
            <a:r>
              <a:rPr lang="en-US" sz="1600" b="1" dirty="0">
                <a:solidFill>
                  <a:schemeClr val="tx1"/>
                </a:solidFill>
              </a:rPr>
              <a:t>Key management</a:t>
            </a:r>
            <a:endParaRPr lang="en-US" sz="1600" dirty="0"/>
          </a:p>
        </p:txBody>
      </p:sp>
      <p:sp>
        <p:nvSpPr>
          <p:cNvPr id="22" name="Key management desc"/>
          <p:cNvSpPr txBox="1"/>
          <p:nvPr/>
        </p:nvSpPr>
        <p:spPr>
          <a:xfrm>
            <a:off x="777240" y="4434840"/>
            <a:ext cx="3063240" cy="960120"/>
          </a:xfrm>
          <a:prstGeom prst="rect">
            <a:avLst/>
          </a:prstGeom>
          <a:noFill/>
          <a:ln/>
        </p:spPr>
        <p:txBody>
          <a:bodyPr wrap="square" rtlCol="0" anchor="t"/>
          <a:lstStyle/>
          <a:p>
            <a:pPr indent="0" marL="0">
              <a:buNone/>
            </a:pPr>
            <a:r>
              <a:rPr lang="en-US" sz="1400" dirty="0">
                <a:solidFill>
                  <a:schemeClr val="tx2"/>
                </a:solidFill>
              </a:rPr>
              <a:t>Private key never leaves Clients; rotation via client.cert.updated and refetch on unknown signature</a:t>
            </a:r>
            <a:endParaRPr lang="en-US" sz="1400" dirty="0"/>
          </a:p>
        </p:txBody>
      </p:sp>
      <p:sp>
        <p:nvSpPr>
          <p:cNvPr id="23" name="Edge and transport card"/>
          <p:cNvSpPr/>
          <p:nvPr/>
        </p:nvSpPr>
        <p:spPr>
          <a:xfrm>
            <a:off x="4315968" y="3474720"/>
            <a:ext cx="3520440" cy="2011680"/>
          </a:xfrm>
          <a:prstGeom prst="roundRect">
            <a:avLst>
              <a:gd name="adj" fmla="val 5455"/>
            </a:avLst>
          </a:prstGeom>
          <a:solidFill>
            <a:schemeClr val="bg2"/>
          </a:solidFill>
          <a:ln w="12700">
            <a:solidFill>
              <a:schemeClr val="bg2"/>
            </a:solidFill>
            <a:prstDash val="solid"/>
          </a:ln>
        </p:spPr>
      </p:sp>
      <p:sp>
        <p:nvSpPr>
          <p:cNvPr id="24" name="Edge and transport circle"/>
          <p:cNvSpPr/>
          <p:nvPr/>
        </p:nvSpPr>
        <p:spPr>
          <a:xfrm>
            <a:off x="4544568" y="3703320"/>
            <a:ext cx="640080" cy="640080"/>
          </a:xfrm>
          <a:prstGeom prst="ellipse">
            <a:avLst/>
          </a:prstGeom>
          <a:solidFill>
            <a:schemeClr val="accent5"/>
          </a:solidFill>
          <a:ln w="12700">
            <a:solidFill>
              <a:schemeClr val="accent5"/>
            </a:solidFill>
            <a:prstDash val="solid"/>
          </a:ln>
        </p:spPr>
      </p:sp>
      <p:pic>
        <p:nvPicPr>
          <p:cNvPr id="25" name="Edge and transport icon" descr="preencoded.png">    </p:cNvPr>
          <p:cNvPicPr>
            <a:picLocks noChangeAspect="1"/>
          </p:cNvPicPr>
          <p:nvPr/>
        </p:nvPicPr>
        <p:blipFill>
          <a:blip r:embed="rId5"/>
          <a:stretch>
            <a:fillRect/>
          </a:stretch>
        </p:blipFill>
        <p:spPr>
          <a:xfrm>
            <a:off x="4704588" y="3863340"/>
            <a:ext cx="320040" cy="320040"/>
          </a:xfrm>
          <a:prstGeom prst="rect">
            <a:avLst/>
          </a:prstGeom>
        </p:spPr>
      </p:pic>
      <p:sp>
        <p:nvSpPr>
          <p:cNvPr id="26" name="Edge and transport title"/>
          <p:cNvSpPr txBox="1"/>
          <p:nvPr/>
        </p:nvSpPr>
        <p:spPr>
          <a:xfrm>
            <a:off x="5321808" y="3703320"/>
            <a:ext cx="2377440" cy="640080"/>
          </a:xfrm>
          <a:prstGeom prst="rect">
            <a:avLst/>
          </a:prstGeom>
          <a:noFill/>
          <a:ln/>
        </p:spPr>
        <p:txBody>
          <a:bodyPr wrap="square" rtlCol="0" anchor="ctr"/>
          <a:lstStyle/>
          <a:p>
            <a:pPr indent="0" marL="0">
              <a:buNone/>
            </a:pPr>
            <a:r>
              <a:rPr lang="en-US" sz="1600" b="1" dirty="0">
                <a:solidFill>
                  <a:schemeClr val="tx1"/>
                </a:solidFill>
              </a:rPr>
              <a:t>Edge and transport</a:t>
            </a:r>
            <a:endParaRPr lang="en-US" sz="1600" dirty="0"/>
          </a:p>
        </p:txBody>
      </p:sp>
      <p:sp>
        <p:nvSpPr>
          <p:cNvPr id="27" name="Edge and transport desc"/>
          <p:cNvSpPr txBox="1"/>
          <p:nvPr/>
        </p:nvSpPr>
        <p:spPr>
          <a:xfrm>
            <a:off x="4544568" y="4434840"/>
            <a:ext cx="3063240" cy="960120"/>
          </a:xfrm>
          <a:prstGeom prst="rect">
            <a:avLst/>
          </a:prstGeom>
          <a:noFill/>
          <a:ln/>
        </p:spPr>
        <p:txBody>
          <a:bodyPr wrap="square" rtlCol="0" anchor="t"/>
          <a:lstStyle/>
          <a:p>
            <a:pPr indent="0" marL="0">
              <a:buNone/>
            </a:pPr>
            <a:r>
              <a:rPr lang="en-US" sz="1400" dirty="0">
                <a:solidFill>
                  <a:schemeClr val="tx2"/>
                </a:solidFill>
              </a:rPr>
              <a:t>HTTPS on :8443 at HAProxy; only whitelisted /api routes, the rest 404; stats behind a password</a:t>
            </a:r>
            <a:endParaRPr lang="en-US" sz="1400" dirty="0"/>
          </a:p>
        </p:txBody>
      </p:sp>
      <p:sp>
        <p:nvSpPr>
          <p:cNvPr id="28" name="Infrastructure and messages card"/>
          <p:cNvSpPr/>
          <p:nvPr/>
        </p:nvSpPr>
        <p:spPr>
          <a:xfrm>
            <a:off x="8083296" y="3474720"/>
            <a:ext cx="3520440" cy="2011680"/>
          </a:xfrm>
          <a:prstGeom prst="roundRect">
            <a:avLst>
              <a:gd name="adj" fmla="val 5455"/>
            </a:avLst>
          </a:prstGeom>
          <a:solidFill>
            <a:schemeClr val="bg2"/>
          </a:solidFill>
          <a:ln w="12700">
            <a:solidFill>
              <a:schemeClr val="bg2"/>
            </a:solidFill>
            <a:prstDash val="solid"/>
          </a:ln>
        </p:spPr>
      </p:sp>
      <p:sp>
        <p:nvSpPr>
          <p:cNvPr id="29" name="Infrastructure and messages circle"/>
          <p:cNvSpPr/>
          <p:nvPr/>
        </p:nvSpPr>
        <p:spPr>
          <a:xfrm>
            <a:off x="8311896" y="3703320"/>
            <a:ext cx="640080" cy="640080"/>
          </a:xfrm>
          <a:prstGeom prst="ellipse">
            <a:avLst/>
          </a:prstGeom>
          <a:solidFill>
            <a:schemeClr val="accent5"/>
          </a:solidFill>
          <a:ln w="12700">
            <a:solidFill>
              <a:schemeClr val="accent5"/>
            </a:solidFill>
            <a:prstDash val="solid"/>
          </a:ln>
        </p:spPr>
      </p:sp>
      <p:pic>
        <p:nvPicPr>
          <p:cNvPr id="30" name="Infrastructure and messages icon" descr="preencoded.png">    </p:cNvPr>
          <p:cNvPicPr>
            <a:picLocks noChangeAspect="1"/>
          </p:cNvPicPr>
          <p:nvPr/>
        </p:nvPicPr>
        <p:blipFill>
          <a:blip r:embed="rId6"/>
          <a:stretch>
            <a:fillRect/>
          </a:stretch>
        </p:blipFill>
        <p:spPr>
          <a:xfrm>
            <a:off x="8471916" y="3863340"/>
            <a:ext cx="320040" cy="320040"/>
          </a:xfrm>
          <a:prstGeom prst="rect">
            <a:avLst/>
          </a:prstGeom>
        </p:spPr>
      </p:pic>
      <p:sp>
        <p:nvSpPr>
          <p:cNvPr id="31" name="Infrastructure and messages title"/>
          <p:cNvSpPr txBox="1"/>
          <p:nvPr/>
        </p:nvSpPr>
        <p:spPr>
          <a:xfrm>
            <a:off x="9089136" y="3703320"/>
            <a:ext cx="2377440" cy="640080"/>
          </a:xfrm>
          <a:prstGeom prst="rect">
            <a:avLst/>
          </a:prstGeom>
          <a:noFill/>
          <a:ln/>
        </p:spPr>
        <p:txBody>
          <a:bodyPr wrap="square" rtlCol="0" anchor="ctr"/>
          <a:lstStyle/>
          <a:p>
            <a:pPr indent="0" marL="0">
              <a:buNone/>
            </a:pPr>
            <a:r>
              <a:rPr lang="en-US" sz="1600" b="1" dirty="0">
                <a:solidFill>
                  <a:schemeClr val="tx1"/>
                </a:solidFill>
              </a:rPr>
              <a:t>Infrastructure and messages</a:t>
            </a:r>
            <a:endParaRPr lang="en-US" sz="1600" dirty="0"/>
          </a:p>
        </p:txBody>
      </p:sp>
      <p:sp>
        <p:nvSpPr>
          <p:cNvPr id="32" name="Infrastructure and messages desc"/>
          <p:cNvSpPr txBox="1"/>
          <p:nvPr/>
        </p:nvSpPr>
        <p:spPr>
          <a:xfrm>
            <a:off x="8311896" y="4434840"/>
            <a:ext cx="3063240" cy="960120"/>
          </a:xfrm>
          <a:prstGeom prst="rect">
            <a:avLst/>
          </a:prstGeom>
          <a:noFill/>
          <a:ln/>
        </p:spPr>
        <p:txBody>
          <a:bodyPr wrap="square" rtlCol="0" anchor="t"/>
          <a:lstStyle/>
          <a:p>
            <a:pPr indent="0" marL="0">
              <a:buNone/>
            </a:pPr>
            <a:r>
              <a:rPr lang="en-US" sz="1400" dirty="0">
                <a:solidFill>
                  <a:schemeClr val="tx2"/>
                </a:solidFill>
              </a:rPr>
              <a:t>RabbitMQ bound to 127.0.0.1; non-root containers; invalid messages rejected</a:t>
            </a:r>
            <a:endParaRPr lang="en-US" sz="1400" dirty="0"/>
          </a:p>
        </p:txBody>
      </p:sp>
      <p:sp>
        <p:nvSpPr>
          <p:cNvPr id="33" name="Security caveat"/>
          <p:cNvSpPr txBox="1"/>
          <p:nvPr/>
        </p:nvSpPr>
        <p:spPr>
          <a:xfrm>
            <a:off x="548640" y="5715000"/>
            <a:ext cx="11064240" cy="365760"/>
          </a:xfrm>
          <a:prstGeom prst="rect">
            <a:avLst/>
          </a:prstGeom>
          <a:noFill/>
          <a:ln/>
        </p:spPr>
        <p:txBody>
          <a:bodyPr wrap="square" rtlCol="0" anchor="ctr"/>
          <a:lstStyle/>
          <a:p>
            <a:pPr indent="0" marL="0">
              <a:buNone/>
            </a:pPr>
            <a:r>
              <a:rPr lang="en-US" sz="1200" i="1" dirty="0">
                <a:solidFill>
                  <a:schemeClr val="tx2"/>
                </a:solidFill>
              </a:rPr>
              <a:t>Development level: direct service ports stay open, the TLS key is in the repo and most read routes are public</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Functionalities moved to the microservice chassis</a:t>
            </a:r>
            <a:endParaRPr lang="en-US" sz="3000" dirty="0"/>
          </a:p>
        </p:txBody>
      </p:sp>
      <p:sp>
        <p:nvSpPr>
          <p:cNvPr id="3" name="Chassis summary card"/>
          <p:cNvSpPr/>
          <p:nvPr/>
        </p:nvSpPr>
        <p:spPr>
          <a:xfrm>
            <a:off x="548640" y="1280160"/>
            <a:ext cx="3749040" cy="4663440"/>
          </a:xfrm>
          <a:prstGeom prst="roundRect">
            <a:avLst>
              <a:gd name="adj" fmla="val 2927"/>
            </a:avLst>
          </a:prstGeom>
          <a:solidFill>
            <a:schemeClr val="accent5"/>
          </a:solidFill>
          <a:ln w="12700">
            <a:solidFill>
              <a:schemeClr val="accent5"/>
            </a:solidFill>
            <a:prstDash val="solid"/>
          </a:ln>
        </p:spPr>
      </p:sp>
      <p:sp>
        <p:nvSpPr>
          <p:cNvPr id="4" name="Chassis circle"/>
          <p:cNvSpPr/>
          <p:nvPr/>
        </p:nvSpPr>
        <p:spPr>
          <a:xfrm>
            <a:off x="868680" y="1554480"/>
            <a:ext cx="822960" cy="822960"/>
          </a:xfrm>
          <a:prstGeom prst="ellipse">
            <a:avLst/>
          </a:prstGeom>
          <a:solidFill>
            <a:schemeClr val="accent1"/>
          </a:solidFill>
          <a:ln w="12700">
            <a:solidFill>
              <a:schemeClr val="accent1"/>
            </a:solidFill>
            <a:prstDash val="solid"/>
          </a:ln>
        </p:spPr>
      </p:sp>
      <p:pic>
        <p:nvPicPr>
          <p:cNvPr id="5" name="Chassis icon" descr="preencoded.png">    </p:cNvPr>
          <p:cNvPicPr>
            <a:picLocks noChangeAspect="1"/>
          </p:cNvPicPr>
          <p:nvPr/>
        </p:nvPicPr>
        <p:blipFill>
          <a:blip r:embed="rId1"/>
          <a:stretch>
            <a:fillRect/>
          </a:stretch>
        </p:blipFill>
        <p:spPr>
          <a:xfrm>
            <a:off x="1074420" y="1760220"/>
            <a:ext cx="411480" cy="411480"/>
          </a:xfrm>
          <a:prstGeom prst="rect">
            <a:avLst/>
          </a:prstGeom>
        </p:spPr>
      </p:pic>
      <p:sp>
        <p:nvSpPr>
          <p:cNvPr id="6" name="Chassis stat"/>
          <p:cNvSpPr txBox="1"/>
          <p:nvPr/>
        </p:nvSpPr>
        <p:spPr>
          <a:xfrm>
            <a:off x="868680" y="2468880"/>
            <a:ext cx="3200400" cy="1463040"/>
          </a:xfrm>
          <a:prstGeom prst="rect">
            <a:avLst/>
          </a:prstGeom>
          <a:noFill/>
          <a:ln/>
        </p:spPr>
        <p:txBody>
          <a:bodyPr wrap="square" rtlCol="0" anchor="t"/>
          <a:lstStyle/>
          <a:p>
            <a:pPr indent="0" marL="0">
              <a:buNone/>
            </a:pPr>
            <a:r>
              <a:rPr lang="en-US" sz="5400" b="1" dirty="0">
                <a:solidFill>
                  <a:schemeClr val="bg1"/>
                </a:solidFill>
              </a:rPr>
              <a:t>4 of 5</a:t>
            </a:r>
            <a:endParaRPr lang="en-US" sz="5400" dirty="0"/>
          </a:p>
          <a:p>
            <a:pPr indent="0" marL="0">
              <a:buNone/>
            </a:pPr>
            <a:r>
              <a:rPr lang="en-US" sz="1500" dirty="0">
                <a:solidFill>
                  <a:schemeClr val="bg1"/>
                </a:solidFill>
              </a:rPr>
              <a:t>services use microservice_chassis 0.4.0</a:t>
            </a:r>
            <a:endParaRPr lang="en-US" sz="5400" dirty="0"/>
          </a:p>
        </p:txBody>
      </p:sp>
      <p:sp>
        <p:nvSpPr>
          <p:cNvPr id="7" name="Chassis install"/>
          <p:cNvSpPr txBox="1"/>
          <p:nvPr/>
        </p:nvSpPr>
        <p:spPr>
          <a:xfrm>
            <a:off x="868680" y="4069080"/>
            <a:ext cx="3200400" cy="1645920"/>
          </a:xfrm>
          <a:prstGeom prst="rect">
            <a:avLst/>
          </a:prstGeom>
          <a:noFill/>
          <a:ln/>
        </p:spPr>
        <p:txBody>
          <a:bodyPr wrap="square" rtlCol="0" anchor="t"/>
          <a:lstStyle/>
          <a:p>
            <a:pPr indent="0" marL="0">
              <a:spcAft>
                <a:spcPts val="600"/>
              </a:spcAft>
              <a:buNone/>
            </a:pPr>
            <a:r>
              <a:rPr lang="en-US" sz="1300" dirty="0">
                <a:solidFill>
                  <a:schemeClr val="bg2"/>
                </a:solidFill>
              </a:rPr>
              <a:t>Separate repository: chasis_homework</a:t>
            </a:r>
            <a:endParaRPr lang="en-US" sz="1300" dirty="0"/>
          </a:p>
          <a:p>
            <a:pPr indent="0" marL="0">
              <a:spcAft>
                <a:spcPts val="600"/>
              </a:spcAft>
              <a:buNone/>
            </a:pPr>
            <a:r>
              <a:rPr lang="en-US" sz="1300" dirty="0">
                <a:solidFill>
                  <a:schemeClr val="bg2"/>
                </a:solidFill>
              </a:rPr>
              <a:t>pip install from GitHub; publishers add the [messaging] extra</a:t>
            </a:r>
            <a:endParaRPr lang="en-US" sz="1300" dirty="0"/>
          </a:p>
          <a:p>
            <a:pPr indent="0" marL="0">
              <a:spcAft>
                <a:spcPts val="600"/>
              </a:spcAft>
              <a:buNone/>
            </a:pPr>
            <a:r>
              <a:rPr lang="en-US" sz="1300" dirty="0">
                <a:solidFill>
                  <a:schemeClr val="bg2"/>
                </a:solidFill>
              </a:rPr>
              <a:t>Imported as my_chassis</a:t>
            </a:r>
            <a:endParaRPr lang="en-US" sz="1300" dirty="0"/>
          </a:p>
        </p:txBody>
      </p:sp>
      <p:graphicFrame>
        <p:nvGraphicFramePr>
          <p:cNvPr id="8" name="Chassis table"/>
          <p:cNvGraphicFramePr>
            <a:graphicFrameLocks noGrp="1"/>
          </p:cNvGraphicFramePr>
          <p:nvPr>
            <p:extLst>
              <p:ext uri="{D42A27DB-BD31-4B8C-83A1-F6EECF244321}">
                <p14:modId xmlns:p14="http://schemas.microsoft.com/office/powerpoint/2010/main" val="1579011935"/>
              </p:ext>
            </p:extLst>
          </p:nvPr>
        </p:nvGraphicFramePr>
        <p:xfrm>
          <a:off x="4572000" y="1280160"/>
          <a:ext cx="7040880" cy="914400"/>
        </p:xfrm>
        <a:graphic>
          <a:graphicData uri="http://schemas.openxmlformats.org/drawingml/2006/table">
            <a:tbl>
              <a:tblPr/>
              <a:tblGrid>
                <a:gridCol w="2514600"/>
                <a:gridCol w="2606040"/>
                <a:gridCol w="1920240"/>
              </a:tblGrid>
              <a:tr h="658368">
                <a:tc>
                  <a:txBody>
                    <a:bodyPr/>
                    <a:lstStyle/>
                    <a:p>
                      <a:pPr indent="0" marL="0">
                        <a:buNone/>
                      </a:pPr>
                      <a:r>
                        <a:rPr lang="en-US" sz="1300" b="1" dirty="0">
                          <a:solidFill>
                            <a:schemeClr val="bg1"/>
                          </a:solidFill>
                        </a:rPr>
                        <a:t>Functionality</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it replaces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Used by</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tx1"/>
                    </a:solidFill>
                  </a:tcPr>
                </a:tc>
              </a:tr>
              <a:tr h="658368">
                <a:tc>
                  <a:txBody>
                    <a:bodyPr/>
                    <a:lstStyle/>
                    <a:p>
                      <a:pPr indent="0" marL="0">
                        <a:buNone/>
                      </a:pPr>
                      <a:r>
                        <a:rPr lang="en-US" sz="1300" dirty="0">
                          <a:solidFill>
                            <a:schemeClr val="tx1"/>
                          </a:solidFill>
                        </a:rPr>
                        <a:t>Logging setup</a:t>
                      </a:r>
                      <a:endParaRPr lang="en-US" sz="1300" dirty="0"/>
                    </a:p>
                    <a:p>
                      <a:pPr indent="0" marL="0">
                        <a:buNone/>
                      </a:pPr>
                      <a:r>
                        <a:rPr lang="en-US" sz="1300" dirty="0">
                          <a:solidFill>
                            <a:schemeClr val="tx1"/>
                          </a:solidFill>
                        </a:rPr>
                        <a:t>configure_logging</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Duplicated logging.ini files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 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Health endpoint</a:t>
                      </a:r>
                      <a:endParaRPr lang="en-US" sz="1300" dirty="0"/>
                    </a:p>
                    <a:p>
                      <a:pPr indent="0" marL="0">
                        <a:buNone/>
                      </a:pPr>
                      <a:r>
                        <a:rPr lang="en-US" sz="1300" dirty="0">
                          <a:solidFill>
                            <a:schemeClr val="tx1"/>
                          </a:solidFill>
                        </a:rPr>
                        <a:t>create_health_router</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 hoc checks per service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 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DB session per request</a:t>
                      </a:r>
                      <a:endParaRPr lang="en-US" sz="1300" dirty="0"/>
                    </a:p>
                    <a:p>
                      <a:pPr indent="0" marL="0">
                        <a:buNone/>
                      </a:pPr>
                      <a:r>
                        <a:rPr lang="en-US" sz="1300" dirty="0">
                          <a:solidFill>
                            <a:schemeClr val="tx1"/>
                          </a:solidFill>
                        </a:rPr>
                        <a:t>create_db_dependency</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get_db copy in each service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Clients, deliveries, orders, payments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Confirmed event publishing</a:t>
                      </a:r>
                      <a:endParaRPr lang="en-US" sz="1300" dirty="0"/>
                    </a:p>
                    <a:p>
                      <a:pPr indent="0" marL="0">
                        <a:buNone/>
                      </a:pPr>
                      <a:r>
                        <a:rPr lang="en-US" sz="1300" dirty="0">
                          <a:solidFill>
                            <a:schemeClr val="tx1"/>
                          </a:solidFill>
                        </a:rPr>
                        <a:t>publish_json_event</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Connect, declare, bind and publish code in each publisher</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Orders, payments, deliveries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r h="658368">
                <a:tc>
                  <a:txBody>
                    <a:bodyPr/>
                    <a:lstStyle/>
                    <a:p>
                      <a:pPr indent="0" marL="0">
                        <a:buNone/>
                      </a:pPr>
                      <a:r>
                        <a:rPr lang="en-US" sz="1300" dirty="0">
                          <a:solidFill>
                            <a:schemeClr val="tx1"/>
                          </a:solidFill>
                        </a:rPr>
                        <a:t>AMQP message builder</a:t>
                      </a:r>
                      <a:endParaRPr lang="en-US" sz="1300" dirty="0"/>
                    </a:p>
                    <a:p>
                      <a:pPr indent="0" marL="0">
                        <a:buNone/>
                      </a:pPr>
                      <a:r>
                        <a:rPr lang="en-US" sz="1300" dirty="0">
                          <a:solidFill>
                            <a:schemeClr val="tx1"/>
                          </a:solidFill>
                        </a:rPr>
                        <a:t>create_json_message</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Hand-built persistent messages</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order.created publisher</a:t>
                      </a:r>
                      <a:endParaRPr lang="en-US" sz="1300" dirty="0"/>
                    </a:p>
                  </a:txBody>
                  <a:tcPr marL="91440" marR="91440" marT="45720" marB="45720"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chemeClr val="bg1"/>
                    </a:solidFill>
                  </a:tcPr>
                </a:tc>
              </a:tr>
            </a:tbl>
          </a:graphicData>
        </a:graphic>
      </p:graphicFrame>
      <p:sp>
        <p:nvSpPr>
          <p:cNvPr id="9" name="Chassis scope"/>
          <p:cNvSpPr txBox="1"/>
          <p:nvPr/>
        </p:nvSpPr>
        <p:spPr>
          <a:xfrm>
            <a:off x="4572000" y="5349240"/>
            <a:ext cx="7040880" cy="640080"/>
          </a:xfrm>
          <a:prstGeom prst="rect">
            <a:avLst/>
          </a:prstGeom>
          <a:noFill/>
          <a:ln/>
        </p:spPr>
        <p:txBody>
          <a:bodyPr wrap="square" rtlCol="0" anchor="t"/>
          <a:lstStyle/>
          <a:p>
            <a:pPr indent="0" marL="0">
              <a:buNone/>
            </a:pPr>
            <a:r>
              <a:rPr lang="en-US" sz="1300" i="1" dirty="0">
                <a:solidFill>
                  <a:schemeClr val="tx2"/>
                </a:solidFill>
              </a:rPr>
              <a:t>Kept out on purpose: models, business rules, commits and retries. If publishing fails it raises, and the service keeps the event pending.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000" b="1" dirty="0">
                <a:solidFill>
                  <a:schemeClr val="tx1"/>
                </a:solidFill>
              </a:rPr>
              <a:t>Conclusions</a:t>
            </a:r>
            <a:endParaRPr lang="en-US" sz="3000" dirty="0"/>
          </a:p>
        </p:txBody>
      </p:sp>
      <p:sp>
        <p:nvSpPr>
          <p:cNvPr id="3" name="Decoupled services card"/>
          <p:cNvSpPr/>
          <p:nvPr/>
        </p:nvSpPr>
        <p:spPr>
          <a:xfrm>
            <a:off x="548640" y="1280160"/>
            <a:ext cx="5440680" cy="2103120"/>
          </a:xfrm>
          <a:prstGeom prst="roundRect">
            <a:avLst>
              <a:gd name="adj" fmla="val 5217"/>
            </a:avLst>
          </a:prstGeom>
          <a:solidFill>
            <a:schemeClr val="bg2"/>
          </a:solidFill>
          <a:ln w="12700">
            <a:solidFill>
              <a:schemeClr val="bg2"/>
            </a:solidFill>
            <a:prstDash val="solid"/>
          </a:ln>
        </p:spPr>
      </p:sp>
      <p:sp>
        <p:nvSpPr>
          <p:cNvPr id="4" name="Decoupled services circle"/>
          <p:cNvSpPr/>
          <p:nvPr/>
        </p:nvSpPr>
        <p:spPr>
          <a:xfrm>
            <a:off x="822960" y="1600200"/>
            <a:ext cx="777240" cy="777240"/>
          </a:xfrm>
          <a:prstGeom prst="ellipse">
            <a:avLst/>
          </a:prstGeom>
          <a:solidFill>
            <a:schemeClr val="accent1"/>
          </a:solidFill>
          <a:ln w="12700">
            <a:solidFill>
              <a:schemeClr val="accent1"/>
            </a:solidFill>
            <a:prstDash val="solid"/>
          </a:ln>
        </p:spPr>
      </p:sp>
      <p:pic>
        <p:nvPicPr>
          <p:cNvPr id="5" name="Decoupled services icon" descr="preencoded.png">    </p:cNvPr>
          <p:cNvPicPr>
            <a:picLocks noChangeAspect="1"/>
          </p:cNvPicPr>
          <p:nvPr/>
        </p:nvPicPr>
        <p:blipFill>
          <a:blip r:embed="rId1"/>
          <a:stretch>
            <a:fillRect/>
          </a:stretch>
        </p:blipFill>
        <p:spPr>
          <a:xfrm>
            <a:off x="1017270" y="1794510"/>
            <a:ext cx="388620" cy="388620"/>
          </a:xfrm>
          <a:prstGeom prst="rect">
            <a:avLst/>
          </a:prstGeom>
        </p:spPr>
      </p:pic>
      <p:sp>
        <p:nvSpPr>
          <p:cNvPr id="6" name="Decoupled services title"/>
          <p:cNvSpPr txBox="1"/>
          <p:nvPr/>
        </p:nvSpPr>
        <p:spPr>
          <a:xfrm>
            <a:off x="1828800" y="1554480"/>
            <a:ext cx="3977640" cy="548640"/>
          </a:xfrm>
          <a:prstGeom prst="rect">
            <a:avLst/>
          </a:prstGeom>
          <a:noFill/>
          <a:ln/>
        </p:spPr>
        <p:txBody>
          <a:bodyPr wrap="square" rtlCol="0" anchor="ctr"/>
          <a:lstStyle/>
          <a:p>
            <a:pPr indent="0" marL="0">
              <a:buNone/>
            </a:pPr>
            <a:r>
              <a:rPr lang="en-US" sz="1800" b="1" dirty="0">
                <a:solidFill>
                  <a:schemeClr val="tx1"/>
                </a:solidFill>
              </a:rPr>
              <a:t>Decoupled services</a:t>
            </a:r>
            <a:endParaRPr lang="en-US" sz="1800" dirty="0"/>
          </a:p>
        </p:txBody>
      </p:sp>
      <p:sp>
        <p:nvSpPr>
          <p:cNvPr id="7" name="Decoupled services desc"/>
          <p:cNvSpPr txBox="1"/>
          <p:nvPr/>
        </p:nvSpPr>
        <p:spPr>
          <a:xfrm>
            <a:off x="1828800" y="2148840"/>
            <a:ext cx="3931920" cy="1097280"/>
          </a:xfrm>
          <a:prstGeom prst="rect">
            <a:avLst/>
          </a:prstGeom>
          <a:noFill/>
          <a:ln/>
        </p:spPr>
        <p:txBody>
          <a:bodyPr wrap="square" rtlCol="0" anchor="t"/>
          <a:lstStyle/>
          <a:p>
            <a:pPr indent="0" marL="0">
              <a:buNone/>
            </a:pPr>
            <a:r>
              <a:rPr lang="en-US" sz="1500" dirty="0">
                <a:solidFill>
                  <a:schemeClr val="tx2"/>
                </a:solidFill>
              </a:rPr>
              <a:t>Five services with their own data talk through 8 event types; REST remains only for 3 calls that need an answer.</a:t>
            </a:r>
            <a:endParaRPr lang="en-US" sz="1500" dirty="0"/>
          </a:p>
        </p:txBody>
      </p:sp>
      <p:sp>
        <p:nvSpPr>
          <p:cNvPr id="8" name="Consistent under failure card"/>
          <p:cNvSpPr/>
          <p:nvPr/>
        </p:nvSpPr>
        <p:spPr>
          <a:xfrm>
            <a:off x="6172200" y="1280160"/>
            <a:ext cx="5440680" cy="2103120"/>
          </a:xfrm>
          <a:prstGeom prst="roundRect">
            <a:avLst>
              <a:gd name="adj" fmla="val 5217"/>
            </a:avLst>
          </a:prstGeom>
          <a:solidFill>
            <a:schemeClr val="bg2"/>
          </a:solidFill>
          <a:ln w="12700">
            <a:solidFill>
              <a:schemeClr val="bg2"/>
            </a:solidFill>
            <a:prstDash val="solid"/>
          </a:ln>
        </p:spPr>
      </p:sp>
      <p:sp>
        <p:nvSpPr>
          <p:cNvPr id="9" name="Consistent under failure circle"/>
          <p:cNvSpPr/>
          <p:nvPr/>
        </p:nvSpPr>
        <p:spPr>
          <a:xfrm>
            <a:off x="6446520" y="1600200"/>
            <a:ext cx="777240" cy="777240"/>
          </a:xfrm>
          <a:prstGeom prst="ellipse">
            <a:avLst/>
          </a:prstGeom>
          <a:solidFill>
            <a:schemeClr val="accent1"/>
          </a:solidFill>
          <a:ln w="12700">
            <a:solidFill>
              <a:schemeClr val="accent1"/>
            </a:solidFill>
            <a:prstDash val="solid"/>
          </a:ln>
        </p:spPr>
      </p:sp>
      <p:pic>
        <p:nvPicPr>
          <p:cNvPr id="10" name="Consistent under failure icon" descr="preencoded.png">    </p:cNvPr>
          <p:cNvPicPr>
            <a:picLocks noChangeAspect="1"/>
          </p:cNvPicPr>
          <p:nvPr/>
        </p:nvPicPr>
        <p:blipFill>
          <a:blip r:embed="rId2"/>
          <a:stretch>
            <a:fillRect/>
          </a:stretch>
        </p:blipFill>
        <p:spPr>
          <a:xfrm>
            <a:off x="6640830" y="1794510"/>
            <a:ext cx="388620" cy="388620"/>
          </a:xfrm>
          <a:prstGeom prst="rect">
            <a:avLst/>
          </a:prstGeom>
        </p:spPr>
      </p:pic>
      <p:sp>
        <p:nvSpPr>
          <p:cNvPr id="11" name="Consistent under failure title"/>
          <p:cNvSpPr txBox="1"/>
          <p:nvPr/>
        </p:nvSpPr>
        <p:spPr>
          <a:xfrm>
            <a:off x="7452360" y="1554480"/>
            <a:ext cx="3977640" cy="548640"/>
          </a:xfrm>
          <a:prstGeom prst="rect">
            <a:avLst/>
          </a:prstGeom>
          <a:noFill/>
          <a:ln/>
        </p:spPr>
        <p:txBody>
          <a:bodyPr wrap="square" rtlCol="0" anchor="ctr"/>
          <a:lstStyle/>
          <a:p>
            <a:pPr indent="0" marL="0">
              <a:buNone/>
            </a:pPr>
            <a:r>
              <a:rPr lang="en-US" sz="1800" b="1" dirty="0">
                <a:solidFill>
                  <a:schemeClr val="tx1"/>
                </a:solidFill>
              </a:rPr>
              <a:t>Consistent under failure</a:t>
            </a:r>
            <a:endParaRPr lang="en-US" sz="1800" dirty="0"/>
          </a:p>
        </p:txBody>
      </p:sp>
      <p:sp>
        <p:nvSpPr>
          <p:cNvPr id="12" name="Consistent under failure desc"/>
          <p:cNvSpPr txBox="1"/>
          <p:nvPr/>
        </p:nvSpPr>
        <p:spPr>
          <a:xfrm>
            <a:off x="7452360" y="2148840"/>
            <a:ext cx="3931920" cy="1097280"/>
          </a:xfrm>
          <a:prstGeom prst="rect">
            <a:avLst/>
          </a:prstGeom>
          <a:noFill/>
          <a:ln/>
        </p:spPr>
        <p:txBody>
          <a:bodyPr wrap="square" rtlCol="0" anchor="t"/>
          <a:lstStyle/>
          <a:p>
            <a:pPr indent="0" marL="0">
              <a:buNone/>
            </a:pPr>
            <a:r>
              <a:rPr lang="en-US" sz="1500" dirty="0">
                <a:solidFill>
                  <a:schemeClr val="tx2"/>
                </a:solidFill>
              </a:rPr>
              <a:t>Outbox flags, broker confirmations and idempotent consumers: no order is lost or charged twice.</a:t>
            </a:r>
            <a:endParaRPr lang="en-US" sz="1500" dirty="0"/>
          </a:p>
        </p:txBody>
      </p:sp>
      <p:sp>
        <p:nvSpPr>
          <p:cNvPr id="13" name="Secured entry point card"/>
          <p:cNvSpPr/>
          <p:nvPr/>
        </p:nvSpPr>
        <p:spPr>
          <a:xfrm>
            <a:off x="548640" y="3611880"/>
            <a:ext cx="5440680" cy="2103120"/>
          </a:xfrm>
          <a:prstGeom prst="roundRect">
            <a:avLst>
              <a:gd name="adj" fmla="val 5217"/>
            </a:avLst>
          </a:prstGeom>
          <a:solidFill>
            <a:schemeClr val="bg2"/>
          </a:solidFill>
          <a:ln w="12700">
            <a:solidFill>
              <a:schemeClr val="bg2"/>
            </a:solidFill>
            <a:prstDash val="solid"/>
          </a:ln>
        </p:spPr>
      </p:sp>
      <p:sp>
        <p:nvSpPr>
          <p:cNvPr id="14" name="Secured entry point circle"/>
          <p:cNvSpPr/>
          <p:nvPr/>
        </p:nvSpPr>
        <p:spPr>
          <a:xfrm>
            <a:off x="822960" y="3931920"/>
            <a:ext cx="777240" cy="777240"/>
          </a:xfrm>
          <a:prstGeom prst="ellipse">
            <a:avLst/>
          </a:prstGeom>
          <a:solidFill>
            <a:schemeClr val="accent1"/>
          </a:solidFill>
          <a:ln w="12700">
            <a:solidFill>
              <a:schemeClr val="accent1"/>
            </a:solidFill>
            <a:prstDash val="solid"/>
          </a:ln>
        </p:spPr>
      </p:sp>
      <p:pic>
        <p:nvPicPr>
          <p:cNvPr id="15" name="Secured entry point icon" descr="preencoded.png">    </p:cNvPr>
          <p:cNvPicPr>
            <a:picLocks noChangeAspect="1"/>
          </p:cNvPicPr>
          <p:nvPr/>
        </p:nvPicPr>
        <p:blipFill>
          <a:blip r:embed="rId3"/>
          <a:stretch>
            <a:fillRect/>
          </a:stretch>
        </p:blipFill>
        <p:spPr>
          <a:xfrm>
            <a:off x="1017270" y="4126230"/>
            <a:ext cx="388620" cy="388620"/>
          </a:xfrm>
          <a:prstGeom prst="rect">
            <a:avLst/>
          </a:prstGeom>
        </p:spPr>
      </p:pic>
      <p:sp>
        <p:nvSpPr>
          <p:cNvPr id="16" name="Secured entry point title"/>
          <p:cNvSpPr txBox="1"/>
          <p:nvPr/>
        </p:nvSpPr>
        <p:spPr>
          <a:xfrm>
            <a:off x="1828800" y="3886200"/>
            <a:ext cx="3977640" cy="548640"/>
          </a:xfrm>
          <a:prstGeom prst="rect">
            <a:avLst/>
          </a:prstGeom>
          <a:noFill/>
          <a:ln/>
        </p:spPr>
        <p:txBody>
          <a:bodyPr wrap="square" rtlCol="0" anchor="ctr"/>
          <a:lstStyle/>
          <a:p>
            <a:pPr indent="0" marL="0">
              <a:buNone/>
            </a:pPr>
            <a:r>
              <a:rPr lang="en-US" sz="1800" b="1" dirty="0">
                <a:solidFill>
                  <a:schemeClr val="tx1"/>
                </a:solidFill>
              </a:rPr>
              <a:t>Secured entry point</a:t>
            </a:r>
            <a:endParaRPr lang="en-US" sz="1800" dirty="0"/>
          </a:p>
        </p:txBody>
      </p:sp>
      <p:sp>
        <p:nvSpPr>
          <p:cNvPr id="17" name="Secured entry point desc"/>
          <p:cNvSpPr txBox="1"/>
          <p:nvPr/>
        </p:nvSpPr>
        <p:spPr>
          <a:xfrm>
            <a:off x="1828800" y="4480560"/>
            <a:ext cx="3931920" cy="1097280"/>
          </a:xfrm>
          <a:prstGeom prst="rect">
            <a:avLst/>
          </a:prstGeom>
          <a:noFill/>
          <a:ln/>
        </p:spPr>
        <p:txBody>
          <a:bodyPr wrap="square" rtlCol="0" anchor="t"/>
          <a:lstStyle/>
          <a:p>
            <a:pPr indent="0" marL="0">
              <a:buNone/>
            </a:pPr>
            <a:r>
              <a:rPr lang="en-US" sz="1500" dirty="0">
                <a:solidFill>
                  <a:schemeClr val="tx2"/>
                </a:solidFill>
              </a:rPr>
              <a:t>One gateway with HTTPS, JWT authentication and per-client authorization on orders and payments.</a:t>
            </a:r>
            <a:endParaRPr lang="en-US" sz="1500" dirty="0"/>
          </a:p>
        </p:txBody>
      </p:sp>
      <p:sp>
        <p:nvSpPr>
          <p:cNvPr id="18" name="Less duplication card"/>
          <p:cNvSpPr/>
          <p:nvPr/>
        </p:nvSpPr>
        <p:spPr>
          <a:xfrm>
            <a:off x="6172200" y="3611880"/>
            <a:ext cx="5440680" cy="2103120"/>
          </a:xfrm>
          <a:prstGeom prst="roundRect">
            <a:avLst>
              <a:gd name="adj" fmla="val 5217"/>
            </a:avLst>
          </a:prstGeom>
          <a:solidFill>
            <a:schemeClr val="bg2"/>
          </a:solidFill>
          <a:ln w="12700">
            <a:solidFill>
              <a:schemeClr val="bg2"/>
            </a:solidFill>
            <a:prstDash val="solid"/>
          </a:ln>
        </p:spPr>
      </p:sp>
      <p:sp>
        <p:nvSpPr>
          <p:cNvPr id="19" name="Less duplication circle"/>
          <p:cNvSpPr/>
          <p:nvPr/>
        </p:nvSpPr>
        <p:spPr>
          <a:xfrm>
            <a:off x="6446520" y="3931920"/>
            <a:ext cx="777240" cy="777240"/>
          </a:xfrm>
          <a:prstGeom prst="ellipse">
            <a:avLst/>
          </a:prstGeom>
          <a:solidFill>
            <a:schemeClr val="accent1"/>
          </a:solidFill>
          <a:ln w="12700">
            <a:solidFill>
              <a:schemeClr val="accent1"/>
            </a:solidFill>
            <a:prstDash val="solid"/>
          </a:ln>
        </p:spPr>
      </p:sp>
      <p:pic>
        <p:nvPicPr>
          <p:cNvPr id="20" name="Less duplication icon" descr="preencoded.png">    </p:cNvPr>
          <p:cNvPicPr>
            <a:picLocks noChangeAspect="1"/>
          </p:cNvPicPr>
          <p:nvPr/>
        </p:nvPicPr>
        <p:blipFill>
          <a:blip r:embed="rId4"/>
          <a:stretch>
            <a:fillRect/>
          </a:stretch>
        </p:blipFill>
        <p:spPr>
          <a:xfrm>
            <a:off x="6640830" y="4126230"/>
            <a:ext cx="388620" cy="388620"/>
          </a:xfrm>
          <a:prstGeom prst="rect">
            <a:avLst/>
          </a:prstGeom>
        </p:spPr>
      </p:pic>
      <p:sp>
        <p:nvSpPr>
          <p:cNvPr id="21" name="Less duplication title"/>
          <p:cNvSpPr txBox="1"/>
          <p:nvPr/>
        </p:nvSpPr>
        <p:spPr>
          <a:xfrm>
            <a:off x="7452360" y="3886200"/>
            <a:ext cx="3977640" cy="548640"/>
          </a:xfrm>
          <a:prstGeom prst="rect">
            <a:avLst/>
          </a:prstGeom>
          <a:noFill/>
          <a:ln/>
        </p:spPr>
        <p:txBody>
          <a:bodyPr wrap="square" rtlCol="0" anchor="ctr"/>
          <a:lstStyle/>
          <a:p>
            <a:pPr indent="0" marL="0">
              <a:buNone/>
            </a:pPr>
            <a:r>
              <a:rPr lang="en-US" sz="1800" b="1" dirty="0">
                <a:solidFill>
                  <a:schemeClr val="tx1"/>
                </a:solidFill>
              </a:rPr>
              <a:t>Less duplication</a:t>
            </a:r>
            <a:endParaRPr lang="en-US" sz="1800" dirty="0"/>
          </a:p>
        </p:txBody>
      </p:sp>
      <p:sp>
        <p:nvSpPr>
          <p:cNvPr id="22" name="Less duplication desc"/>
          <p:cNvSpPr txBox="1"/>
          <p:nvPr/>
        </p:nvSpPr>
        <p:spPr>
          <a:xfrm>
            <a:off x="7452360" y="4480560"/>
            <a:ext cx="3931920" cy="1097280"/>
          </a:xfrm>
          <a:prstGeom prst="rect">
            <a:avLst/>
          </a:prstGeom>
          <a:noFill/>
          <a:ln/>
        </p:spPr>
        <p:txBody>
          <a:bodyPr wrap="square" rtlCol="0" anchor="t"/>
          <a:lstStyle/>
          <a:p>
            <a:pPr indent="0" marL="0">
              <a:buNone/>
            </a:pPr>
            <a:r>
              <a:rPr lang="en-US" sz="1500" dirty="0">
                <a:solidFill>
                  <a:schemeClr val="tx2"/>
                </a:solidFill>
              </a:rPr>
              <a:t>The chassis holds the shared plumbing, so each service keeps only its business logic.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nchor="ctr"/>
          <a:lstStyle/>
          <a:p>
            <a:pPr algn="l" indent="0" marL="0">
              <a:buNone/>
            </a:pPr>
            <a:r>
              <a:rPr lang="en-US" sz="3000" b="1" dirty="0">
                <a:solidFill>
                  <a:schemeClr val="bg1"/>
                </a:solidFill>
              </a:rPr>
              <a:t>Future work and improvements</a:t>
            </a:r>
            <a:endParaRPr lang="en-US" sz="3000" dirty="0"/>
          </a:p>
        </p:txBody>
      </p:sp>
      <p:sp>
        <p:nvSpPr>
          <p:cNvPr id="3" name="Security circle"/>
          <p:cNvSpPr/>
          <p:nvPr/>
        </p:nvSpPr>
        <p:spPr>
          <a:xfrm>
            <a:off x="548640" y="1508760"/>
            <a:ext cx="685800" cy="685800"/>
          </a:xfrm>
          <a:prstGeom prst="ellipse">
            <a:avLst/>
          </a:prstGeom>
          <a:solidFill>
            <a:schemeClr val="accent1"/>
          </a:solidFill>
          <a:ln w="12700">
            <a:solidFill>
              <a:schemeClr val="accent1"/>
            </a:solidFill>
            <a:prstDash val="solid"/>
          </a:ln>
        </p:spPr>
      </p:sp>
      <p:pic>
        <p:nvPicPr>
          <p:cNvPr id="4" name="Security icon" descr="preencoded.png">    </p:cNvPr>
          <p:cNvPicPr>
            <a:picLocks noChangeAspect="1"/>
          </p:cNvPicPr>
          <p:nvPr/>
        </p:nvPicPr>
        <p:blipFill>
          <a:blip r:embed="rId1"/>
          <a:stretch>
            <a:fillRect/>
          </a:stretch>
        </p:blipFill>
        <p:spPr>
          <a:xfrm>
            <a:off x="720090" y="1680210"/>
            <a:ext cx="342900" cy="342900"/>
          </a:xfrm>
          <a:prstGeom prst="rect">
            <a:avLst/>
          </a:prstGeom>
        </p:spPr>
      </p:pic>
      <p:sp>
        <p:nvSpPr>
          <p:cNvPr id="5" name="Security title"/>
          <p:cNvSpPr txBox="1"/>
          <p:nvPr/>
        </p:nvSpPr>
        <p:spPr>
          <a:xfrm>
            <a:off x="548640" y="2331720"/>
            <a:ext cx="2606040" cy="457200"/>
          </a:xfrm>
          <a:prstGeom prst="rect">
            <a:avLst/>
          </a:prstGeom>
          <a:noFill/>
          <a:ln/>
        </p:spPr>
        <p:txBody>
          <a:bodyPr wrap="square" rtlCol="0" anchor="ctr"/>
          <a:lstStyle/>
          <a:p>
            <a:pPr indent="0" marL="0">
              <a:buNone/>
            </a:pPr>
            <a:r>
              <a:rPr lang="en-US" sz="1900" b="1" dirty="0">
                <a:solidFill>
                  <a:schemeClr val="bg1"/>
                </a:solidFill>
              </a:rPr>
              <a:t>Security</a:t>
            </a:r>
            <a:endParaRPr lang="en-US" sz="1900" dirty="0"/>
          </a:p>
        </p:txBody>
      </p:sp>
      <p:sp>
        <p:nvSpPr>
          <p:cNvPr id="6" name="Security list"/>
          <p:cNvSpPr txBox="1"/>
          <p:nvPr/>
        </p:nvSpPr>
        <p:spPr>
          <a:xfrm>
            <a:off x="54864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Protect every route, including reads and internal calls</a:t>
            </a:r>
            <a:endParaRPr lang="en-US" sz="1400" dirty="0"/>
          </a:p>
          <a:p>
            <a:pPr marL="342900" indent="-342900">
              <a:spcAft>
                <a:spcPts val="800"/>
              </a:spcAft>
              <a:buSzPct val="100000"/>
              <a:buChar char="•"/>
            </a:pPr>
            <a:r>
              <a:rPr lang="en-US" sz="1400" dirty="0">
                <a:solidFill>
                  <a:schemeClr val="bg2"/>
                </a:solidFill>
              </a:rPr>
              <a:t>Close direct service ports; only the gateway is public</a:t>
            </a:r>
            <a:endParaRPr lang="en-US" sz="1400" dirty="0"/>
          </a:p>
          <a:p>
            <a:pPr marL="342900" indent="-342900">
              <a:spcAft>
                <a:spcPts val="800"/>
              </a:spcAft>
              <a:buSzPct val="100000"/>
              <a:buChar char="•"/>
            </a:pPr>
            <a:r>
              <a:rPr lang="en-US" sz="1400" dirty="0">
                <a:solidFill>
                  <a:schemeClr val="bg2"/>
                </a:solidFill>
              </a:rPr>
              <a:t>Move secrets and certificates out of the repository</a:t>
            </a:r>
            <a:endParaRPr lang="en-US" sz="1400" dirty="0"/>
          </a:p>
          <a:p>
            <a:pPr marL="342900" indent="-342900">
              <a:spcAft>
                <a:spcPts val="800"/>
              </a:spcAft>
              <a:buSzPct val="100000"/>
              <a:buChar char="•"/>
            </a:pPr>
            <a:r>
              <a:rPr lang="en-US" sz="1400" dirty="0">
                <a:solidFill>
                  <a:schemeClr val="bg2"/>
                </a:solidFill>
              </a:rPr>
              <a:t>Persist the signing key and authenticate calls between services</a:t>
            </a:r>
            <a:endParaRPr lang="en-US" sz="1400" dirty="0"/>
          </a:p>
        </p:txBody>
      </p:sp>
      <p:sp>
        <p:nvSpPr>
          <p:cNvPr id="7" name="Chassis circle"/>
          <p:cNvSpPr/>
          <p:nvPr/>
        </p:nvSpPr>
        <p:spPr>
          <a:xfrm>
            <a:off x="3383280" y="1508760"/>
            <a:ext cx="685800" cy="685800"/>
          </a:xfrm>
          <a:prstGeom prst="ellipse">
            <a:avLst/>
          </a:prstGeom>
          <a:solidFill>
            <a:schemeClr val="accent1"/>
          </a:solidFill>
          <a:ln w="12700">
            <a:solidFill>
              <a:schemeClr val="accent1"/>
            </a:solidFill>
            <a:prstDash val="solid"/>
          </a:ln>
        </p:spPr>
      </p:sp>
      <p:pic>
        <p:nvPicPr>
          <p:cNvPr id="8" name="Chassis icon" descr="preencoded.png">    </p:cNvPr>
          <p:cNvPicPr>
            <a:picLocks noChangeAspect="1"/>
          </p:cNvPicPr>
          <p:nvPr/>
        </p:nvPicPr>
        <p:blipFill>
          <a:blip r:embed="rId2"/>
          <a:stretch>
            <a:fillRect/>
          </a:stretch>
        </p:blipFill>
        <p:spPr>
          <a:xfrm>
            <a:off x="3554730" y="1680210"/>
            <a:ext cx="342900" cy="342900"/>
          </a:xfrm>
          <a:prstGeom prst="rect">
            <a:avLst/>
          </a:prstGeom>
        </p:spPr>
      </p:pic>
      <p:sp>
        <p:nvSpPr>
          <p:cNvPr id="9" name="Chassis title"/>
          <p:cNvSpPr txBox="1"/>
          <p:nvPr/>
        </p:nvSpPr>
        <p:spPr>
          <a:xfrm>
            <a:off x="3383280" y="2331720"/>
            <a:ext cx="2606040" cy="457200"/>
          </a:xfrm>
          <a:prstGeom prst="rect">
            <a:avLst/>
          </a:prstGeom>
          <a:noFill/>
          <a:ln/>
        </p:spPr>
        <p:txBody>
          <a:bodyPr wrap="square" rtlCol="0" anchor="ctr"/>
          <a:lstStyle/>
          <a:p>
            <a:pPr indent="0" marL="0">
              <a:buNone/>
            </a:pPr>
            <a:r>
              <a:rPr lang="en-US" sz="1900" b="1" dirty="0">
                <a:solidFill>
                  <a:schemeClr val="bg1"/>
                </a:solidFill>
              </a:rPr>
              <a:t>Chassis</a:t>
            </a:r>
            <a:endParaRPr lang="en-US" sz="1900" dirty="0"/>
          </a:p>
        </p:txBody>
      </p:sp>
      <p:sp>
        <p:nvSpPr>
          <p:cNvPr id="10" name="Chassis list"/>
          <p:cNvSpPr txBox="1"/>
          <p:nvPr/>
        </p:nvSpPr>
        <p:spPr>
          <a:xfrm>
            <a:off x="338328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Move JWT verification and the consumer loop into it</a:t>
            </a:r>
            <a:endParaRPr lang="en-US" sz="1400" dirty="0"/>
          </a:p>
          <a:p>
            <a:pPr marL="342900" indent="-342900">
              <a:spcAft>
                <a:spcPts val="800"/>
              </a:spcAft>
              <a:buSzPct val="100000"/>
              <a:buChar char="•"/>
            </a:pPr>
            <a:r>
              <a:rPr lang="en-US" sz="1400" dirty="0">
                <a:solidFill>
                  <a:schemeClr val="bg2"/>
                </a:solidFill>
              </a:rPr>
              <a:t>Pin it to a release tag instead of main</a:t>
            </a:r>
            <a:endParaRPr lang="en-US" sz="1400" dirty="0"/>
          </a:p>
          <a:p>
            <a:pPr marL="342900" indent="-342900">
              <a:spcAft>
                <a:spcPts val="800"/>
              </a:spcAft>
              <a:buSzPct val="100000"/>
              <a:buChar char="•"/>
            </a:pPr>
            <a:r>
              <a:rPr lang="en-US" sz="1400" dirty="0">
                <a:solidFill>
                  <a:schemeClr val="bg2"/>
                </a:solidFill>
              </a:rPr>
              <a:t>Adopt it in the machine service</a:t>
            </a:r>
            <a:endParaRPr lang="en-US" sz="1400" dirty="0"/>
          </a:p>
        </p:txBody>
      </p:sp>
      <p:sp>
        <p:nvSpPr>
          <p:cNvPr id="11" name="Reliability circle"/>
          <p:cNvSpPr/>
          <p:nvPr/>
        </p:nvSpPr>
        <p:spPr>
          <a:xfrm>
            <a:off x="6217920" y="1508760"/>
            <a:ext cx="685800" cy="685800"/>
          </a:xfrm>
          <a:prstGeom prst="ellipse">
            <a:avLst/>
          </a:prstGeom>
          <a:solidFill>
            <a:schemeClr val="accent1"/>
          </a:solidFill>
          <a:ln w="12700">
            <a:solidFill>
              <a:schemeClr val="accent1"/>
            </a:solidFill>
            <a:prstDash val="solid"/>
          </a:ln>
        </p:spPr>
      </p:sp>
      <p:pic>
        <p:nvPicPr>
          <p:cNvPr id="12" name="Reliability icon" descr="preencoded.png">    </p:cNvPr>
          <p:cNvPicPr>
            <a:picLocks noChangeAspect="1"/>
          </p:cNvPicPr>
          <p:nvPr/>
        </p:nvPicPr>
        <p:blipFill>
          <a:blip r:embed="rId3"/>
          <a:stretch>
            <a:fillRect/>
          </a:stretch>
        </p:blipFill>
        <p:spPr>
          <a:xfrm>
            <a:off x="6389370" y="1680210"/>
            <a:ext cx="342900" cy="342900"/>
          </a:xfrm>
          <a:prstGeom prst="rect">
            <a:avLst/>
          </a:prstGeom>
        </p:spPr>
      </p:pic>
      <p:sp>
        <p:nvSpPr>
          <p:cNvPr id="13" name="Reliability title"/>
          <p:cNvSpPr txBox="1"/>
          <p:nvPr/>
        </p:nvSpPr>
        <p:spPr>
          <a:xfrm>
            <a:off x="6217920" y="2331720"/>
            <a:ext cx="2606040" cy="457200"/>
          </a:xfrm>
          <a:prstGeom prst="rect">
            <a:avLst/>
          </a:prstGeom>
          <a:noFill/>
          <a:ln/>
        </p:spPr>
        <p:txBody>
          <a:bodyPr wrap="square" rtlCol="0" anchor="ctr"/>
          <a:lstStyle/>
          <a:p>
            <a:pPr indent="0" marL="0">
              <a:buNone/>
            </a:pPr>
            <a:r>
              <a:rPr lang="en-US" sz="1900" b="1" dirty="0">
                <a:solidFill>
                  <a:schemeClr val="bg1"/>
                </a:solidFill>
              </a:rPr>
              <a:t>Reliability</a:t>
            </a:r>
            <a:endParaRPr lang="en-US" sz="1900" dirty="0"/>
          </a:p>
        </p:txBody>
      </p:sp>
      <p:sp>
        <p:nvSpPr>
          <p:cNvPr id="14" name="Reliability list"/>
          <p:cNvSpPr txBox="1"/>
          <p:nvPr/>
        </p:nvSpPr>
        <p:spPr>
          <a:xfrm>
            <a:off x="621792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Machine acks only after building each piece</a:t>
            </a:r>
            <a:endParaRPr lang="en-US" sz="1400" dirty="0"/>
          </a:p>
          <a:p>
            <a:pPr marL="342900" indent="-342900">
              <a:spcAft>
                <a:spcPts val="800"/>
              </a:spcAft>
              <a:buSzPct val="100000"/>
              <a:buChar char="•"/>
            </a:pPr>
            <a:r>
              <a:rPr lang="en-US" sz="1400" dirty="0">
                <a:solidFill>
                  <a:schemeClr val="bg2"/>
                </a:solidFill>
              </a:rPr>
              <a:t>Dead-letter queue for rejected messages</a:t>
            </a:r>
            <a:endParaRPr lang="en-US" sz="1400" dirty="0"/>
          </a:p>
          <a:p>
            <a:pPr marL="342900" indent="-342900">
              <a:spcAft>
                <a:spcPts val="800"/>
              </a:spcAft>
              <a:buSzPct val="100000"/>
              <a:buChar char="•"/>
            </a:pPr>
            <a:r>
              <a:rPr lang="en-US" sz="1400" dirty="0">
                <a:solidFill>
                  <a:schemeClr val="bg2"/>
                </a:solidFill>
              </a:rPr>
              <a:t>Health checks that include database and RabbitMQ</a:t>
            </a:r>
            <a:endParaRPr lang="en-US" sz="1400" dirty="0"/>
          </a:p>
        </p:txBody>
      </p:sp>
      <p:sp>
        <p:nvSpPr>
          <p:cNvPr id="15" name="Operations circle"/>
          <p:cNvSpPr/>
          <p:nvPr/>
        </p:nvSpPr>
        <p:spPr>
          <a:xfrm>
            <a:off x="9052560" y="1508760"/>
            <a:ext cx="685800" cy="685800"/>
          </a:xfrm>
          <a:prstGeom prst="ellipse">
            <a:avLst/>
          </a:prstGeom>
          <a:solidFill>
            <a:schemeClr val="accent1"/>
          </a:solidFill>
          <a:ln w="12700">
            <a:solidFill>
              <a:schemeClr val="accent1"/>
            </a:solidFill>
            <a:prstDash val="solid"/>
          </a:ln>
        </p:spPr>
      </p:sp>
      <p:pic>
        <p:nvPicPr>
          <p:cNvPr id="16" name="Operations icon" descr="preencoded.png">    </p:cNvPr>
          <p:cNvPicPr>
            <a:picLocks noChangeAspect="1"/>
          </p:cNvPicPr>
          <p:nvPr/>
        </p:nvPicPr>
        <p:blipFill>
          <a:blip r:embed="rId4"/>
          <a:stretch>
            <a:fillRect/>
          </a:stretch>
        </p:blipFill>
        <p:spPr>
          <a:xfrm>
            <a:off x="9224010" y="1680210"/>
            <a:ext cx="342900" cy="342900"/>
          </a:xfrm>
          <a:prstGeom prst="rect">
            <a:avLst/>
          </a:prstGeom>
        </p:spPr>
      </p:pic>
      <p:sp>
        <p:nvSpPr>
          <p:cNvPr id="17" name="Operations title"/>
          <p:cNvSpPr txBox="1"/>
          <p:nvPr/>
        </p:nvSpPr>
        <p:spPr>
          <a:xfrm>
            <a:off x="9052560" y="2331720"/>
            <a:ext cx="2606040" cy="457200"/>
          </a:xfrm>
          <a:prstGeom prst="rect">
            <a:avLst/>
          </a:prstGeom>
          <a:noFill/>
          <a:ln/>
        </p:spPr>
        <p:txBody>
          <a:bodyPr wrap="square" rtlCol="0" anchor="ctr"/>
          <a:lstStyle/>
          <a:p>
            <a:pPr indent="0" marL="0">
              <a:buNone/>
            </a:pPr>
            <a:r>
              <a:rPr lang="en-US" sz="1900" b="1" dirty="0">
                <a:solidFill>
                  <a:schemeClr val="bg1"/>
                </a:solidFill>
              </a:rPr>
              <a:t>Operations</a:t>
            </a:r>
            <a:endParaRPr lang="en-US" sz="1900" dirty="0"/>
          </a:p>
        </p:txBody>
      </p:sp>
      <p:sp>
        <p:nvSpPr>
          <p:cNvPr id="18" name="Operations list"/>
          <p:cNvSpPr txBox="1"/>
          <p:nvPr/>
        </p:nvSpPr>
        <p:spPr>
          <a:xfrm>
            <a:off x="9052560" y="2880360"/>
            <a:ext cx="260604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bg2"/>
                </a:solidFill>
              </a:rPr>
              <a:t>Remove legacy callbacks and unused config</a:t>
            </a:r>
            <a:endParaRPr lang="en-US" sz="1400" dirty="0"/>
          </a:p>
          <a:p>
            <a:pPr marL="342900" indent="-342900">
              <a:spcAft>
                <a:spcPts val="800"/>
              </a:spcAft>
              <a:buSzPct val="100000"/>
              <a:buChar char="•"/>
            </a:pPr>
            <a:r>
              <a:rPr lang="en-US" sz="1400" dirty="0">
                <a:solidFill>
                  <a:schemeClr val="bg2"/>
                </a:solidFill>
              </a:rPr>
              <a:t>Central logging and monitoring</a:t>
            </a:r>
            <a:endParaRPr lang="en-US" sz="1400" dirty="0"/>
          </a:p>
          <a:p>
            <a:pPr marL="342900" indent="-342900">
              <a:spcAft>
                <a:spcPts val="800"/>
              </a:spcAft>
              <a:buSzPct val="100000"/>
              <a:buChar char="•"/>
            </a:pPr>
            <a:r>
              <a:rPr lang="en-US" sz="1400" dirty="0">
                <a:solidFill>
                  <a:schemeClr val="bg2"/>
                </a:solidFill>
              </a:rPr>
              <a:t>Run the test suite in CI</a:t>
            </a:r>
            <a:endParaRPr lang="en-US" sz="1400" dirty="0"/>
          </a:p>
        </p:txBody>
      </p:sp>
    </p:spTree>
  </p:cSld>
  <p:clrMapOvr>
    <a:masterClrMapping/>
  </p:clrMapOvr>
</p:sld>
</file>

<file path=ppt/theme/theme1.xml><?xml version="1.0" encoding="utf-8"?>
<a:theme xmlns:a="http://schemas.openxmlformats.org/drawingml/2006/main" name="Manufacturing Events">
  <a:themeElements>
    <a:clrScheme name="Manufacturing Events">
      <a:dk1>
        <a:srgbClr val="1F2933"/>
      </a:dk1>
      <a:lt1>
        <a:srgbClr val="FFFFFF"/>
      </a:lt1>
      <a:dk2>
        <a:srgbClr val="52606D"/>
      </a:dk2>
      <a:lt2>
        <a:srgbClr val="F1F3F5"/>
      </a:lt2>
      <a:accent1>
        <a:srgbClr val="F26B1D"/>
      </a:accent1>
      <a:accent2>
        <a:srgbClr val="2A9D8F"/>
      </a:accent2>
      <a:accent3>
        <a:srgbClr val="E9C46A"/>
      </a:accent3>
      <a:accent4>
        <a:srgbClr val="9AA5B1"/>
      </a:accent4>
      <a:accent5>
        <a:srgbClr val="264653"/>
      </a:accent5>
      <a:accent6>
        <a:srgbClr val="D64545"/>
      </a:accent6>
      <a:hlink>
        <a:srgbClr val="F26B1D"/>
      </a:hlink>
      <a:folHlink>
        <a:srgbClr val="52606D"/>
      </a:folHlink>
    </a:clrScheme>
    <a:fontScheme name="Manufacturing Event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Microservices, Chassis and RabbitMQ</dc:title>
  <dc:subject>PptxGenJS Presentation</dc:subject>
  <dc:creator>PptxGenJS</dc:creator>
  <cp:lastModifiedBy>PptxGenJS</cp:lastModifiedBy>
  <cp:revision>1</cp:revision>
  <dcterms:created xsi:type="dcterms:W3CDTF">2026-10-26T14:02:56Z</dcterms:created>
  <dcterms:modified xsi:type="dcterms:W3CDTF">2026-10-26T14:02:56Z</dcterms:modified>
</cp:coreProperties>
</file>